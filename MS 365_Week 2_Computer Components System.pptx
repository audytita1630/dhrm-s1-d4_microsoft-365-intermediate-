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2" r:id="rId1"/>
  </p:sldMasterIdLst>
  <p:notesMasterIdLst>
    <p:notesMasterId r:id="rId31"/>
  </p:notesMasterIdLst>
  <p:sldIdLst>
    <p:sldId id="256" r:id="rId2"/>
    <p:sldId id="257" r:id="rId3"/>
    <p:sldId id="260" r:id="rId4"/>
    <p:sldId id="286" r:id="rId5"/>
    <p:sldId id="319" r:id="rId6"/>
    <p:sldId id="321" r:id="rId7"/>
    <p:sldId id="315" r:id="rId8"/>
    <p:sldId id="322" r:id="rId9"/>
    <p:sldId id="323" r:id="rId10"/>
    <p:sldId id="327" r:id="rId11"/>
    <p:sldId id="324" r:id="rId12"/>
    <p:sldId id="325" r:id="rId13"/>
    <p:sldId id="326" r:id="rId14"/>
    <p:sldId id="316" r:id="rId15"/>
    <p:sldId id="328" r:id="rId16"/>
    <p:sldId id="317" r:id="rId17"/>
    <p:sldId id="318" r:id="rId18"/>
    <p:sldId id="332" r:id="rId19"/>
    <p:sldId id="329" r:id="rId20"/>
    <p:sldId id="333" r:id="rId21"/>
    <p:sldId id="331" r:id="rId22"/>
    <p:sldId id="330" r:id="rId23"/>
    <p:sldId id="335" r:id="rId24"/>
    <p:sldId id="334" r:id="rId25"/>
    <p:sldId id="311" r:id="rId26"/>
    <p:sldId id="314" r:id="rId27"/>
    <p:sldId id="313" r:id="rId28"/>
    <p:sldId id="312" r:id="rId29"/>
    <p:sldId id="28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p:cViewPr varScale="1">
        <p:scale>
          <a:sx n="43" d="100"/>
          <a:sy n="43" d="100"/>
        </p:scale>
        <p:origin x="72" y="15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C435A0-05A6-4E3D-A695-69D15BC0F411}" type="datetimeFigureOut">
              <a:rPr lang="en-US" smtClean="0"/>
              <a:t>2/11/2026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DD7D4A-EB5D-4399-81B0-DAC8D15ECA56}" type="slidenum">
              <a:rPr lang="en-US" smtClean="0"/>
              <a:t>‹#›</a:t>
            </a:fld>
            <a:endParaRPr lang="en-US"/>
          </a:p>
        </p:txBody>
      </p:sp>
    </p:spTree>
    <p:extLst>
      <p:ext uri="{BB962C8B-B14F-4D97-AF65-F5344CB8AC3E}">
        <p14:creationId xmlns:p14="http://schemas.microsoft.com/office/powerpoint/2010/main" val="1596301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DD7D4A-EB5D-4399-81B0-DAC8D15ECA56}" type="slidenum">
              <a:rPr lang="en-US" smtClean="0"/>
              <a:t>3</a:t>
            </a:fld>
            <a:endParaRPr lang="en-US"/>
          </a:p>
        </p:txBody>
      </p:sp>
    </p:spTree>
    <p:extLst>
      <p:ext uri="{BB962C8B-B14F-4D97-AF65-F5344CB8AC3E}">
        <p14:creationId xmlns:p14="http://schemas.microsoft.com/office/powerpoint/2010/main" val="2613348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DD7D4A-EB5D-4399-81B0-DAC8D15ECA56}" type="slidenum">
              <a:rPr lang="en-US" smtClean="0"/>
              <a:t>28</a:t>
            </a:fld>
            <a:endParaRPr lang="en-US"/>
          </a:p>
        </p:txBody>
      </p:sp>
    </p:spTree>
    <p:extLst>
      <p:ext uri="{BB962C8B-B14F-4D97-AF65-F5344CB8AC3E}">
        <p14:creationId xmlns:p14="http://schemas.microsoft.com/office/powerpoint/2010/main" val="486331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5E4670-AD95-46B7-9A52-596AE1E331A2}"/>
              </a:ext>
            </a:extLst>
          </p:cNvPr>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a:extLst>
              <a:ext uri="{FF2B5EF4-FFF2-40B4-BE49-F238E27FC236}">
                <a16:creationId xmlns:a16="http://schemas.microsoft.com/office/drawing/2014/main" xmlns="" id="{D2B17232-6D27-4880-BB26-A246053722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a:extLst>
              <a:ext uri="{FF2B5EF4-FFF2-40B4-BE49-F238E27FC236}">
                <a16:creationId xmlns:a16="http://schemas.microsoft.com/office/drawing/2014/main" xmlns="" id="{3330B3D7-6C5F-4C20-B82C-0E0E8A9718ED}"/>
              </a:ext>
            </a:extLst>
          </p:cNvPr>
          <p:cNvSpPr>
            <a:spLocks noGrp="1"/>
          </p:cNvSpPr>
          <p:nvPr>
            <p:ph type="dt" sz="half" idx="10"/>
          </p:nvPr>
        </p:nvSpPr>
        <p:spPr/>
        <p:txBody>
          <a:bodyPr/>
          <a:lstStyle/>
          <a:p>
            <a:fld id="{7837D738-231B-4137-AFBB-E208830310AD}" type="datetime1">
              <a:rPr lang="en-AU" smtClean="0"/>
              <a:t>11/02/2026</a:t>
            </a:fld>
            <a:endParaRPr lang="en-AU" dirty="0"/>
          </a:p>
        </p:txBody>
      </p:sp>
      <p:sp>
        <p:nvSpPr>
          <p:cNvPr id="5" name="Footer Placeholder 4">
            <a:extLst>
              <a:ext uri="{FF2B5EF4-FFF2-40B4-BE49-F238E27FC236}">
                <a16:creationId xmlns:a16="http://schemas.microsoft.com/office/drawing/2014/main" xmlns="" id="{A4F30039-619F-4A9B-A120-B763218CD7B7}"/>
              </a:ext>
            </a:extLst>
          </p:cNvPr>
          <p:cNvSpPr>
            <a:spLocks noGrp="1"/>
          </p:cNvSpPr>
          <p:nvPr>
            <p:ph type="ftr" sz="quarter" idx="11"/>
          </p:nvPr>
        </p:nvSpPr>
        <p:spPr/>
        <p:txBody>
          <a:bodyPr/>
          <a:lstStyle/>
          <a:p>
            <a:r>
              <a:rPr lang="en-US" smtClean="0"/>
              <a:t>Prepared: by:  MS Odilia Tita</a:t>
            </a:r>
            <a:endParaRPr lang="en-AU" dirty="0"/>
          </a:p>
        </p:txBody>
      </p:sp>
      <p:sp>
        <p:nvSpPr>
          <p:cNvPr id="6" name="Slide Number Placeholder 5">
            <a:extLst>
              <a:ext uri="{FF2B5EF4-FFF2-40B4-BE49-F238E27FC236}">
                <a16:creationId xmlns:a16="http://schemas.microsoft.com/office/drawing/2014/main" xmlns="" id="{C111A03D-DB6F-4B4F-BF5C-065580485CA1}"/>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955438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E382C6-B5C9-487E-B837-D93B0F6EB575}"/>
              </a:ext>
            </a:extLst>
          </p:cNvPr>
          <p:cNvSpPr>
            <a:spLocks noGrp="1"/>
          </p:cNvSpPr>
          <p:nvPr>
            <p:ph type="title"/>
          </p:nvPr>
        </p:nvSpPr>
        <p:spPr/>
        <p:txBody>
          <a:bodyPr/>
          <a:lstStyle/>
          <a:p>
            <a:r>
              <a:rPr lang="en-US" smtClean="0"/>
              <a:t>Click to edit Master title style</a:t>
            </a:r>
            <a:endParaRPr lang="en-AU"/>
          </a:p>
        </p:txBody>
      </p:sp>
      <p:sp>
        <p:nvSpPr>
          <p:cNvPr id="3" name="Content Placeholder 2">
            <a:extLst>
              <a:ext uri="{FF2B5EF4-FFF2-40B4-BE49-F238E27FC236}">
                <a16:creationId xmlns:a16="http://schemas.microsoft.com/office/drawing/2014/main" xmlns="" id="{C20132B7-B07F-4951-B5F0-42EBA8BA9FCE}"/>
              </a:ext>
            </a:extLst>
          </p:cNvPr>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a:extLst>
              <a:ext uri="{FF2B5EF4-FFF2-40B4-BE49-F238E27FC236}">
                <a16:creationId xmlns:a16="http://schemas.microsoft.com/office/drawing/2014/main" xmlns="" id="{6E28A284-B674-4D73-89A1-51C986E3E124}"/>
              </a:ext>
            </a:extLst>
          </p:cNvPr>
          <p:cNvSpPr>
            <a:spLocks noGrp="1"/>
          </p:cNvSpPr>
          <p:nvPr>
            <p:ph type="dt" sz="half" idx="10"/>
          </p:nvPr>
        </p:nvSpPr>
        <p:spPr/>
        <p:txBody>
          <a:bodyPr/>
          <a:lstStyle/>
          <a:p>
            <a:fld id="{A15E7899-C063-4FFB-98FA-5C6CDDB84651}" type="datetime1">
              <a:rPr lang="en-AU" smtClean="0"/>
              <a:t>11/02/2026</a:t>
            </a:fld>
            <a:endParaRPr lang="en-AU" dirty="0"/>
          </a:p>
        </p:txBody>
      </p:sp>
      <p:sp>
        <p:nvSpPr>
          <p:cNvPr id="5" name="Footer Placeholder 4">
            <a:extLst>
              <a:ext uri="{FF2B5EF4-FFF2-40B4-BE49-F238E27FC236}">
                <a16:creationId xmlns:a16="http://schemas.microsoft.com/office/drawing/2014/main" xmlns="" id="{744BE9FB-B69B-4606-A768-CF39C62CC529}"/>
              </a:ext>
            </a:extLst>
          </p:cNvPr>
          <p:cNvSpPr>
            <a:spLocks noGrp="1"/>
          </p:cNvSpPr>
          <p:nvPr>
            <p:ph type="ftr" sz="quarter" idx="11"/>
          </p:nvPr>
        </p:nvSpPr>
        <p:spPr/>
        <p:txBody>
          <a:bodyPr/>
          <a:lstStyle/>
          <a:p>
            <a:r>
              <a:rPr lang="en-US" smtClean="0"/>
              <a:t>Prepared: by:  MS Odilia Tita</a:t>
            </a:r>
            <a:endParaRPr lang="en-AU" dirty="0"/>
          </a:p>
        </p:txBody>
      </p:sp>
      <p:sp>
        <p:nvSpPr>
          <p:cNvPr id="6" name="Slide Number Placeholder 5">
            <a:extLst>
              <a:ext uri="{FF2B5EF4-FFF2-40B4-BE49-F238E27FC236}">
                <a16:creationId xmlns:a16="http://schemas.microsoft.com/office/drawing/2014/main" xmlns="" id="{99D61227-F6A6-490E-8D00-8D8E37BB697E}"/>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2788751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AADB6A-FE4D-44EB-9C13-40FA216F8BBD}"/>
              </a:ext>
            </a:extLst>
          </p:cNvPr>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a:extLst>
              <a:ext uri="{FF2B5EF4-FFF2-40B4-BE49-F238E27FC236}">
                <a16:creationId xmlns:a16="http://schemas.microsoft.com/office/drawing/2014/main" xmlns="" id="{5E3C6F31-AE4A-4712-AD26-2D9DF670EC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a:extLst>
              <a:ext uri="{FF2B5EF4-FFF2-40B4-BE49-F238E27FC236}">
                <a16:creationId xmlns:a16="http://schemas.microsoft.com/office/drawing/2014/main" xmlns="" id="{446C299C-933F-4603-BFD4-2E56C373E40E}"/>
              </a:ext>
            </a:extLst>
          </p:cNvPr>
          <p:cNvSpPr>
            <a:spLocks noGrp="1"/>
          </p:cNvSpPr>
          <p:nvPr>
            <p:ph type="dt" sz="half" idx="10"/>
          </p:nvPr>
        </p:nvSpPr>
        <p:spPr/>
        <p:txBody>
          <a:bodyPr/>
          <a:lstStyle/>
          <a:p>
            <a:fld id="{1E776595-8423-4E3F-8D9F-E972C5096BEF}" type="datetime1">
              <a:rPr lang="en-AU" smtClean="0"/>
              <a:t>11/02/2026</a:t>
            </a:fld>
            <a:endParaRPr lang="en-AU" dirty="0"/>
          </a:p>
        </p:txBody>
      </p:sp>
      <p:sp>
        <p:nvSpPr>
          <p:cNvPr id="5" name="Footer Placeholder 4">
            <a:extLst>
              <a:ext uri="{FF2B5EF4-FFF2-40B4-BE49-F238E27FC236}">
                <a16:creationId xmlns:a16="http://schemas.microsoft.com/office/drawing/2014/main" xmlns="" id="{AECE724F-8A4E-499C-8DE2-B2AA4E93F370}"/>
              </a:ext>
            </a:extLst>
          </p:cNvPr>
          <p:cNvSpPr>
            <a:spLocks noGrp="1"/>
          </p:cNvSpPr>
          <p:nvPr>
            <p:ph type="ftr" sz="quarter" idx="11"/>
          </p:nvPr>
        </p:nvSpPr>
        <p:spPr/>
        <p:txBody>
          <a:bodyPr/>
          <a:lstStyle/>
          <a:p>
            <a:r>
              <a:rPr lang="en-US" smtClean="0"/>
              <a:t>Prepared: by:  MS Odilia Tita</a:t>
            </a:r>
            <a:endParaRPr lang="en-AU" dirty="0"/>
          </a:p>
        </p:txBody>
      </p:sp>
      <p:sp>
        <p:nvSpPr>
          <p:cNvPr id="6" name="Slide Number Placeholder 5">
            <a:extLst>
              <a:ext uri="{FF2B5EF4-FFF2-40B4-BE49-F238E27FC236}">
                <a16:creationId xmlns:a16="http://schemas.microsoft.com/office/drawing/2014/main" xmlns="" id="{77AAFE4A-F239-41B1-BB8F-7D15CC0469E8}"/>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900961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CC352C-A92F-459E-8295-42C9F909458A}"/>
              </a:ext>
            </a:extLst>
          </p:cNvPr>
          <p:cNvSpPr>
            <a:spLocks noGrp="1"/>
          </p:cNvSpPr>
          <p:nvPr>
            <p:ph type="title"/>
          </p:nvPr>
        </p:nvSpPr>
        <p:spPr/>
        <p:txBody>
          <a:bodyPr/>
          <a:lstStyle/>
          <a:p>
            <a:r>
              <a:rPr lang="en-US" smtClean="0"/>
              <a:t>Click to edit Master title style</a:t>
            </a:r>
            <a:endParaRPr lang="en-AU"/>
          </a:p>
        </p:txBody>
      </p:sp>
      <p:sp>
        <p:nvSpPr>
          <p:cNvPr id="3" name="Content Placeholder 2">
            <a:extLst>
              <a:ext uri="{FF2B5EF4-FFF2-40B4-BE49-F238E27FC236}">
                <a16:creationId xmlns:a16="http://schemas.microsoft.com/office/drawing/2014/main" xmlns="" id="{104CAD08-C80E-4DC4-8BF1-484EFCB95492}"/>
              </a:ext>
            </a:extLst>
          </p:cNvPr>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a:extLst>
              <a:ext uri="{FF2B5EF4-FFF2-40B4-BE49-F238E27FC236}">
                <a16:creationId xmlns:a16="http://schemas.microsoft.com/office/drawing/2014/main" xmlns="" id="{BABE14A2-7777-43C2-866C-C59E7D78E3A8}"/>
              </a:ext>
            </a:extLst>
          </p:cNvPr>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a:extLst>
              <a:ext uri="{FF2B5EF4-FFF2-40B4-BE49-F238E27FC236}">
                <a16:creationId xmlns:a16="http://schemas.microsoft.com/office/drawing/2014/main" xmlns="" id="{225B84CF-92BA-4600-BB97-0E67F8C4B28F}"/>
              </a:ext>
            </a:extLst>
          </p:cNvPr>
          <p:cNvSpPr>
            <a:spLocks noGrp="1"/>
          </p:cNvSpPr>
          <p:nvPr>
            <p:ph type="dt" sz="half" idx="10"/>
          </p:nvPr>
        </p:nvSpPr>
        <p:spPr/>
        <p:txBody>
          <a:bodyPr/>
          <a:lstStyle/>
          <a:p>
            <a:fld id="{453646E8-EA7F-49D7-A1AE-52344025FD1D}" type="datetime1">
              <a:rPr lang="en-AU" smtClean="0"/>
              <a:t>11/02/2026</a:t>
            </a:fld>
            <a:endParaRPr lang="en-AU" dirty="0"/>
          </a:p>
        </p:txBody>
      </p:sp>
      <p:sp>
        <p:nvSpPr>
          <p:cNvPr id="6" name="Footer Placeholder 5">
            <a:extLst>
              <a:ext uri="{FF2B5EF4-FFF2-40B4-BE49-F238E27FC236}">
                <a16:creationId xmlns:a16="http://schemas.microsoft.com/office/drawing/2014/main" xmlns="" id="{8206C079-8FD5-48B3-9592-FB66A327DE82}"/>
              </a:ext>
            </a:extLst>
          </p:cNvPr>
          <p:cNvSpPr>
            <a:spLocks noGrp="1"/>
          </p:cNvSpPr>
          <p:nvPr>
            <p:ph type="ftr" sz="quarter" idx="11"/>
          </p:nvPr>
        </p:nvSpPr>
        <p:spPr/>
        <p:txBody>
          <a:bodyPr/>
          <a:lstStyle/>
          <a:p>
            <a:r>
              <a:rPr lang="en-US" smtClean="0"/>
              <a:t>Prepared: by:  MS Odilia Tita</a:t>
            </a:r>
            <a:endParaRPr lang="en-AU" dirty="0"/>
          </a:p>
        </p:txBody>
      </p:sp>
      <p:sp>
        <p:nvSpPr>
          <p:cNvPr id="7" name="Slide Number Placeholder 6">
            <a:extLst>
              <a:ext uri="{FF2B5EF4-FFF2-40B4-BE49-F238E27FC236}">
                <a16:creationId xmlns:a16="http://schemas.microsoft.com/office/drawing/2014/main" xmlns="" id="{6BA13483-38F4-419D-880C-5A48E831CE10}"/>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1397407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6AE3D4-E4F8-41CB-9937-F58F39C021AC}"/>
              </a:ext>
            </a:extLst>
          </p:cNvPr>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a:extLst>
              <a:ext uri="{FF2B5EF4-FFF2-40B4-BE49-F238E27FC236}">
                <a16:creationId xmlns:a16="http://schemas.microsoft.com/office/drawing/2014/main" xmlns="" id="{62691A98-FFD5-459F-9A51-BCD0BA177B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a:extLst>
              <a:ext uri="{FF2B5EF4-FFF2-40B4-BE49-F238E27FC236}">
                <a16:creationId xmlns:a16="http://schemas.microsoft.com/office/drawing/2014/main" xmlns="" id="{8953A882-8991-4857-8D00-05762422191A}"/>
              </a:ext>
            </a:extLst>
          </p:cNvPr>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a:extLst>
              <a:ext uri="{FF2B5EF4-FFF2-40B4-BE49-F238E27FC236}">
                <a16:creationId xmlns:a16="http://schemas.microsoft.com/office/drawing/2014/main" xmlns="" id="{B81E7EAF-8E32-4FEB-B408-58B11868A5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a:extLst>
              <a:ext uri="{FF2B5EF4-FFF2-40B4-BE49-F238E27FC236}">
                <a16:creationId xmlns:a16="http://schemas.microsoft.com/office/drawing/2014/main" xmlns="" id="{86293D60-712D-43B4-8841-D8F0B7EDDB85}"/>
              </a:ext>
            </a:extLst>
          </p:cNvPr>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a:extLst>
              <a:ext uri="{FF2B5EF4-FFF2-40B4-BE49-F238E27FC236}">
                <a16:creationId xmlns:a16="http://schemas.microsoft.com/office/drawing/2014/main" xmlns="" id="{B33F8219-C996-47C5-B59F-D4A02ED5C07F}"/>
              </a:ext>
            </a:extLst>
          </p:cNvPr>
          <p:cNvSpPr>
            <a:spLocks noGrp="1"/>
          </p:cNvSpPr>
          <p:nvPr>
            <p:ph type="dt" sz="half" idx="10"/>
          </p:nvPr>
        </p:nvSpPr>
        <p:spPr/>
        <p:txBody>
          <a:bodyPr/>
          <a:lstStyle/>
          <a:p>
            <a:fld id="{249A4B24-AD6E-4B47-9872-8FFA29E2CC48}" type="datetime1">
              <a:rPr lang="en-AU" smtClean="0"/>
              <a:t>11/02/2026</a:t>
            </a:fld>
            <a:endParaRPr lang="en-AU" dirty="0"/>
          </a:p>
        </p:txBody>
      </p:sp>
      <p:sp>
        <p:nvSpPr>
          <p:cNvPr id="8" name="Footer Placeholder 7">
            <a:extLst>
              <a:ext uri="{FF2B5EF4-FFF2-40B4-BE49-F238E27FC236}">
                <a16:creationId xmlns:a16="http://schemas.microsoft.com/office/drawing/2014/main" xmlns="" id="{A919DD82-B2A3-4778-A953-650075C747FA}"/>
              </a:ext>
            </a:extLst>
          </p:cNvPr>
          <p:cNvSpPr>
            <a:spLocks noGrp="1"/>
          </p:cNvSpPr>
          <p:nvPr>
            <p:ph type="ftr" sz="quarter" idx="11"/>
          </p:nvPr>
        </p:nvSpPr>
        <p:spPr/>
        <p:txBody>
          <a:bodyPr/>
          <a:lstStyle/>
          <a:p>
            <a:r>
              <a:rPr lang="en-US" smtClean="0"/>
              <a:t>Prepared: by:  MS Odilia Tita</a:t>
            </a:r>
            <a:endParaRPr lang="en-AU" dirty="0"/>
          </a:p>
        </p:txBody>
      </p:sp>
      <p:sp>
        <p:nvSpPr>
          <p:cNvPr id="9" name="Slide Number Placeholder 8">
            <a:extLst>
              <a:ext uri="{FF2B5EF4-FFF2-40B4-BE49-F238E27FC236}">
                <a16:creationId xmlns:a16="http://schemas.microsoft.com/office/drawing/2014/main" xmlns="" id="{6BB01E8D-DA65-4F3E-9AA7-7FA8BA648324}"/>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303295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E9AB93-0BFE-4F5E-8F94-194268897F5E}"/>
              </a:ext>
            </a:extLst>
          </p:cNvPr>
          <p:cNvSpPr>
            <a:spLocks noGrp="1"/>
          </p:cNvSpPr>
          <p:nvPr>
            <p:ph type="title"/>
          </p:nvPr>
        </p:nvSpPr>
        <p:spPr/>
        <p:txBody>
          <a:bodyPr/>
          <a:lstStyle/>
          <a:p>
            <a:r>
              <a:rPr lang="en-US" smtClean="0"/>
              <a:t>Click to edit Master title style</a:t>
            </a:r>
            <a:endParaRPr lang="en-AU"/>
          </a:p>
        </p:txBody>
      </p:sp>
      <p:sp>
        <p:nvSpPr>
          <p:cNvPr id="3" name="Date Placeholder 2">
            <a:extLst>
              <a:ext uri="{FF2B5EF4-FFF2-40B4-BE49-F238E27FC236}">
                <a16:creationId xmlns:a16="http://schemas.microsoft.com/office/drawing/2014/main" xmlns="" id="{E1EE3202-5147-45DC-B62C-6B22E34BFE2F}"/>
              </a:ext>
            </a:extLst>
          </p:cNvPr>
          <p:cNvSpPr>
            <a:spLocks noGrp="1"/>
          </p:cNvSpPr>
          <p:nvPr>
            <p:ph type="dt" sz="half" idx="10"/>
          </p:nvPr>
        </p:nvSpPr>
        <p:spPr/>
        <p:txBody>
          <a:bodyPr/>
          <a:lstStyle/>
          <a:p>
            <a:fld id="{C9CC42E4-77CA-4AD5-8EAD-A489F03C536B}" type="datetime1">
              <a:rPr lang="en-AU" smtClean="0"/>
              <a:t>11/02/2026</a:t>
            </a:fld>
            <a:endParaRPr lang="en-AU" dirty="0"/>
          </a:p>
        </p:txBody>
      </p:sp>
      <p:sp>
        <p:nvSpPr>
          <p:cNvPr id="4" name="Footer Placeholder 3">
            <a:extLst>
              <a:ext uri="{FF2B5EF4-FFF2-40B4-BE49-F238E27FC236}">
                <a16:creationId xmlns:a16="http://schemas.microsoft.com/office/drawing/2014/main" xmlns="" id="{5BAD23C6-6E37-4B73-B974-65238C9D3DF7}"/>
              </a:ext>
            </a:extLst>
          </p:cNvPr>
          <p:cNvSpPr>
            <a:spLocks noGrp="1"/>
          </p:cNvSpPr>
          <p:nvPr>
            <p:ph type="ftr" sz="quarter" idx="11"/>
          </p:nvPr>
        </p:nvSpPr>
        <p:spPr/>
        <p:txBody>
          <a:bodyPr/>
          <a:lstStyle/>
          <a:p>
            <a:r>
              <a:rPr lang="en-US" smtClean="0"/>
              <a:t>Prepared: by:  MS Odilia Tita</a:t>
            </a:r>
            <a:endParaRPr lang="en-AU" dirty="0"/>
          </a:p>
        </p:txBody>
      </p:sp>
      <p:sp>
        <p:nvSpPr>
          <p:cNvPr id="5" name="Slide Number Placeholder 4">
            <a:extLst>
              <a:ext uri="{FF2B5EF4-FFF2-40B4-BE49-F238E27FC236}">
                <a16:creationId xmlns:a16="http://schemas.microsoft.com/office/drawing/2014/main" xmlns="" id="{41C7D3D2-131C-4C01-A00D-199AD57938EC}"/>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204871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D609F64D-F916-4AD2-AA97-8526D6E8F6D1}"/>
              </a:ext>
            </a:extLst>
          </p:cNvPr>
          <p:cNvSpPr>
            <a:spLocks noGrp="1"/>
          </p:cNvSpPr>
          <p:nvPr>
            <p:ph type="dt" sz="half" idx="10"/>
          </p:nvPr>
        </p:nvSpPr>
        <p:spPr/>
        <p:txBody>
          <a:bodyPr/>
          <a:lstStyle/>
          <a:p>
            <a:fld id="{4604D1E3-56ED-46EF-AF58-E40027A4BE66}" type="datetime1">
              <a:rPr lang="en-AU" smtClean="0"/>
              <a:t>11/02/2026</a:t>
            </a:fld>
            <a:endParaRPr lang="en-AU" dirty="0"/>
          </a:p>
        </p:txBody>
      </p:sp>
      <p:sp>
        <p:nvSpPr>
          <p:cNvPr id="3" name="Footer Placeholder 2">
            <a:extLst>
              <a:ext uri="{FF2B5EF4-FFF2-40B4-BE49-F238E27FC236}">
                <a16:creationId xmlns:a16="http://schemas.microsoft.com/office/drawing/2014/main" xmlns="" id="{EA3A7BA7-B751-40E4-A753-41AFC914B576}"/>
              </a:ext>
            </a:extLst>
          </p:cNvPr>
          <p:cNvSpPr>
            <a:spLocks noGrp="1"/>
          </p:cNvSpPr>
          <p:nvPr>
            <p:ph type="ftr" sz="quarter" idx="11"/>
          </p:nvPr>
        </p:nvSpPr>
        <p:spPr/>
        <p:txBody>
          <a:bodyPr/>
          <a:lstStyle/>
          <a:p>
            <a:r>
              <a:rPr lang="en-US" smtClean="0"/>
              <a:t>Prepared: by:  MS Odilia Tita</a:t>
            </a:r>
            <a:endParaRPr lang="en-AU" dirty="0"/>
          </a:p>
        </p:txBody>
      </p:sp>
      <p:sp>
        <p:nvSpPr>
          <p:cNvPr id="4" name="Slide Number Placeholder 3">
            <a:extLst>
              <a:ext uri="{FF2B5EF4-FFF2-40B4-BE49-F238E27FC236}">
                <a16:creationId xmlns:a16="http://schemas.microsoft.com/office/drawing/2014/main" xmlns="" id="{3350BE4C-6B89-4E18-82BA-EACF7C147E54}"/>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1939572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912755-7036-4DA8-B325-FF8B9D708C93}"/>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a:extLst>
              <a:ext uri="{FF2B5EF4-FFF2-40B4-BE49-F238E27FC236}">
                <a16:creationId xmlns:a16="http://schemas.microsoft.com/office/drawing/2014/main" xmlns="" id="{0D6FDA57-29DF-4353-8B29-E6BF3925CB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a:extLst>
              <a:ext uri="{FF2B5EF4-FFF2-40B4-BE49-F238E27FC236}">
                <a16:creationId xmlns:a16="http://schemas.microsoft.com/office/drawing/2014/main" xmlns="" id="{6F711719-3649-4BC7-9563-ED86A4811F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a:extLst>
              <a:ext uri="{FF2B5EF4-FFF2-40B4-BE49-F238E27FC236}">
                <a16:creationId xmlns:a16="http://schemas.microsoft.com/office/drawing/2014/main" xmlns="" id="{913CABE3-7792-4B8E-B452-C70D54148074}"/>
              </a:ext>
            </a:extLst>
          </p:cNvPr>
          <p:cNvSpPr>
            <a:spLocks noGrp="1"/>
          </p:cNvSpPr>
          <p:nvPr>
            <p:ph type="dt" sz="half" idx="10"/>
          </p:nvPr>
        </p:nvSpPr>
        <p:spPr/>
        <p:txBody>
          <a:bodyPr/>
          <a:lstStyle/>
          <a:p>
            <a:fld id="{E605D6C3-87DC-46E2-8A6A-C4E9B5BE6A35}" type="datetime1">
              <a:rPr lang="en-AU" smtClean="0"/>
              <a:t>11/02/2026</a:t>
            </a:fld>
            <a:endParaRPr lang="en-AU" dirty="0"/>
          </a:p>
        </p:txBody>
      </p:sp>
      <p:sp>
        <p:nvSpPr>
          <p:cNvPr id="6" name="Footer Placeholder 5">
            <a:extLst>
              <a:ext uri="{FF2B5EF4-FFF2-40B4-BE49-F238E27FC236}">
                <a16:creationId xmlns:a16="http://schemas.microsoft.com/office/drawing/2014/main" xmlns="" id="{8B07BDFD-2D70-41A3-A103-74A4B4581EC2}"/>
              </a:ext>
            </a:extLst>
          </p:cNvPr>
          <p:cNvSpPr>
            <a:spLocks noGrp="1"/>
          </p:cNvSpPr>
          <p:nvPr>
            <p:ph type="ftr" sz="quarter" idx="11"/>
          </p:nvPr>
        </p:nvSpPr>
        <p:spPr/>
        <p:txBody>
          <a:bodyPr/>
          <a:lstStyle/>
          <a:p>
            <a:r>
              <a:rPr lang="en-US" smtClean="0"/>
              <a:t>Prepared: by:  MS Odilia Tita</a:t>
            </a:r>
            <a:endParaRPr lang="en-AU" dirty="0"/>
          </a:p>
        </p:txBody>
      </p:sp>
      <p:sp>
        <p:nvSpPr>
          <p:cNvPr id="7" name="Slide Number Placeholder 6">
            <a:extLst>
              <a:ext uri="{FF2B5EF4-FFF2-40B4-BE49-F238E27FC236}">
                <a16:creationId xmlns:a16="http://schemas.microsoft.com/office/drawing/2014/main" xmlns="" id="{0A2F4A47-C532-4754-B1C9-E7BC4718F1E8}"/>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1849634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C7900A-4D67-470B-9904-9CE42350F052}"/>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a:extLst>
              <a:ext uri="{FF2B5EF4-FFF2-40B4-BE49-F238E27FC236}">
                <a16:creationId xmlns:a16="http://schemas.microsoft.com/office/drawing/2014/main" xmlns="" id="{0D818930-0BE7-4C91-A666-438B65F29D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AU" dirty="0"/>
          </a:p>
        </p:txBody>
      </p:sp>
      <p:sp>
        <p:nvSpPr>
          <p:cNvPr id="4" name="Text Placeholder 3">
            <a:extLst>
              <a:ext uri="{FF2B5EF4-FFF2-40B4-BE49-F238E27FC236}">
                <a16:creationId xmlns:a16="http://schemas.microsoft.com/office/drawing/2014/main" xmlns="" id="{8DB7C0B8-B5B0-4343-9DB0-25BDA6E947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a:extLst>
              <a:ext uri="{FF2B5EF4-FFF2-40B4-BE49-F238E27FC236}">
                <a16:creationId xmlns:a16="http://schemas.microsoft.com/office/drawing/2014/main" xmlns="" id="{AB7057FE-F08B-4694-8A9E-FEDAB6D8E962}"/>
              </a:ext>
            </a:extLst>
          </p:cNvPr>
          <p:cNvSpPr>
            <a:spLocks noGrp="1"/>
          </p:cNvSpPr>
          <p:nvPr>
            <p:ph type="dt" sz="half" idx="10"/>
          </p:nvPr>
        </p:nvSpPr>
        <p:spPr/>
        <p:txBody>
          <a:bodyPr/>
          <a:lstStyle/>
          <a:p>
            <a:fld id="{681B6472-9C52-4A1E-878C-6E299B92CF53}" type="datetime1">
              <a:rPr lang="en-AU" smtClean="0"/>
              <a:t>11/02/2026</a:t>
            </a:fld>
            <a:endParaRPr lang="en-AU" dirty="0"/>
          </a:p>
        </p:txBody>
      </p:sp>
      <p:sp>
        <p:nvSpPr>
          <p:cNvPr id="6" name="Footer Placeholder 5">
            <a:extLst>
              <a:ext uri="{FF2B5EF4-FFF2-40B4-BE49-F238E27FC236}">
                <a16:creationId xmlns:a16="http://schemas.microsoft.com/office/drawing/2014/main" xmlns="" id="{B34A8BFC-745D-4BBC-BFD0-AF0492B6A35E}"/>
              </a:ext>
            </a:extLst>
          </p:cNvPr>
          <p:cNvSpPr>
            <a:spLocks noGrp="1"/>
          </p:cNvSpPr>
          <p:nvPr>
            <p:ph type="ftr" sz="quarter" idx="11"/>
          </p:nvPr>
        </p:nvSpPr>
        <p:spPr/>
        <p:txBody>
          <a:bodyPr/>
          <a:lstStyle/>
          <a:p>
            <a:r>
              <a:rPr lang="en-US" smtClean="0"/>
              <a:t>Prepared: by:  MS Odilia Tita</a:t>
            </a:r>
            <a:endParaRPr lang="en-AU" dirty="0"/>
          </a:p>
        </p:txBody>
      </p:sp>
      <p:sp>
        <p:nvSpPr>
          <p:cNvPr id="7" name="Slide Number Placeholder 6">
            <a:extLst>
              <a:ext uri="{FF2B5EF4-FFF2-40B4-BE49-F238E27FC236}">
                <a16:creationId xmlns:a16="http://schemas.microsoft.com/office/drawing/2014/main" xmlns="" id="{7F25914E-DE0C-4D6B-96A4-A8B2E3BE80A4}"/>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2092717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2C3DC4-E527-428B-94DA-FBB960B02E54}"/>
              </a:ext>
            </a:extLst>
          </p:cNvPr>
          <p:cNvSpPr>
            <a:spLocks noGrp="1"/>
          </p:cNvSpPr>
          <p:nvPr>
            <p:ph type="title"/>
          </p:nvPr>
        </p:nvSpPr>
        <p:spPr/>
        <p:txBody>
          <a:bodyPr/>
          <a:lstStyle/>
          <a:p>
            <a:r>
              <a:rPr lang="en-US" smtClean="0"/>
              <a:t>Click to edit Master title style</a:t>
            </a:r>
            <a:endParaRPr lang="en-AU"/>
          </a:p>
        </p:txBody>
      </p:sp>
      <p:sp>
        <p:nvSpPr>
          <p:cNvPr id="3" name="Vertical Text Placeholder 2">
            <a:extLst>
              <a:ext uri="{FF2B5EF4-FFF2-40B4-BE49-F238E27FC236}">
                <a16:creationId xmlns:a16="http://schemas.microsoft.com/office/drawing/2014/main" xmlns="" id="{23C1C0BB-30BB-45D4-A05D-5C8DDC147295}"/>
              </a:ext>
            </a:extLst>
          </p:cNvPr>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a:extLst>
              <a:ext uri="{FF2B5EF4-FFF2-40B4-BE49-F238E27FC236}">
                <a16:creationId xmlns:a16="http://schemas.microsoft.com/office/drawing/2014/main" xmlns="" id="{9D6A4DF1-DA3C-42E6-A9D1-B807F92884FB}"/>
              </a:ext>
            </a:extLst>
          </p:cNvPr>
          <p:cNvSpPr>
            <a:spLocks noGrp="1"/>
          </p:cNvSpPr>
          <p:nvPr>
            <p:ph type="dt" sz="half" idx="10"/>
          </p:nvPr>
        </p:nvSpPr>
        <p:spPr/>
        <p:txBody>
          <a:bodyPr/>
          <a:lstStyle/>
          <a:p>
            <a:fld id="{E263AF87-99E9-4E1C-B445-3EAD1561C7E0}" type="datetime1">
              <a:rPr lang="en-AU" smtClean="0"/>
              <a:t>11/02/2026</a:t>
            </a:fld>
            <a:endParaRPr lang="en-AU" dirty="0"/>
          </a:p>
        </p:txBody>
      </p:sp>
      <p:sp>
        <p:nvSpPr>
          <p:cNvPr id="5" name="Footer Placeholder 4">
            <a:extLst>
              <a:ext uri="{FF2B5EF4-FFF2-40B4-BE49-F238E27FC236}">
                <a16:creationId xmlns:a16="http://schemas.microsoft.com/office/drawing/2014/main" xmlns="" id="{F4B03447-FA4D-4FB3-8EA8-92EEBA64371A}"/>
              </a:ext>
            </a:extLst>
          </p:cNvPr>
          <p:cNvSpPr>
            <a:spLocks noGrp="1"/>
          </p:cNvSpPr>
          <p:nvPr>
            <p:ph type="ftr" sz="quarter" idx="11"/>
          </p:nvPr>
        </p:nvSpPr>
        <p:spPr/>
        <p:txBody>
          <a:bodyPr/>
          <a:lstStyle/>
          <a:p>
            <a:r>
              <a:rPr lang="en-US" smtClean="0"/>
              <a:t>Prepared: by:  MS Odilia Tita</a:t>
            </a:r>
            <a:endParaRPr lang="en-AU" dirty="0"/>
          </a:p>
        </p:txBody>
      </p:sp>
      <p:sp>
        <p:nvSpPr>
          <p:cNvPr id="6" name="Slide Number Placeholder 5">
            <a:extLst>
              <a:ext uri="{FF2B5EF4-FFF2-40B4-BE49-F238E27FC236}">
                <a16:creationId xmlns:a16="http://schemas.microsoft.com/office/drawing/2014/main" xmlns="" id="{41FA8BCD-CB8B-41BC-BA09-43A58BF8A0A9}"/>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4200964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D1B170A-0C49-44E5-9CEB-E34D00479D39}"/>
              </a:ext>
            </a:extLst>
          </p:cNvPr>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a:extLst>
              <a:ext uri="{FF2B5EF4-FFF2-40B4-BE49-F238E27FC236}">
                <a16:creationId xmlns:a16="http://schemas.microsoft.com/office/drawing/2014/main" xmlns="" id="{D2E26345-EA95-466A-A868-AF358482D2F3}"/>
              </a:ext>
            </a:extLst>
          </p:cNvPr>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a:extLst>
              <a:ext uri="{FF2B5EF4-FFF2-40B4-BE49-F238E27FC236}">
                <a16:creationId xmlns:a16="http://schemas.microsoft.com/office/drawing/2014/main" xmlns="" id="{23E50751-9A0A-4D85-BD89-F58E2DD2D4FC}"/>
              </a:ext>
            </a:extLst>
          </p:cNvPr>
          <p:cNvSpPr>
            <a:spLocks noGrp="1"/>
          </p:cNvSpPr>
          <p:nvPr>
            <p:ph type="dt" sz="half" idx="10"/>
          </p:nvPr>
        </p:nvSpPr>
        <p:spPr/>
        <p:txBody>
          <a:bodyPr/>
          <a:lstStyle/>
          <a:p>
            <a:fld id="{96E86B3E-45E0-40C0-BF95-DC501396704F}" type="datetime1">
              <a:rPr lang="en-AU" smtClean="0"/>
              <a:t>11/02/2026</a:t>
            </a:fld>
            <a:endParaRPr lang="en-AU" dirty="0"/>
          </a:p>
        </p:txBody>
      </p:sp>
      <p:sp>
        <p:nvSpPr>
          <p:cNvPr id="5" name="Footer Placeholder 4">
            <a:extLst>
              <a:ext uri="{FF2B5EF4-FFF2-40B4-BE49-F238E27FC236}">
                <a16:creationId xmlns:a16="http://schemas.microsoft.com/office/drawing/2014/main" xmlns="" id="{78C3466A-B481-472F-8349-31301AC32BBC}"/>
              </a:ext>
            </a:extLst>
          </p:cNvPr>
          <p:cNvSpPr>
            <a:spLocks noGrp="1"/>
          </p:cNvSpPr>
          <p:nvPr>
            <p:ph type="ftr" sz="quarter" idx="11"/>
          </p:nvPr>
        </p:nvSpPr>
        <p:spPr/>
        <p:txBody>
          <a:bodyPr/>
          <a:lstStyle/>
          <a:p>
            <a:r>
              <a:rPr lang="en-US" smtClean="0"/>
              <a:t>Prepared: by:  MS Odilia Tita</a:t>
            </a:r>
            <a:endParaRPr lang="en-AU" dirty="0"/>
          </a:p>
        </p:txBody>
      </p:sp>
      <p:sp>
        <p:nvSpPr>
          <p:cNvPr id="6" name="Slide Number Placeholder 5">
            <a:extLst>
              <a:ext uri="{FF2B5EF4-FFF2-40B4-BE49-F238E27FC236}">
                <a16:creationId xmlns:a16="http://schemas.microsoft.com/office/drawing/2014/main" xmlns="" id="{156164D8-60A4-4D6D-AC8E-944A64FB9CD1}"/>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4090599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CC5A2D3B-E2B1-45B1-A87B-9CE3565AE2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a:extLst>
              <a:ext uri="{FF2B5EF4-FFF2-40B4-BE49-F238E27FC236}">
                <a16:creationId xmlns:a16="http://schemas.microsoft.com/office/drawing/2014/main" xmlns="" id="{E8E1F910-679B-400B-90F8-3B7796EEB4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a:extLst>
              <a:ext uri="{FF2B5EF4-FFF2-40B4-BE49-F238E27FC236}">
                <a16:creationId xmlns:a16="http://schemas.microsoft.com/office/drawing/2014/main" xmlns="" id="{CD5CAEE6-87D8-4240-9F2E-BBBDC9B1F9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B17D19-1DFF-42E6-9FD7-87CE3960DADB}" type="datetime1">
              <a:rPr lang="en-AU" smtClean="0"/>
              <a:t>11/02/2026</a:t>
            </a:fld>
            <a:endParaRPr lang="en-AU" dirty="0"/>
          </a:p>
        </p:txBody>
      </p:sp>
      <p:sp>
        <p:nvSpPr>
          <p:cNvPr id="5" name="Footer Placeholder 4">
            <a:extLst>
              <a:ext uri="{FF2B5EF4-FFF2-40B4-BE49-F238E27FC236}">
                <a16:creationId xmlns:a16="http://schemas.microsoft.com/office/drawing/2014/main" xmlns="" id="{D1526242-9AC5-4511-B7FD-67946AD664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Prepared: by:  MS Odilia Tita</a:t>
            </a:r>
            <a:endParaRPr lang="en-AU" dirty="0"/>
          </a:p>
        </p:txBody>
      </p:sp>
      <p:sp>
        <p:nvSpPr>
          <p:cNvPr id="6" name="Slide Number Placeholder 5">
            <a:extLst>
              <a:ext uri="{FF2B5EF4-FFF2-40B4-BE49-F238E27FC236}">
                <a16:creationId xmlns:a16="http://schemas.microsoft.com/office/drawing/2014/main" xmlns="" id="{1BA7FC3C-7E7A-4752-B68D-DFDC7CFCF3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7D08D6-F5B7-4643-8830-2AE1BDB50066}" type="slidenum">
              <a:rPr lang="en-AU" smtClean="0"/>
              <a:t>‹#›</a:t>
            </a:fld>
            <a:endParaRPr lang="en-AU" dirty="0"/>
          </a:p>
        </p:txBody>
      </p:sp>
    </p:spTree>
    <p:extLst>
      <p:ext uri="{BB962C8B-B14F-4D97-AF65-F5344CB8AC3E}">
        <p14:creationId xmlns:p14="http://schemas.microsoft.com/office/powerpoint/2010/main" val="2869902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tx2">
                <a:lumMod val="40000"/>
                <a:lumOff val="60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43EFF1-6301-420A-9461-B3704C2C13E8}"/>
              </a:ext>
            </a:extLst>
          </p:cNvPr>
          <p:cNvSpPr>
            <a:spLocks noGrp="1"/>
          </p:cNvSpPr>
          <p:nvPr>
            <p:ph type="ctrTitle"/>
          </p:nvPr>
        </p:nvSpPr>
        <p:spPr>
          <a:xfrm>
            <a:off x="1524000" y="1854201"/>
            <a:ext cx="9144000" cy="1655762"/>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Computer Components System</a:t>
            </a:r>
            <a:endParaRPr lang="en-AU"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AD1FF088-C8BD-4AF1-93D2-BDB7D2018F9D}"/>
              </a:ext>
            </a:extLst>
          </p:cNvPr>
          <p:cNvSpPr>
            <a:spLocks noGrp="1"/>
          </p:cNvSpPr>
          <p:nvPr>
            <p:ph type="subTitle" idx="1"/>
          </p:nvPr>
        </p:nvSpPr>
        <p:spPr/>
        <p:txBody>
          <a:bodyPr>
            <a:normAutofit/>
          </a:bodyPr>
          <a:lstStyle/>
          <a:p>
            <a:r>
              <a:rPr lang="en-US" sz="9600" dirty="0">
                <a:latin typeface="French Script MT" panose="03020402040607040605" pitchFamily="66" charset="0"/>
              </a:rPr>
              <a:t>Chapter </a:t>
            </a:r>
            <a:r>
              <a:rPr lang="en-US" sz="9600" dirty="0" smtClean="0">
                <a:latin typeface="French Script MT" panose="03020402040607040605" pitchFamily="66" charset="0"/>
              </a:rPr>
              <a:t>2</a:t>
            </a:r>
            <a:endParaRPr lang="en-AU" sz="9600" dirty="0">
              <a:latin typeface="French Script MT" panose="03020402040607040605" pitchFamily="66" charset="0"/>
            </a:endParaRPr>
          </a:p>
        </p:txBody>
      </p:sp>
      <p:sp>
        <p:nvSpPr>
          <p:cNvPr id="9" name="Footer Placeholder 8"/>
          <p:cNvSpPr>
            <a:spLocks noGrp="1"/>
          </p:cNvSpPr>
          <p:nvPr>
            <p:ph type="ftr" sz="quarter" idx="11"/>
          </p:nvPr>
        </p:nvSpPr>
        <p:spPr>
          <a:xfrm>
            <a:off x="9338171" y="6492875"/>
            <a:ext cx="4114800" cy="365125"/>
          </a:xfrm>
        </p:spPr>
        <p:txBody>
          <a:bodyPr/>
          <a:lstStyle/>
          <a:p>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5" name="Picture 4">
            <a:extLst>
              <a:ext uri="{FF2B5EF4-FFF2-40B4-BE49-F238E27FC236}">
                <a16:creationId xmlns="" xmlns:a16="http://schemas.microsoft.com/office/drawing/2014/main" id="{EF1AEE37-577D-4DD9-AFF4-83BF60AAF5AB}"/>
              </a:ext>
            </a:extLst>
          </p:cNvPr>
          <p:cNvPicPr/>
          <p:nvPr/>
        </p:nvPicPr>
        <p:blipFill>
          <a:blip r:embed="rId2"/>
          <a:stretch>
            <a:fillRect/>
          </a:stretch>
        </p:blipFill>
        <p:spPr>
          <a:xfrm>
            <a:off x="10823275" y="129414"/>
            <a:ext cx="1285875" cy="1485952"/>
          </a:xfrm>
          <a:prstGeom prst="rect">
            <a:avLst/>
          </a:prstGeom>
        </p:spPr>
      </p:pic>
      <p:pic>
        <p:nvPicPr>
          <p:cNvPr id="2052" name="Picture 4" descr="Microsoft 365 (M365) - Information Technolog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629" y="129414"/>
            <a:ext cx="2106688" cy="1632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59439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2203809" y="24967"/>
            <a:ext cx="7439025" cy="1325563"/>
          </a:xfrm>
        </p:spPr>
        <p:txBody>
          <a:bodyPr/>
          <a:lstStyle/>
          <a:p>
            <a:r>
              <a:rPr lang="en-US" b="1" dirty="0">
                <a:latin typeface="Times New Roman" panose="02020603050405020304" pitchFamily="18" charset="0"/>
                <a:cs typeface="Times New Roman" panose="02020603050405020304" pitchFamily="18" charset="0"/>
              </a:rPr>
              <a:t>LEARNING OUTCOMES</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165340" y="1414643"/>
            <a:ext cx="10515600" cy="4351338"/>
          </a:xfrm>
        </p:spPr>
        <p:txBody>
          <a:bodyPr/>
          <a:lstStyle/>
          <a:p>
            <a:pPr marL="0" indent="0">
              <a:buNone/>
            </a:pPr>
            <a:r>
              <a:rPr lang="en-US" sz="3600" dirty="0">
                <a:latin typeface="Times New Roman" panose="02020603050405020304" pitchFamily="18" charset="0"/>
                <a:cs typeface="Times New Roman" panose="02020603050405020304" pitchFamily="18" charset="0"/>
              </a:rPr>
              <a:t>By the end of this session, students should be able to;</a:t>
            </a:r>
          </a:p>
          <a:p>
            <a:pPr marL="971550" lvl="1" indent="-514350">
              <a:buFont typeface="+mj-lt"/>
              <a:buAutoNum type="arabicPeriod"/>
            </a:pPr>
            <a:r>
              <a:rPr lang="en-US" sz="3200" dirty="0" smtClean="0">
                <a:latin typeface="Times New Roman" panose="02020603050405020304" pitchFamily="18" charset="0"/>
                <a:cs typeface="Times New Roman" panose="02020603050405020304" pitchFamily="18" charset="0"/>
              </a:rPr>
              <a:t>Central Processing Unit (CPU)</a:t>
            </a:r>
          </a:p>
          <a:p>
            <a:pPr marL="971550" lvl="1" indent="-514350">
              <a:buFont typeface="+mj-lt"/>
              <a:buAutoNum type="arabicPeriod"/>
            </a:pPr>
            <a:r>
              <a:rPr lang="en-US" sz="3200" dirty="0" smtClean="0">
                <a:latin typeface="Times New Roman" panose="02020603050405020304" pitchFamily="18" charset="0"/>
                <a:cs typeface="Times New Roman" panose="02020603050405020304" pitchFamily="18" charset="0"/>
              </a:rPr>
              <a:t>Memory and Storage</a:t>
            </a:r>
          </a:p>
          <a:p>
            <a:pPr marL="971550" lvl="1" indent="-514350">
              <a:buFont typeface="+mj-lt"/>
              <a:buAutoNum type="arabicPeriod"/>
            </a:pPr>
            <a:r>
              <a:rPr lang="en-US" sz="3200" dirty="0" smtClean="0">
                <a:latin typeface="Times New Roman" panose="02020603050405020304" pitchFamily="18" charset="0"/>
                <a:cs typeface="Times New Roman" panose="02020603050405020304" pitchFamily="18" charset="0"/>
              </a:rPr>
              <a:t>Input Devices</a:t>
            </a:r>
          </a:p>
          <a:p>
            <a:pPr marL="971550" lvl="1" indent="-514350">
              <a:buFont typeface="+mj-lt"/>
              <a:buAutoNum type="arabicPeriod"/>
            </a:pPr>
            <a:r>
              <a:rPr lang="en-US" sz="3200" dirty="0" smtClean="0">
                <a:latin typeface="Times New Roman" panose="02020603050405020304" pitchFamily="18" charset="0"/>
                <a:cs typeface="Times New Roman" panose="02020603050405020304" pitchFamily="18" charset="0"/>
              </a:rPr>
              <a:t>Output Devices</a:t>
            </a:r>
          </a:p>
          <a:p>
            <a:pPr marL="971550" lvl="1" indent="-514350">
              <a:buFont typeface="+mj-lt"/>
              <a:buAutoNum type="arabicPeriod"/>
            </a:pPr>
            <a:r>
              <a:rPr lang="en-US" sz="3200" dirty="0" smtClean="0">
                <a:latin typeface="Times New Roman" panose="02020603050405020304" pitchFamily="18" charset="0"/>
                <a:cs typeface="Times New Roman" panose="02020603050405020304" pitchFamily="18" charset="0"/>
              </a:rPr>
              <a:t>Communication and peripheral devices</a:t>
            </a:r>
          </a:p>
          <a:p>
            <a:pPr marL="971550" lvl="1" indent="-514350">
              <a:buFont typeface="+mj-lt"/>
              <a:buAutoNum type="arabicPeriod"/>
            </a:pPr>
            <a:r>
              <a:rPr lang="en-US" sz="3200" dirty="0" smtClean="0">
                <a:latin typeface="Times New Roman" panose="02020603050405020304" pitchFamily="18" charset="0"/>
                <a:cs typeface="Times New Roman" panose="02020603050405020304" pitchFamily="18" charset="0"/>
              </a:rPr>
              <a:t>Users</a:t>
            </a:r>
            <a:endParaRPr lang="en-AU"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10"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57969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F821DF0-3940-490D-A245-0C1997FAE7DD}"/>
              </a:ext>
            </a:extLst>
          </p:cNvPr>
          <p:cNvSpPr>
            <a:spLocks noGrp="1"/>
          </p:cNvSpPr>
          <p:nvPr>
            <p:ph type="title"/>
          </p:nvPr>
        </p:nvSpPr>
        <p:spPr>
          <a:xfrm>
            <a:off x="1544127" y="1"/>
            <a:ext cx="10532853" cy="1466849"/>
          </a:xfrm>
        </p:spPr>
        <p:txBody>
          <a:bodyPr>
            <a:normAutofit/>
          </a:bodyPr>
          <a:lstStyle/>
          <a:p>
            <a:pPr algn="ctr"/>
            <a:r>
              <a:rPr lang="en-US" b="1" dirty="0" smtClean="0">
                <a:latin typeface="Times New Roman" panose="02020603050405020304" pitchFamily="18" charset="0"/>
                <a:cs typeface="Times New Roman" panose="02020603050405020304" pitchFamily="18" charset="0"/>
              </a:rPr>
              <a:t>INTRODUCTION</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B96C51A3-EDB6-48E4-A301-975952B11D9B}"/>
              </a:ext>
            </a:extLst>
          </p:cNvPr>
          <p:cNvSpPr>
            <a:spLocks noGrp="1"/>
          </p:cNvSpPr>
          <p:nvPr>
            <p:ph idx="1"/>
          </p:nvPr>
        </p:nvSpPr>
        <p:spPr>
          <a:xfrm>
            <a:off x="672860" y="1552755"/>
            <a:ext cx="11628678" cy="4917056"/>
          </a:xfrm>
        </p:spPr>
        <p:txBody>
          <a:bodyPr>
            <a:normAutofit/>
          </a:bodyPr>
          <a:lstStyle/>
          <a:p>
            <a:pPr>
              <a:buFont typeface="Wingdings" panose="05000000000000000000" pitchFamily="2" charset="2"/>
              <a:buChar char="Ø"/>
            </a:pPr>
            <a:r>
              <a:rPr lang="en-US" sz="3600" dirty="0" smtClean="0">
                <a:latin typeface="Times New Roman" panose="02020603050405020304" pitchFamily="18" charset="0"/>
                <a:cs typeface="Times New Roman" panose="02020603050405020304" pitchFamily="18" charset="0"/>
              </a:rPr>
              <a:t>A computer won’t function without components. It is essential for the internal and peripheral components to be present to be fully functional.</a:t>
            </a:r>
          </a:p>
          <a:p>
            <a:pPr marL="0" indent="0">
              <a:buNone/>
            </a:pPr>
            <a:endParaRPr lang="en-US" dirty="0"/>
          </a:p>
        </p:txBody>
      </p:sp>
      <p:sp>
        <p:nvSpPr>
          <p:cNvPr id="12" name="Footer Placeholder 11"/>
          <p:cNvSpPr>
            <a:spLocks noGrp="1"/>
          </p:cNvSpPr>
          <p:nvPr>
            <p:ph type="ftr" sz="quarter" idx="11"/>
          </p:nvPr>
        </p:nvSpPr>
        <p:spPr>
          <a:xfrm>
            <a:off x="9349256" y="6535738"/>
            <a:ext cx="4114800" cy="365125"/>
          </a:xfrm>
        </p:spPr>
        <p:txBody>
          <a:bodyPr/>
          <a:lstStyle/>
          <a:p>
            <a:r>
              <a:rPr lang="en-US" sz="900" smtClean="0">
                <a:latin typeface="Comic Sans MS" panose="030F0702030302020204" pitchFamily="66" charset="0"/>
              </a:rPr>
              <a:t>Prepared: by:  MS Odilia Tita</a:t>
            </a:r>
            <a:endParaRPr lang="en-AU" sz="9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69276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1769533" y="94285"/>
            <a:ext cx="7962061" cy="1325563"/>
          </a:xfrm>
        </p:spPr>
        <p:txBody>
          <a:bodyPr/>
          <a:lstStyle/>
          <a:p>
            <a:r>
              <a:rPr lang="en-AU" b="1" dirty="0" smtClean="0">
                <a:latin typeface="Times New Roman" panose="02020603050405020304" pitchFamily="18" charset="0"/>
                <a:cs typeface="Times New Roman" panose="02020603050405020304" pitchFamily="18" charset="0"/>
              </a:rPr>
              <a:t>1.Central Processing Unit (CPU)</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203199" y="1557868"/>
            <a:ext cx="11778593" cy="5300132"/>
          </a:xfrm>
        </p:spPr>
        <p:txBody>
          <a:bodyPr>
            <a:normAutofit fontScale="92500" lnSpcReduction="20000"/>
          </a:bodyPr>
          <a:lstStyle/>
          <a:p>
            <a:r>
              <a:rPr lang="en-US" sz="3200" dirty="0">
                <a:latin typeface="Times New Roman" panose="02020603050405020304" pitchFamily="18" charset="0"/>
                <a:cs typeface="Times New Roman" panose="02020603050405020304" pitchFamily="18" charset="0"/>
              </a:rPr>
              <a:t>CPU is normally referred as </a:t>
            </a:r>
            <a:r>
              <a:rPr lang="en-US" sz="3200" u="sng" dirty="0">
                <a:latin typeface="Times New Roman" panose="02020603050405020304" pitchFamily="18" charset="0"/>
                <a:cs typeface="Times New Roman" panose="02020603050405020304" pitchFamily="18" charset="0"/>
              </a:rPr>
              <a:t>brain </a:t>
            </a:r>
            <a:r>
              <a:rPr lang="en-US" sz="3200" dirty="0">
                <a:latin typeface="Times New Roman" panose="02020603050405020304" pitchFamily="18" charset="0"/>
                <a:cs typeface="Times New Roman" panose="02020603050405020304" pitchFamily="18" charset="0"/>
              </a:rPr>
              <a:t>of the computer. It executes millions of instructions per seconds. </a:t>
            </a:r>
          </a:p>
          <a:p>
            <a:r>
              <a:rPr lang="en-US" sz="3200" dirty="0">
                <a:latin typeface="Times New Roman" panose="02020603050405020304" pitchFamily="18" charset="0"/>
                <a:cs typeface="Times New Roman" panose="02020603050405020304" pitchFamily="18" charset="0"/>
              </a:rPr>
              <a:t>Input devices like mouse or keyboard is initially used to enter data. Then the CPU will perform the four (4) mains tasks:</a:t>
            </a:r>
          </a:p>
          <a:p>
            <a:pPr lvl="0"/>
            <a:r>
              <a:rPr lang="en-US" sz="3200" dirty="0">
                <a:latin typeface="Times New Roman" panose="02020603050405020304" pitchFamily="18" charset="0"/>
                <a:cs typeface="Times New Roman" panose="02020603050405020304" pitchFamily="18" charset="0"/>
              </a:rPr>
              <a:t>Receives (fetch) instructions from the memory and it makes sure the address matches the corresponding instructions and forwards the request to RAM. CPU and RAM both works together.</a:t>
            </a:r>
          </a:p>
          <a:p>
            <a:pPr lvl="0"/>
            <a:r>
              <a:rPr lang="en-US" sz="3200" dirty="0">
                <a:latin typeface="Times New Roman" panose="02020603050405020304" pitchFamily="18" charset="0"/>
                <a:cs typeface="Times New Roman" panose="02020603050405020304" pitchFamily="18" charset="0"/>
              </a:rPr>
              <a:t>Translate (decode) instructions into a form the CPU can simply understand, which is machine language (binary).</a:t>
            </a:r>
          </a:p>
          <a:p>
            <a:pPr lvl="0"/>
            <a:r>
              <a:rPr lang="en-US" sz="3200" dirty="0">
                <a:latin typeface="Times New Roman" panose="02020603050405020304" pitchFamily="18" charset="0"/>
                <a:cs typeface="Times New Roman" panose="02020603050405020304" pitchFamily="18" charset="0"/>
              </a:rPr>
              <a:t>Executing and carrying out given instructions.</a:t>
            </a:r>
          </a:p>
          <a:p>
            <a:pPr lvl="0"/>
            <a:r>
              <a:rPr lang="en-US" sz="3200" dirty="0">
                <a:latin typeface="Times New Roman" panose="02020603050405020304" pitchFamily="18" charset="0"/>
                <a:cs typeface="Times New Roman" panose="02020603050405020304" pitchFamily="18" charset="0"/>
              </a:rPr>
              <a:t>Storing the outcome of the execution back to memory for later use.</a:t>
            </a:r>
          </a:p>
          <a:p>
            <a:r>
              <a:rPr lang="en-US" sz="3200" dirty="0">
                <a:latin typeface="Times New Roman" panose="02020603050405020304" pitchFamily="18" charset="0"/>
                <a:cs typeface="Times New Roman" panose="02020603050405020304" pitchFamily="18" charset="0"/>
              </a:rPr>
              <a:t>Finally, the output is the one that comes out from the printer. The above process is called </a:t>
            </a:r>
            <a:r>
              <a:rPr lang="en-US" sz="3200" b="1" dirty="0" smtClean="0">
                <a:latin typeface="Times New Roman" panose="02020603050405020304" pitchFamily="18" charset="0"/>
                <a:cs typeface="Times New Roman" panose="02020603050405020304" pitchFamily="18" charset="0"/>
              </a:rPr>
              <a:t>fetch-decode-execute </a:t>
            </a:r>
            <a:r>
              <a:rPr lang="en-US" sz="3200" b="1" dirty="0">
                <a:latin typeface="Times New Roman" panose="02020603050405020304" pitchFamily="18" charset="0"/>
                <a:cs typeface="Times New Roman" panose="02020603050405020304" pitchFamily="18" charset="0"/>
              </a:rPr>
              <a:t>cycle</a:t>
            </a:r>
            <a:r>
              <a:rPr lang="en-US" sz="3200" dirty="0">
                <a:latin typeface="Times New Roman" panose="02020603050405020304" pitchFamily="18" charset="0"/>
                <a:cs typeface="Times New Roman" panose="02020603050405020304" pitchFamily="18" charset="0"/>
              </a:rPr>
              <a:t>.</a:t>
            </a: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36005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939801" y="93183"/>
            <a:ext cx="10913533" cy="1325563"/>
          </a:xfrm>
        </p:spPr>
        <p:txBody>
          <a:bodyPr/>
          <a:lstStyle/>
          <a:p>
            <a:r>
              <a:rPr lang="en-AU" b="1" dirty="0" smtClean="0">
                <a:latin typeface="Times New Roman" panose="02020603050405020304" pitchFamily="18" charset="0"/>
                <a:cs typeface="Times New Roman" panose="02020603050405020304" pitchFamily="18" charset="0"/>
              </a:rPr>
              <a:t>Three (3) main Components of the CPU</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203199" y="1557868"/>
            <a:ext cx="11778593" cy="5300132"/>
          </a:xfrm>
        </p:spPr>
        <p:txBody>
          <a:bodyPr>
            <a:normAutofit fontScale="77500" lnSpcReduction="20000"/>
          </a:bodyPr>
          <a:lstStyle/>
          <a:p>
            <a:pPr marL="0" indent="0">
              <a:buNone/>
            </a:pPr>
            <a:r>
              <a:rPr lang="en-US" sz="3200" dirty="0" smtClean="0">
                <a:latin typeface="Times New Roman" panose="02020603050405020304" pitchFamily="18" charset="0"/>
                <a:cs typeface="Times New Roman" panose="02020603050405020304" pitchFamily="18" charset="0"/>
              </a:rPr>
              <a:t>CPU </a:t>
            </a:r>
            <a:r>
              <a:rPr lang="en-US" sz="3200" dirty="0">
                <a:latin typeface="Times New Roman" panose="02020603050405020304" pitchFamily="18" charset="0"/>
                <a:cs typeface="Times New Roman" panose="02020603050405020304" pitchFamily="18" charset="0"/>
              </a:rPr>
              <a:t>receives data and commands from a user and process it according to the instructions. The CPU has three main components:</a:t>
            </a:r>
          </a:p>
          <a:p>
            <a:pPr lvl="0">
              <a:buFont typeface="Wingdings" panose="05000000000000000000" pitchFamily="2" charset="2"/>
              <a:buChar char="v"/>
            </a:pPr>
            <a:r>
              <a:rPr lang="en-US" sz="3200" b="1" dirty="0" smtClean="0">
                <a:latin typeface="Times New Roman" panose="02020603050405020304" pitchFamily="18" charset="0"/>
                <a:cs typeface="Times New Roman" panose="02020603050405020304" pitchFamily="18" charset="0"/>
              </a:rPr>
              <a:t>Memory Unit</a:t>
            </a:r>
            <a:endParaRPr lang="en-US" sz="3200" b="1" dirty="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Once a user enters data using input devices, the computer system stores this data in into memory unit. This data will now remain here until other components of CPU process it. The memory unit uses a set of pre-programmed instructions to further transmit this data to other parts of the CPU.</a:t>
            </a:r>
          </a:p>
          <a:p>
            <a:pPr lvl="0">
              <a:buFont typeface="Wingdings" panose="05000000000000000000" pitchFamily="2" charset="2"/>
              <a:buChar char="v"/>
            </a:pPr>
            <a:r>
              <a:rPr lang="en-US" sz="3200" b="1" dirty="0">
                <a:latin typeface="Times New Roman" panose="02020603050405020304" pitchFamily="18" charset="0"/>
                <a:cs typeface="Times New Roman" panose="02020603050405020304" pitchFamily="18" charset="0"/>
              </a:rPr>
              <a:t>Arithmetic </a:t>
            </a:r>
            <a:r>
              <a:rPr lang="en-US" sz="3200" b="1" dirty="0" smtClean="0">
                <a:latin typeface="Times New Roman" panose="02020603050405020304" pitchFamily="18" charset="0"/>
                <a:cs typeface="Times New Roman" panose="02020603050405020304" pitchFamily="18" charset="0"/>
              </a:rPr>
              <a:t>Logical </a:t>
            </a:r>
            <a:r>
              <a:rPr lang="en-US" sz="3200" b="1" dirty="0">
                <a:latin typeface="Times New Roman" panose="02020603050405020304" pitchFamily="18" charset="0"/>
                <a:cs typeface="Times New Roman" panose="02020603050405020304" pitchFamily="18" charset="0"/>
              </a:rPr>
              <a:t>Unit (</a:t>
            </a:r>
            <a:r>
              <a:rPr lang="en-US" sz="3200" b="1" dirty="0" smtClean="0">
                <a:latin typeface="Times New Roman" panose="02020603050405020304" pitchFamily="18" charset="0"/>
                <a:cs typeface="Times New Roman" panose="02020603050405020304" pitchFamily="18" charset="0"/>
              </a:rPr>
              <a:t>ALU)</a:t>
            </a:r>
          </a:p>
          <a:p>
            <a:pPr marL="0" lvl="0" indent="0">
              <a:buNone/>
            </a:pPr>
            <a:r>
              <a:rPr lang="en-US" sz="3200" dirty="0" smtClean="0">
                <a:latin typeface="Times New Roman" panose="02020603050405020304" pitchFamily="18" charset="0"/>
                <a:cs typeface="Times New Roman" panose="02020603050405020304" pitchFamily="18" charset="0"/>
              </a:rPr>
              <a:t>It performs </a:t>
            </a:r>
            <a:r>
              <a:rPr lang="en-US" sz="3200" dirty="0">
                <a:latin typeface="Times New Roman" panose="02020603050405020304" pitchFamily="18" charset="0"/>
                <a:cs typeface="Times New Roman" panose="02020603050405020304" pitchFamily="18" charset="0"/>
              </a:rPr>
              <a:t>arithmetic calculations like addition, subtraction, division, multiplication, and logical operations, etc.</a:t>
            </a:r>
          </a:p>
          <a:p>
            <a:pPr lvl="0">
              <a:buFont typeface="Wingdings" panose="05000000000000000000" pitchFamily="2" charset="2"/>
              <a:buChar char="v"/>
            </a:pPr>
            <a:r>
              <a:rPr lang="en-US" sz="3200" b="1" dirty="0">
                <a:latin typeface="Times New Roman" panose="02020603050405020304" pitchFamily="18" charset="0"/>
                <a:cs typeface="Times New Roman" panose="02020603050405020304" pitchFamily="18" charset="0"/>
              </a:rPr>
              <a:t>Control unit. </a:t>
            </a:r>
            <a:endParaRPr lang="en-US" sz="3200" b="1" dirty="0" smtClean="0">
              <a:latin typeface="Times New Roman" panose="02020603050405020304" pitchFamily="18" charset="0"/>
              <a:cs typeface="Times New Roman" panose="02020603050405020304" pitchFamily="18" charset="0"/>
            </a:endParaRPr>
          </a:p>
          <a:p>
            <a:pPr marL="0" lvl="0" indent="0">
              <a:buNone/>
            </a:pPr>
            <a:r>
              <a:rPr lang="en-US" sz="3200" dirty="0" smtClean="0">
                <a:latin typeface="Times New Roman" panose="02020603050405020304" pitchFamily="18" charset="0"/>
                <a:cs typeface="Times New Roman" panose="02020603050405020304" pitchFamily="18" charset="0"/>
              </a:rPr>
              <a:t>It </a:t>
            </a:r>
            <a:r>
              <a:rPr lang="en-US" sz="3200" dirty="0">
                <a:latin typeface="Times New Roman" panose="02020603050405020304" pitchFamily="18" charset="0"/>
                <a:cs typeface="Times New Roman" panose="02020603050405020304" pitchFamily="18" charset="0"/>
              </a:rPr>
              <a:t>controls the entire operations of the computer system. It Acts as a traffic. It receives data from input devices and sends it to processing units and finally transmits processed data to output devices for users.</a:t>
            </a:r>
          </a:p>
          <a:p>
            <a:pPr marL="0" indent="0">
              <a:buNone/>
            </a:pPr>
            <a:r>
              <a:rPr lang="en-US" sz="3200" b="1" dirty="0">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69643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1769533" y="94285"/>
            <a:ext cx="7962061" cy="1325563"/>
          </a:xfrm>
        </p:spPr>
        <p:txBody>
          <a:bodyPr/>
          <a:lstStyle/>
          <a:p>
            <a:r>
              <a:rPr lang="en-AU" b="1" dirty="0" smtClean="0">
                <a:latin typeface="Times New Roman" panose="02020603050405020304" pitchFamily="18" charset="0"/>
                <a:cs typeface="Times New Roman" panose="02020603050405020304" pitchFamily="18" charset="0"/>
              </a:rPr>
              <a:t>Inside the CPU</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203199" y="1557868"/>
            <a:ext cx="11778593" cy="5300132"/>
          </a:xfrm>
        </p:spPr>
        <p:txBody>
          <a:bodyPr>
            <a:normAutofit/>
          </a:bodyPr>
          <a:lstStyle/>
          <a:p>
            <a:r>
              <a:rPr lang="en-US" sz="3200" dirty="0" smtClean="0">
                <a:latin typeface="Times New Roman" panose="02020603050405020304" pitchFamily="18" charset="0"/>
                <a:cs typeface="Times New Roman" panose="02020603050405020304" pitchFamily="18" charset="0"/>
              </a:rPr>
              <a:t>At </a:t>
            </a:r>
            <a:r>
              <a:rPr lang="en-US" sz="3200" dirty="0">
                <a:latin typeface="Times New Roman" panose="02020603050405020304" pitchFamily="18" charset="0"/>
                <a:cs typeface="Times New Roman" panose="02020603050405020304" pitchFamily="18" charset="0"/>
              </a:rPr>
              <a:t>the hardware level, a CPU is an </a:t>
            </a:r>
            <a:r>
              <a:rPr lang="en-US" sz="3200" b="1" dirty="0">
                <a:latin typeface="Times New Roman" panose="02020603050405020304" pitchFamily="18" charset="0"/>
                <a:cs typeface="Times New Roman" panose="02020603050405020304" pitchFamily="18" charset="0"/>
              </a:rPr>
              <a:t>integrated circuit</a:t>
            </a:r>
            <a:r>
              <a:rPr lang="en-US" sz="3200" dirty="0">
                <a:latin typeface="Times New Roman" panose="02020603050405020304" pitchFamily="18" charset="0"/>
                <a:cs typeface="Times New Roman" panose="02020603050405020304" pitchFamily="18" charset="0"/>
              </a:rPr>
              <a:t>, also known as a </a:t>
            </a:r>
            <a:r>
              <a:rPr lang="en-US" sz="3200" b="1" dirty="0">
                <a:latin typeface="Times New Roman" panose="02020603050405020304" pitchFamily="18" charset="0"/>
                <a:cs typeface="Times New Roman" panose="02020603050405020304" pitchFamily="18" charset="0"/>
              </a:rPr>
              <a:t>chip</a:t>
            </a:r>
            <a:r>
              <a:rPr lang="en-US" sz="3200" dirty="0">
                <a:latin typeface="Times New Roman" panose="02020603050405020304" pitchFamily="18" charset="0"/>
                <a:cs typeface="Times New Roman" panose="02020603050405020304" pitchFamily="18" charset="0"/>
              </a:rPr>
              <a:t>. An integrated circuit "integrates" millions or billions of tiny electrical parts, arranging them into circuits and fitting them all into a compact box as shown in </a:t>
            </a:r>
            <a:r>
              <a:rPr lang="en-US" sz="3200" i="1" dirty="0">
                <a:latin typeface="Times New Roman" panose="02020603050405020304" pitchFamily="18" charset="0"/>
                <a:cs typeface="Times New Roman" panose="02020603050405020304" pitchFamily="18" charset="0"/>
              </a:rPr>
              <a:t>Fig 2.1</a:t>
            </a:r>
            <a:r>
              <a:rPr lang="en-US" sz="3200" dirty="0">
                <a:latin typeface="Times New Roman" panose="02020603050405020304" pitchFamily="18" charset="0"/>
                <a:cs typeface="Times New Roman" panose="02020603050405020304" pitchFamily="18" charset="0"/>
              </a:rPr>
              <a:t>. </a:t>
            </a:r>
            <a:endParaRPr lang="en-US" sz="3200" dirty="0" smtClean="0">
              <a:latin typeface="Times New Roman" panose="02020603050405020304" pitchFamily="18" charset="0"/>
              <a:cs typeface="Times New Roman" panose="02020603050405020304" pitchFamily="18" charset="0"/>
            </a:endParaRPr>
          </a:p>
          <a:p>
            <a:pPr marL="0" indent="0">
              <a:buNone/>
            </a:pPr>
            <a:endParaRPr lang="en-US" sz="3200" dirty="0">
              <a:latin typeface="Times New Roman" panose="02020603050405020304" pitchFamily="18" charset="0"/>
              <a:cs typeface="Times New Roman" panose="02020603050405020304" pitchFamily="18" charset="0"/>
            </a:endParaRPr>
          </a:p>
          <a:p>
            <a:endParaRPr lang="en-US" sz="3200" dirty="0" smtClean="0">
              <a:latin typeface="Times New Roman" panose="02020603050405020304" pitchFamily="18" charset="0"/>
              <a:cs typeface="Times New Roman" panose="02020603050405020304" pitchFamily="18" charset="0"/>
            </a:endParaRPr>
          </a:p>
          <a:p>
            <a:pPr marL="0" indent="0">
              <a:buNone/>
            </a:pPr>
            <a:endParaRPr lang="en-US" sz="1200" b="1" i="1" dirty="0" smtClean="0">
              <a:latin typeface="Times New Roman" panose="02020603050405020304" pitchFamily="18" charset="0"/>
              <a:cs typeface="Times New Roman" panose="02020603050405020304" pitchFamily="18" charset="0"/>
            </a:endParaRPr>
          </a:p>
          <a:p>
            <a:pPr marL="0" indent="0">
              <a:buNone/>
            </a:pPr>
            <a:r>
              <a:rPr lang="en-US" sz="1200" b="1" dirty="0">
                <a:latin typeface="Times New Roman" panose="02020603050405020304" pitchFamily="18" charset="0"/>
                <a:cs typeface="Times New Roman" panose="02020603050405020304" pitchFamily="18" charset="0"/>
              </a:rPr>
              <a:t> </a:t>
            </a:r>
            <a:r>
              <a:rPr lang="en-US" sz="1200" b="1" dirty="0" smtClean="0">
                <a:latin typeface="Times New Roman" panose="02020603050405020304" pitchFamily="18" charset="0"/>
                <a:cs typeface="Times New Roman" panose="02020603050405020304" pitchFamily="18" charset="0"/>
              </a:rPr>
              <a:t>          </a:t>
            </a:r>
            <a:r>
              <a:rPr lang="en-US" sz="1200" dirty="0" smtClean="0">
                <a:latin typeface="Times New Roman" panose="02020603050405020304" pitchFamily="18" charset="0"/>
                <a:cs typeface="Times New Roman" panose="02020603050405020304" pitchFamily="18" charset="0"/>
              </a:rPr>
              <a:t>An </a:t>
            </a:r>
            <a:r>
              <a:rPr lang="en-US" sz="1200" dirty="0">
                <a:latin typeface="Times New Roman" panose="02020603050405020304" pitchFamily="18" charset="0"/>
                <a:cs typeface="Times New Roman" panose="02020603050405020304" pitchFamily="18" charset="0"/>
              </a:rPr>
              <a:t>Intel 80486DX2 CPU chip. </a:t>
            </a:r>
            <a:endParaRPr lang="en-US" sz="1200" i="1" dirty="0" smtClean="0">
              <a:latin typeface="Times New Roman" panose="02020603050405020304" pitchFamily="18" charset="0"/>
              <a:cs typeface="Times New Roman" panose="02020603050405020304" pitchFamily="18" charset="0"/>
            </a:endParaRPr>
          </a:p>
          <a:p>
            <a:pPr marL="0" indent="0">
              <a:buNone/>
            </a:pPr>
            <a:r>
              <a:rPr lang="en-US" sz="1200" b="1" i="1" dirty="0" smtClean="0">
                <a:latin typeface="Times New Roman" panose="02020603050405020304" pitchFamily="18" charset="0"/>
                <a:cs typeface="Times New Roman" panose="02020603050405020304" pitchFamily="18" charset="0"/>
              </a:rPr>
              <a:t>Figure </a:t>
            </a:r>
            <a:r>
              <a:rPr lang="en-US" sz="1200" b="1" i="1" dirty="0">
                <a:latin typeface="Times New Roman" panose="02020603050405020304" pitchFamily="18" charset="0"/>
                <a:cs typeface="Times New Roman" panose="02020603050405020304" pitchFamily="18" charset="0"/>
              </a:rPr>
              <a:t>2.1 shows an Intel chip, covered in gold and wires</a:t>
            </a:r>
            <a:r>
              <a:rPr lang="en-US" sz="1200" b="1" i="1" dirty="0" smtClean="0">
                <a:latin typeface="Times New Roman" panose="02020603050405020304" pitchFamily="18" charset="0"/>
                <a:cs typeface="Times New Roman" panose="02020603050405020304" pitchFamily="18" charset="0"/>
              </a:rPr>
              <a:t>.</a:t>
            </a:r>
            <a:endParaRPr lang="en-US" sz="1200" b="1" i="1"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4483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1769533" y="94285"/>
            <a:ext cx="7962061" cy="1325563"/>
          </a:xfrm>
        </p:spPr>
        <p:txBody>
          <a:bodyPr/>
          <a:lstStyle/>
          <a:p>
            <a:r>
              <a:rPr lang="en-AU" b="1" dirty="0" smtClean="0">
                <a:latin typeface="Times New Roman" panose="02020603050405020304" pitchFamily="18" charset="0"/>
                <a:cs typeface="Times New Roman" panose="02020603050405020304" pitchFamily="18" charset="0"/>
              </a:rPr>
              <a:t>2.Memory</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203199" y="1557868"/>
            <a:ext cx="11778593" cy="5300132"/>
          </a:xfrm>
        </p:spPr>
        <p:txBody>
          <a:bodyPr>
            <a:normAutofit/>
          </a:bodyPr>
          <a:lstStyle/>
          <a:p>
            <a:r>
              <a:rPr lang="en-US" sz="3200" dirty="0">
                <a:latin typeface="Times New Roman" panose="02020603050405020304" pitchFamily="18" charset="0"/>
                <a:cs typeface="Times New Roman" panose="02020603050405020304" pitchFamily="18" charset="0"/>
              </a:rPr>
              <a:t>When input devices send binary data to a CPU, it immediately stores that data in </a:t>
            </a:r>
            <a:r>
              <a:rPr lang="en-US" sz="3200" b="1" dirty="0">
                <a:latin typeface="Times New Roman" panose="02020603050405020304" pitchFamily="18" charset="0"/>
                <a:cs typeface="Times New Roman" panose="02020603050405020304" pitchFamily="18" charset="0"/>
              </a:rPr>
              <a:t>memory</a:t>
            </a:r>
            <a:r>
              <a:rPr lang="en-US" sz="3200" dirty="0">
                <a:latin typeface="Times New Roman" panose="02020603050405020304" pitchFamily="18" charset="0"/>
                <a:cs typeface="Times New Roman" panose="02020603050405020304" pitchFamily="18" charset="0"/>
              </a:rPr>
              <a:t> to make it easier to process.</a:t>
            </a:r>
          </a:p>
          <a:p>
            <a:r>
              <a:rPr lang="en-US" sz="3200" dirty="0">
                <a:latin typeface="Times New Roman" panose="02020603050405020304" pitchFamily="18" charset="0"/>
                <a:cs typeface="Times New Roman" panose="02020603050405020304" pitchFamily="18" charset="0"/>
              </a:rPr>
              <a:t>Let's say we ask a computer to add 2 + 4. Here's what it will do:</a:t>
            </a:r>
          </a:p>
          <a:p>
            <a:pPr lvl="0"/>
            <a:r>
              <a:rPr lang="en-US" sz="3200" dirty="0">
                <a:latin typeface="Times New Roman" panose="02020603050405020304" pitchFamily="18" charset="0"/>
                <a:cs typeface="Times New Roman" panose="02020603050405020304" pitchFamily="18" charset="0"/>
              </a:rPr>
              <a:t>Store 2 (0010001000100010) and 4 (0100010001000100) in memory</a:t>
            </a:r>
          </a:p>
          <a:p>
            <a:pPr lvl="0"/>
            <a:r>
              <a:rPr lang="en-US" sz="3200" dirty="0">
                <a:latin typeface="Times New Roman" panose="02020603050405020304" pitchFamily="18" charset="0"/>
                <a:cs typeface="Times New Roman" panose="02020603050405020304" pitchFamily="18" charset="0"/>
              </a:rPr>
              <a:t>Use a circuit in the CPU to calculate the result</a:t>
            </a:r>
          </a:p>
          <a:p>
            <a:pPr lvl="0"/>
            <a:r>
              <a:rPr lang="en-US" sz="3200" dirty="0">
                <a:latin typeface="Times New Roman" panose="02020603050405020304" pitchFamily="18" charset="0"/>
                <a:cs typeface="Times New Roman" panose="02020603050405020304" pitchFamily="18" charset="0"/>
              </a:rPr>
              <a:t>Store 6 (0110011001100110) in memory</a:t>
            </a:r>
          </a:p>
          <a:p>
            <a:r>
              <a:rPr lang="en-US" sz="3200" dirty="0">
                <a:latin typeface="Times New Roman" panose="02020603050405020304" pitchFamily="18" charset="0"/>
                <a:cs typeface="Times New Roman" panose="02020603050405020304" pitchFamily="18" charset="0"/>
              </a:rPr>
              <a:t>Since the CPU is constantly using data from memory, they're connected via a </a:t>
            </a:r>
            <a:r>
              <a:rPr lang="en-US" sz="3200" b="1" dirty="0">
                <a:latin typeface="Times New Roman" panose="02020603050405020304" pitchFamily="18" charset="0"/>
                <a:cs typeface="Times New Roman" panose="02020603050405020304" pitchFamily="18" charset="0"/>
              </a:rPr>
              <a:t>memory bus</a:t>
            </a:r>
            <a:r>
              <a:rPr lang="en-US" sz="3200" dirty="0">
                <a:latin typeface="Times New Roman" panose="02020603050405020304" pitchFamily="18" charset="0"/>
                <a:cs typeface="Times New Roman" panose="02020603050405020304" pitchFamily="18" charset="0"/>
              </a:rPr>
              <a:t>, a high-speed communication transfer system, typically made from wires, conductors, or optical fibers as show below in </a:t>
            </a:r>
            <a:r>
              <a:rPr lang="en-US" sz="3200" i="1" dirty="0">
                <a:latin typeface="Times New Roman" panose="02020603050405020304" pitchFamily="18" charset="0"/>
                <a:cs typeface="Times New Roman" panose="02020603050405020304" pitchFamily="18" charset="0"/>
              </a:rPr>
              <a:t>Fig 2.2</a:t>
            </a:r>
            <a:r>
              <a:rPr lang="en-US" sz="3200" dirty="0">
                <a:latin typeface="Times New Roman" panose="02020603050405020304" pitchFamily="18" charset="0"/>
                <a:cs typeface="Times New Roman" panose="02020603050405020304" pitchFamily="18" charset="0"/>
              </a:rPr>
              <a:t>.</a:t>
            </a:r>
          </a:p>
          <a:p>
            <a:pPr marL="0" indent="0">
              <a:buNone/>
            </a:pPr>
            <a:endParaRPr lang="en-US"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861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1769533" y="94285"/>
            <a:ext cx="7962061" cy="1325563"/>
          </a:xfrm>
        </p:spPr>
        <p:txBody>
          <a:bodyPr/>
          <a:lstStyle/>
          <a:p>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4089399" y="1418168"/>
            <a:ext cx="7850059" cy="5300132"/>
          </a:xfrm>
        </p:spPr>
        <p:txBody>
          <a:bodyPr>
            <a:noAutofit/>
          </a:bodyPr>
          <a:lstStyle/>
          <a:p>
            <a:r>
              <a:rPr lang="en-US" sz="2400" dirty="0">
                <a:latin typeface="Times New Roman" panose="02020603050405020304" pitchFamily="18" charset="0"/>
                <a:cs typeface="Times New Roman" panose="02020603050405020304" pitchFamily="18" charset="0"/>
              </a:rPr>
              <a:t>Memory is designed for fast access and typically stores only the data and instructions that are necessary for the currently running programs on a computer. </a:t>
            </a:r>
          </a:p>
          <a:p>
            <a:r>
              <a:rPr lang="en-US" sz="2400" dirty="0">
                <a:latin typeface="Times New Roman" panose="02020603050405020304" pitchFamily="18" charset="0"/>
                <a:cs typeface="Times New Roman" panose="02020603050405020304" pitchFamily="18" charset="0"/>
              </a:rPr>
              <a:t>Computer memory has size limitation. Computers also vary a lot in memory size, usually because of physical size constraints. A desktop computer has more memory size than your phone. RAM differs in sizes, for example, 4GB, 8GB, 16GB, etc... Users with 2GB or less can consider upgrading to improve performance and functionality. There are different reasons why computer slows down and some of them for  upgrading Memory size is to improve computer performance, accommodate extra programs, faster internet browsing, enhanced network capability in working environment, for example, shared resources like printer with upgrade in RAM allow users to print heavy graphics without any issues of slowdown with the network</a:t>
            </a:r>
            <a:r>
              <a:rPr lang="en-US" sz="2400" dirty="0" smtClean="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247651" y="1648883"/>
            <a:ext cx="3443816" cy="2271184"/>
          </a:xfrm>
          <a:prstGeom prst="rect">
            <a:avLst/>
          </a:prstGeom>
        </p:spPr>
      </p:pic>
      <p:sp>
        <p:nvSpPr>
          <p:cNvPr id="4" name="TextBox 3"/>
          <p:cNvSpPr txBox="1"/>
          <p:nvPr/>
        </p:nvSpPr>
        <p:spPr>
          <a:xfrm>
            <a:off x="37443" y="3970869"/>
            <a:ext cx="4221290" cy="553998"/>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2.2 showing the flow of data between CPU and Memory</a:t>
            </a:r>
            <a:endParaRPr lang="en-US" sz="1200" dirty="0">
              <a:latin typeface="Times New Roman" panose="02020603050405020304" pitchFamily="18" charset="0"/>
              <a:cs typeface="Times New Roman" panose="02020603050405020304" pitchFamily="18" charset="0"/>
            </a:endParaRPr>
          </a:p>
          <a:p>
            <a:endParaRPr lang="en-US" dirty="0"/>
          </a:p>
        </p:txBody>
      </p:sp>
      <p:pic>
        <p:nvPicPr>
          <p:cNvPr id="10" name="Picture 2" descr="Microsoft 365 Copilot - Apps on Google Play"/>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42491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1769533" y="94285"/>
            <a:ext cx="7962061" cy="1325563"/>
          </a:xfrm>
        </p:spPr>
        <p:txBody>
          <a:bodyPr/>
          <a:lstStyle/>
          <a:p>
            <a:r>
              <a:rPr lang="en-AU" b="1" dirty="0" smtClean="0">
                <a:latin typeface="Times New Roman" panose="02020603050405020304" pitchFamily="18" charset="0"/>
                <a:cs typeface="Times New Roman" panose="02020603050405020304" pitchFamily="18" charset="0"/>
              </a:rPr>
              <a:t>Memory Types</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38815" y="1419848"/>
            <a:ext cx="11942976" cy="5300132"/>
          </a:xfrm>
        </p:spPr>
        <p:txBody>
          <a:bodyPr>
            <a:noAutofit/>
          </a:bodyPr>
          <a:lstStyle/>
          <a:p>
            <a:r>
              <a:rPr lang="en-US" sz="3200" dirty="0">
                <a:latin typeface="Times New Roman" panose="02020603050405020304" pitchFamily="18" charset="0"/>
                <a:cs typeface="Times New Roman" panose="02020603050405020304" pitchFamily="18" charset="0"/>
              </a:rPr>
              <a:t>There are basically two types of computer memory. Internal and External memory. Internally memory has two types.</a:t>
            </a:r>
          </a:p>
          <a:p>
            <a:pPr marL="0" lvl="0" indent="0">
              <a:buNone/>
            </a:pPr>
            <a:r>
              <a:rPr lang="en-US" sz="3200" b="1" dirty="0" smtClean="0">
                <a:latin typeface="Times New Roman" panose="02020603050405020304" pitchFamily="18" charset="0"/>
                <a:cs typeface="Times New Roman" panose="02020603050405020304" pitchFamily="18" charset="0"/>
              </a:rPr>
              <a:t>1. RAM </a:t>
            </a:r>
            <a:r>
              <a:rPr lang="en-US" sz="3200" b="1" dirty="0">
                <a:latin typeface="Times New Roman" panose="02020603050405020304" pitchFamily="18" charset="0"/>
                <a:cs typeface="Times New Roman" panose="02020603050405020304" pitchFamily="18" charset="0"/>
              </a:rPr>
              <a:t>(Random Access Memory</a:t>
            </a:r>
            <a:r>
              <a:rPr lang="en-US" sz="3200" dirty="0">
                <a:latin typeface="Times New Roman" panose="02020603050405020304" pitchFamily="18" charset="0"/>
                <a:cs typeface="Times New Roman" panose="02020603050405020304" pitchFamily="18" charset="0"/>
              </a:rPr>
              <a:t>)</a:t>
            </a:r>
          </a:p>
          <a:p>
            <a:pPr lvl="0"/>
            <a:r>
              <a:rPr lang="en-US" sz="3200" dirty="0">
                <a:latin typeface="Times New Roman" panose="02020603050405020304" pitchFamily="18" charset="0"/>
                <a:cs typeface="Times New Roman" panose="02020603050405020304" pitchFamily="18" charset="0"/>
              </a:rPr>
              <a:t>It is Volatile memory – it loses data when computer power is off.</a:t>
            </a:r>
          </a:p>
          <a:p>
            <a:pPr lvl="0"/>
            <a:r>
              <a:rPr lang="en-US" sz="3200" dirty="0">
                <a:latin typeface="Times New Roman" panose="02020603050405020304" pitchFamily="18" charset="0"/>
                <a:cs typeface="Times New Roman" panose="02020603050405020304" pitchFamily="18" charset="0"/>
              </a:rPr>
              <a:t>It Stores data temporary as long as the power is on.</a:t>
            </a:r>
          </a:p>
          <a:p>
            <a:pPr lvl="0"/>
            <a:r>
              <a:rPr lang="en-US" sz="3200" dirty="0">
                <a:latin typeface="Times New Roman" panose="02020603050405020304" pitchFamily="18" charset="0"/>
                <a:cs typeface="Times New Roman" panose="02020603050405020304" pitchFamily="18" charset="0"/>
              </a:rPr>
              <a:t>It is a Primary Memory of the computer.</a:t>
            </a:r>
          </a:p>
          <a:p>
            <a:pPr lvl="0"/>
            <a:r>
              <a:rPr lang="en-US" sz="3200" dirty="0">
                <a:latin typeface="Times New Roman" panose="02020603050405020304" pitchFamily="18" charset="0"/>
                <a:cs typeface="Times New Roman" panose="02020603050405020304" pitchFamily="18" charset="0"/>
              </a:rPr>
              <a:t>The speed of the computer depends on the RAM size.</a:t>
            </a:r>
          </a:p>
          <a:p>
            <a:r>
              <a:rPr lang="en-US" sz="3200" dirty="0">
                <a:latin typeface="Times New Roman" panose="02020603050405020304" pitchFamily="18" charset="0"/>
                <a:cs typeface="Times New Roman" panose="02020603050405020304" pitchFamily="18" charset="0"/>
              </a:rPr>
              <a:t>For example, 4GB, 8GB, 16GB, etc.</a:t>
            </a:r>
          </a:p>
          <a:p>
            <a:pPr marL="0" indent="0">
              <a:buNone/>
            </a:pPr>
            <a:endParaRPr lang="en-US"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80641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1769533" y="94285"/>
            <a:ext cx="7962061" cy="1325563"/>
          </a:xfrm>
        </p:spPr>
        <p:txBody>
          <a:bodyPr/>
          <a:lstStyle/>
          <a:p>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38815" y="1419848"/>
            <a:ext cx="11942976" cy="5300132"/>
          </a:xfrm>
        </p:spPr>
        <p:txBody>
          <a:bodyPr>
            <a:noAutofit/>
          </a:bodyPr>
          <a:lstStyle/>
          <a:p>
            <a:r>
              <a:rPr lang="en-US" sz="3200" dirty="0" smtClean="0">
                <a:latin typeface="Times New Roman" panose="02020603050405020304" pitchFamily="18" charset="0"/>
                <a:cs typeface="Times New Roman" panose="02020603050405020304" pitchFamily="18" charset="0"/>
              </a:rPr>
              <a:t>Data </a:t>
            </a:r>
            <a:r>
              <a:rPr lang="en-US" sz="3200" dirty="0">
                <a:latin typeface="Times New Roman" panose="02020603050405020304" pitchFamily="18" charset="0"/>
                <a:cs typeface="Times New Roman" panose="02020603050405020304" pitchFamily="18" charset="0"/>
              </a:rPr>
              <a:t>and instructions are stored as BITS (binary digits). Everything that is </a:t>
            </a:r>
            <a:r>
              <a:rPr lang="en-US" sz="3200" dirty="0" smtClean="0">
                <a:latin typeface="Times New Roman" panose="02020603050405020304" pitchFamily="18" charset="0"/>
                <a:cs typeface="Times New Roman" panose="02020603050405020304" pitchFamily="18" charset="0"/>
              </a:rPr>
              <a:t>entered </a:t>
            </a:r>
            <a:r>
              <a:rPr lang="en-US" sz="3200" dirty="0">
                <a:latin typeface="Times New Roman" panose="02020603050405020304" pitchFamily="18" charset="0"/>
                <a:cs typeface="Times New Roman" panose="02020603050405020304" pitchFamily="18" charset="0"/>
              </a:rPr>
              <a:t>into a computer is translated into a computer recognizable format called binary (zeros or ones, 0s or 1s).</a:t>
            </a:r>
          </a:p>
          <a:p>
            <a:r>
              <a:rPr lang="en-US" sz="3200" dirty="0">
                <a:latin typeface="Times New Roman" panose="02020603050405020304" pitchFamily="18" charset="0"/>
                <a:cs typeface="Times New Roman" panose="02020603050405020304" pitchFamily="18" charset="0"/>
              </a:rPr>
              <a:t>Kilo =1,000 (KB) thousand</a:t>
            </a:r>
          </a:p>
          <a:p>
            <a:r>
              <a:rPr lang="en-US" sz="3200" dirty="0">
                <a:latin typeface="Times New Roman" panose="02020603050405020304" pitchFamily="18" charset="0"/>
                <a:cs typeface="Times New Roman" panose="02020603050405020304" pitchFamily="18" charset="0"/>
              </a:rPr>
              <a:t>Mega = 1,000,000 (MB) Million</a:t>
            </a:r>
          </a:p>
          <a:p>
            <a:r>
              <a:rPr lang="en-US" sz="3200" dirty="0">
                <a:latin typeface="Times New Roman" panose="02020603050405020304" pitchFamily="18" charset="0"/>
                <a:cs typeface="Times New Roman" panose="02020603050405020304" pitchFamily="18" charset="0"/>
              </a:rPr>
              <a:t>Giga = 1,000,000,000 (GB) Billion</a:t>
            </a:r>
          </a:p>
          <a:p>
            <a:pPr lvl="0"/>
            <a:r>
              <a:rPr lang="en-US" sz="3200" dirty="0">
                <a:latin typeface="Times New Roman" panose="02020603050405020304" pitchFamily="18" charset="0"/>
                <a:cs typeface="Times New Roman" panose="02020603050405020304" pitchFamily="18" charset="0"/>
              </a:rPr>
              <a:t>RAM is measured in “bits”.</a:t>
            </a:r>
          </a:p>
          <a:p>
            <a:pPr lvl="0"/>
            <a:r>
              <a:rPr lang="en-US" sz="3200" dirty="0">
                <a:latin typeface="Times New Roman" panose="02020603050405020304" pitchFamily="18" charset="0"/>
                <a:cs typeface="Times New Roman" panose="02020603050405020304" pitchFamily="18" charset="0"/>
              </a:rPr>
              <a:t>8 bits is equal to 1 byte.</a:t>
            </a:r>
          </a:p>
          <a:p>
            <a:pPr lvl="0"/>
            <a:r>
              <a:rPr lang="en-US" sz="3200" dirty="0">
                <a:latin typeface="Times New Roman" panose="02020603050405020304" pitchFamily="18" charset="0"/>
                <a:cs typeface="Times New Roman" panose="02020603050405020304" pitchFamily="18" charset="0"/>
              </a:rPr>
              <a:t>A kilobyte is equal to 1024 bits and a megabyte equals to 1024 kilobytes</a:t>
            </a:r>
            <a:r>
              <a:rPr lang="en-US" sz="3200" dirty="0" smtClean="0">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0</a:t>
            </a:r>
            <a:endParaRPr lang="en-US" sz="3200" dirty="0">
              <a:latin typeface="Times New Roman" panose="02020603050405020304" pitchFamily="18" charset="0"/>
              <a:cs typeface="Times New Roman" panose="02020603050405020304" pitchFamily="18" charset="0"/>
            </a:endParaRPr>
          </a:p>
          <a:p>
            <a:pPr marL="0" indent="0">
              <a:buNone/>
            </a:pPr>
            <a:endParaRPr lang="en-US"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1388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1769533" y="94285"/>
            <a:ext cx="7962061" cy="1325563"/>
          </a:xfrm>
        </p:spPr>
        <p:txBody>
          <a:bodyPr/>
          <a:lstStyle/>
          <a:p>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38815" y="1419848"/>
            <a:ext cx="11942976" cy="5300132"/>
          </a:xfrm>
        </p:spPr>
        <p:txBody>
          <a:bodyPr>
            <a:noAutofit/>
          </a:bodyPr>
          <a:lstStyle/>
          <a:p>
            <a:pPr marL="0" lvl="0" indent="0">
              <a:buNone/>
            </a:pPr>
            <a:r>
              <a:rPr lang="en-US" sz="2400" dirty="0" smtClean="0">
                <a:latin typeface="Times New Roman" panose="02020603050405020304" pitchFamily="18" charset="0"/>
                <a:cs typeface="Times New Roman" panose="02020603050405020304" pitchFamily="18" charset="0"/>
              </a:rPr>
              <a:t>2. </a:t>
            </a:r>
            <a:r>
              <a:rPr lang="en-US" sz="2400" b="1" dirty="0" smtClean="0">
                <a:latin typeface="Times New Roman" panose="02020603050405020304" pitchFamily="18" charset="0"/>
                <a:cs typeface="Times New Roman" panose="02020603050405020304" pitchFamily="18" charset="0"/>
              </a:rPr>
              <a:t>ROM </a:t>
            </a:r>
            <a:r>
              <a:rPr lang="en-US" sz="2400" b="1" dirty="0">
                <a:latin typeface="Times New Roman" panose="02020603050405020304" pitchFamily="18" charset="0"/>
                <a:cs typeface="Times New Roman" panose="02020603050405020304" pitchFamily="18" charset="0"/>
              </a:rPr>
              <a:t>(Read-Only-Memory) </a:t>
            </a:r>
          </a:p>
          <a:p>
            <a:pPr lvl="0"/>
            <a:r>
              <a:rPr lang="en-US" sz="2400" dirty="0">
                <a:latin typeface="Times New Roman" panose="02020603050405020304" pitchFamily="18" charset="0"/>
                <a:cs typeface="Times New Roman" panose="02020603050405020304" pitchFamily="18" charset="0"/>
              </a:rPr>
              <a:t>It is a non-volatile memory. It will not lose data even when computer power is off.</a:t>
            </a:r>
          </a:p>
          <a:p>
            <a:pPr lvl="0"/>
            <a:r>
              <a:rPr lang="en-US" sz="2400" dirty="0">
                <a:latin typeface="Times New Roman" panose="02020603050405020304" pitchFamily="18" charset="0"/>
                <a:cs typeface="Times New Roman" panose="02020603050405020304" pitchFamily="18" charset="0"/>
              </a:rPr>
              <a:t>Data is stored permanently. User cannot edit or alter the content but can ready the content only.</a:t>
            </a:r>
          </a:p>
          <a:p>
            <a:pPr lvl="0"/>
            <a:r>
              <a:rPr lang="en-US" sz="2400" dirty="0">
                <a:latin typeface="Times New Roman" panose="02020603050405020304" pitchFamily="18" charset="0"/>
                <a:cs typeface="Times New Roman" panose="02020603050405020304" pitchFamily="18" charset="0"/>
              </a:rPr>
              <a:t>For example, it is used in the startup of the computer during </a:t>
            </a:r>
            <a:r>
              <a:rPr lang="en-US" sz="2400" dirty="0" err="1">
                <a:latin typeface="Times New Roman" panose="02020603050405020304" pitchFamily="18" charset="0"/>
                <a:cs typeface="Times New Roman" panose="02020603050405020304" pitchFamily="18" charset="0"/>
              </a:rPr>
              <a:t>bootup</a:t>
            </a:r>
            <a:r>
              <a:rPr lang="en-US" sz="2400" dirty="0">
                <a:latin typeface="Times New Roman" panose="02020603050405020304" pitchFamily="18" charset="0"/>
                <a:cs typeface="Times New Roman" panose="02020603050405020304" pitchFamily="18" charset="0"/>
              </a:rPr>
              <a:t> process.</a:t>
            </a:r>
          </a:p>
          <a:p>
            <a:pPr lvl="0"/>
            <a:r>
              <a:rPr lang="en-US" sz="2400" dirty="0">
                <a:latin typeface="Times New Roman" panose="02020603050405020304" pitchFamily="18" charset="0"/>
                <a:cs typeface="Times New Roman" panose="02020603050405020304" pitchFamily="18" charset="0"/>
              </a:rPr>
              <a:t>Information and instructions stored in ROM are in binary format. </a:t>
            </a:r>
          </a:p>
          <a:p>
            <a:r>
              <a:rPr lang="en-US" sz="2400" dirty="0">
                <a:latin typeface="Times New Roman" panose="02020603050405020304" pitchFamily="18" charset="0"/>
                <a:cs typeface="Times New Roman" panose="02020603050405020304" pitchFamily="18" charset="0"/>
              </a:rPr>
              <a:t>Computers store data permanently in different type of memory: </a:t>
            </a:r>
            <a:r>
              <a:rPr lang="en-US" sz="2400" i="1" dirty="0">
                <a:latin typeface="Times New Roman" panose="02020603050405020304" pitchFamily="18" charset="0"/>
                <a:cs typeface="Times New Roman" panose="02020603050405020304" pitchFamily="18" charset="0"/>
              </a:rPr>
              <a:t>external memory</a:t>
            </a:r>
            <a:r>
              <a:rPr lang="en-US" sz="2400" dirty="0">
                <a:latin typeface="Times New Roman" panose="02020603050405020304" pitchFamily="18" charset="0"/>
                <a:cs typeface="Times New Roman" panose="02020603050405020304" pitchFamily="18" charset="0"/>
              </a:rPr>
              <a:t> or </a:t>
            </a:r>
            <a:r>
              <a:rPr lang="en-US" sz="2400" i="1" dirty="0">
                <a:latin typeface="Times New Roman" panose="02020603050405020304" pitchFamily="18" charset="0"/>
                <a:cs typeface="Times New Roman" panose="02020603050405020304" pitchFamily="18" charset="0"/>
              </a:rPr>
              <a:t>secondary storage</a:t>
            </a:r>
            <a:r>
              <a:rPr lang="en-US" sz="2400" dirty="0">
                <a:latin typeface="Times New Roman" panose="02020603050405020304" pitchFamily="18" charset="0"/>
                <a:cs typeface="Times New Roman" panose="02020603050405020304" pitchFamily="18" charset="0"/>
              </a:rPr>
              <a:t>, like a hard drive or USB drive.</a:t>
            </a:r>
          </a:p>
          <a:p>
            <a:r>
              <a:rPr lang="en-US" sz="2400" dirty="0">
                <a:latin typeface="Times New Roman" panose="02020603050405020304" pitchFamily="18" charset="0"/>
                <a:cs typeface="Times New Roman" panose="02020603050405020304" pitchFamily="18" charset="0"/>
              </a:rPr>
              <a:t>Secondary Memory</a:t>
            </a:r>
          </a:p>
          <a:p>
            <a:r>
              <a:rPr lang="en-US" sz="2400" dirty="0">
                <a:latin typeface="Times New Roman" panose="02020603050405020304" pitchFamily="18" charset="0"/>
                <a:cs typeface="Times New Roman" panose="02020603050405020304" pitchFamily="18" charset="0"/>
              </a:rPr>
              <a:t>Computers store data permanently for later retrieval in secondary memory. Secondary memory, also known as auxiliary storage or external memory are needed for users to store data. Some examples of secondary memory are hard disks, </a:t>
            </a:r>
            <a:r>
              <a:rPr lang="en-US" sz="2400" dirty="0" err="1">
                <a:latin typeface="Times New Roman" panose="02020603050405020304" pitchFamily="18" charset="0"/>
                <a:cs typeface="Times New Roman" panose="02020603050405020304" pitchFamily="18" charset="0"/>
              </a:rPr>
              <a:t>har</a:t>
            </a:r>
            <a:r>
              <a:rPr lang="en-US" sz="2400" dirty="0">
                <a:latin typeface="Times New Roman" panose="02020603050405020304" pitchFamily="18" charset="0"/>
                <a:cs typeface="Times New Roman" panose="02020603050405020304" pitchFamily="18" charset="0"/>
              </a:rPr>
              <a:t> drives, USB/Flash drives, CDs, DVDs, magnetic tapes, SD cards, etc.</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24627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1769533" y="94285"/>
            <a:ext cx="7962061" cy="1325563"/>
          </a:xfrm>
        </p:spPr>
        <p:txBody>
          <a:bodyPr/>
          <a:lstStyle/>
          <a:p>
            <a:r>
              <a:rPr lang="en-AU" b="1" dirty="0" smtClean="0">
                <a:latin typeface="Times New Roman" panose="02020603050405020304" pitchFamily="18" charset="0"/>
                <a:cs typeface="Times New Roman" panose="02020603050405020304" pitchFamily="18" charset="0"/>
              </a:rPr>
              <a:t>Secondary Memory</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38815" y="1419848"/>
            <a:ext cx="11942976" cy="5300132"/>
          </a:xfrm>
        </p:spPr>
        <p:txBody>
          <a:bodyPr>
            <a:noAutofit/>
          </a:bodyPr>
          <a:lstStyle/>
          <a:p>
            <a:r>
              <a:rPr lang="en-US" sz="3600" dirty="0" smtClean="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Computers store data permanently for later retrieval in secondary memory. Secondary memory, also known as auxiliary storage or external memory are needed for users to store data. Some examples of secondary memory are hard disks, </a:t>
            </a:r>
            <a:r>
              <a:rPr lang="en-US" sz="3600" dirty="0" err="1">
                <a:latin typeface="Times New Roman" panose="02020603050405020304" pitchFamily="18" charset="0"/>
                <a:cs typeface="Times New Roman" panose="02020603050405020304" pitchFamily="18" charset="0"/>
              </a:rPr>
              <a:t>har</a:t>
            </a:r>
            <a:r>
              <a:rPr lang="en-US" sz="3600" dirty="0">
                <a:latin typeface="Times New Roman" panose="02020603050405020304" pitchFamily="18" charset="0"/>
                <a:cs typeface="Times New Roman" panose="02020603050405020304" pitchFamily="18" charset="0"/>
              </a:rPr>
              <a:t> drives, USB/Flash drives, CDs, DVDs, magnetic tapes, SD cards, etc.</a:t>
            </a:r>
          </a:p>
          <a:p>
            <a:pPr marL="0" indent="0">
              <a:buNone/>
            </a:pPr>
            <a:endParaRPr lang="en-US" sz="36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04780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1769533" y="94285"/>
            <a:ext cx="7962061" cy="1325563"/>
          </a:xfrm>
        </p:spPr>
        <p:txBody>
          <a:bodyPr/>
          <a:lstStyle/>
          <a:p>
            <a:r>
              <a:rPr lang="en-AU" b="1" dirty="0" smtClean="0">
                <a:latin typeface="Times New Roman" panose="02020603050405020304" pitchFamily="18" charset="0"/>
                <a:cs typeface="Times New Roman" panose="02020603050405020304" pitchFamily="18" charset="0"/>
              </a:rPr>
              <a:t>Storage Types</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38815" y="1419848"/>
            <a:ext cx="11942976" cy="5300132"/>
          </a:xfrm>
        </p:spPr>
        <p:txBody>
          <a:bodyPr>
            <a:noAutofit/>
          </a:bodyPr>
          <a:lstStyle/>
          <a:p>
            <a:r>
              <a:rPr lang="en-US" dirty="0" smtClean="0">
                <a:latin typeface="Times New Roman" panose="02020603050405020304" pitchFamily="18" charset="0"/>
                <a:cs typeface="Times New Roman" panose="02020603050405020304" pitchFamily="18" charset="0"/>
              </a:rPr>
              <a:t>Personal </a:t>
            </a:r>
            <a:r>
              <a:rPr lang="en-US" dirty="0">
                <a:latin typeface="Times New Roman" panose="02020603050405020304" pitchFamily="18" charset="0"/>
                <a:cs typeface="Times New Roman" panose="02020603050405020304" pitchFamily="18" charset="0"/>
              </a:rPr>
              <a:t>computers come with a hard drive, a permanently attached secondary storage. Many computers have input ports for </a:t>
            </a:r>
            <a:r>
              <a:rPr lang="en-US" i="1" dirty="0">
                <a:latin typeface="Times New Roman" panose="02020603050405020304" pitchFamily="18" charset="0"/>
                <a:cs typeface="Times New Roman" panose="02020603050405020304" pitchFamily="18" charset="0"/>
              </a:rPr>
              <a:t>USB drives</a:t>
            </a:r>
            <a:r>
              <a:rPr lang="en-US" dirty="0">
                <a:latin typeface="Times New Roman" panose="02020603050405020304" pitchFamily="18" charset="0"/>
                <a:cs typeface="Times New Roman" panose="02020603050405020304" pitchFamily="18" charset="0"/>
              </a:rPr>
              <a:t> or </a:t>
            </a:r>
            <a:r>
              <a:rPr lang="en-US" i="1" dirty="0">
                <a:latin typeface="Times New Roman" panose="02020603050405020304" pitchFamily="18" charset="0"/>
                <a:cs typeface="Times New Roman" panose="02020603050405020304" pitchFamily="18" charset="0"/>
              </a:rPr>
              <a:t>SD cards</a:t>
            </a:r>
            <a:r>
              <a:rPr lang="en-US" dirty="0">
                <a:latin typeface="Times New Roman" panose="02020603050405020304" pitchFamily="18" charset="0"/>
                <a:cs typeface="Times New Roman" panose="02020603050405020304" pitchFamily="18" charset="0"/>
              </a:rPr>
              <a:t>, forms of portable secondary storage. That allows us to store lots on our computers, but also to easily transfer from one computer to another. </a:t>
            </a:r>
          </a:p>
          <a:p>
            <a:r>
              <a:rPr lang="en-US" dirty="0">
                <a:latin typeface="Times New Roman" panose="02020603050405020304" pitchFamily="18" charset="0"/>
                <a:cs typeface="Times New Roman" panose="02020603050405020304" pitchFamily="18" charset="0"/>
              </a:rPr>
              <a:t>Secondary storage devices can be implemented using a variety of electronic technologies, like flash memory, optical discs, and magnetic disks.</a:t>
            </a:r>
          </a:p>
          <a:p>
            <a:r>
              <a:rPr lang="en-US" dirty="0">
                <a:latin typeface="Times New Roman" panose="02020603050405020304" pitchFamily="18" charset="0"/>
                <a:cs typeface="Times New Roman" panose="02020603050405020304" pitchFamily="18" charset="0"/>
              </a:rPr>
              <a:t>Storage speed</a:t>
            </a:r>
          </a:p>
          <a:p>
            <a:r>
              <a:rPr lang="en-US" dirty="0">
                <a:latin typeface="Times New Roman" panose="02020603050405020304" pitchFamily="18" charset="0"/>
                <a:cs typeface="Times New Roman" panose="02020603050405020304" pitchFamily="18" charset="0"/>
              </a:rPr>
              <a:t>All secondary storage acts the same way. The CPU can write data into storage and it can read data from storage. </a:t>
            </a:r>
          </a:p>
          <a:p>
            <a:r>
              <a:rPr lang="en-US" dirty="0">
                <a:latin typeface="Times New Roman" panose="02020603050405020304" pitchFamily="18" charset="0"/>
                <a:cs typeface="Times New Roman" panose="02020603050405020304" pitchFamily="18" charset="0"/>
              </a:rPr>
              <a:t>To the user, what matters is the speed of those read/write operations. Flash memory is faster than its predecessors, so most new computers come with that.</a:t>
            </a:r>
          </a:p>
          <a:p>
            <a:pPr marL="0" indent="0">
              <a:buNone/>
            </a:pPr>
            <a:endParaRPr lang="en-US"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53228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1769533" y="94285"/>
            <a:ext cx="7962061" cy="1325563"/>
          </a:xfrm>
        </p:spPr>
        <p:txBody>
          <a:bodyPr/>
          <a:lstStyle/>
          <a:p>
            <a:r>
              <a:rPr lang="en-AU" b="1" dirty="0" smtClean="0">
                <a:latin typeface="Times New Roman" panose="02020603050405020304" pitchFamily="18" charset="0"/>
                <a:cs typeface="Times New Roman" panose="02020603050405020304" pitchFamily="18" charset="0"/>
              </a:rPr>
              <a:t>3.Input Devices</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203199" y="1419848"/>
            <a:ext cx="11778593" cy="5438152"/>
          </a:xfrm>
        </p:spPr>
        <p:txBody>
          <a:bodyPr>
            <a:normAutofit/>
          </a:bodyPr>
          <a:lstStyle/>
          <a:p>
            <a:pPr marL="0" indent="0">
              <a:buNone/>
            </a:pPr>
            <a:r>
              <a:rPr lang="en-US" sz="3200" dirty="0"/>
              <a:t>Devices that we feed computer with information. Some common examples of input devices are: keyboard, it is used to enter data into computer and it </a:t>
            </a:r>
            <a:r>
              <a:rPr lang="en-US" sz="3200" dirty="0" smtClean="0"/>
              <a:t>is displayed as an output on the screen</a:t>
            </a:r>
          </a:p>
          <a:p>
            <a:pPr marL="0" indent="0">
              <a:buNone/>
            </a:pPr>
            <a:endParaRPr lang="en-US" sz="3200" dirty="0" smtClean="0"/>
          </a:p>
          <a:p>
            <a:pPr marL="0" indent="0">
              <a:buNone/>
            </a:pPr>
            <a:endParaRPr lang="en-US" sz="3200" dirty="0" smtClean="0"/>
          </a:p>
          <a:p>
            <a:r>
              <a:rPr lang="en-US" sz="3200" dirty="0"/>
              <a:t>Microphones are used to capture sound waves and converts them into audio signals. The audio signals are converted into digital data and stored in the computer and we hear the sound from an output device such as speaker.</a:t>
            </a:r>
          </a:p>
          <a:p>
            <a:r>
              <a:rPr lang="en-US" sz="3200" dirty="0"/>
              <a:t>Microphone is an input device to input sound that is then stored in a digital form.</a:t>
            </a:r>
          </a:p>
          <a:p>
            <a:pPr marL="0" indent="0">
              <a:buNone/>
            </a:pPr>
            <a:endParaRPr lang="en-US"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17" name="Picture 16" descr="C:\Users\Nick Nandoma\AppData\Local\Microsoft\Windows\INetCache\Content.MSO\D2100BDE.tmp"/>
          <p:cNvPicPr/>
          <p:nvPr/>
        </p:nvPicPr>
        <p:blipFill rotWithShape="1">
          <a:blip r:embed="rId2">
            <a:extLst>
              <a:ext uri="{28A0092B-C50C-407E-A947-70E740481C1C}">
                <a14:useLocalDpi xmlns:a14="http://schemas.microsoft.com/office/drawing/2010/main" val="0"/>
              </a:ext>
            </a:extLst>
          </a:blip>
          <a:srcRect l="39441" t="8878" r="34042" b="14018"/>
          <a:stretch/>
        </p:blipFill>
        <p:spPr bwMode="auto">
          <a:xfrm rot="16200000">
            <a:off x="7532376" y="4790368"/>
            <a:ext cx="593551" cy="1571625"/>
          </a:xfrm>
          <a:prstGeom prst="rect">
            <a:avLst/>
          </a:prstGeom>
          <a:noFill/>
          <a:ln>
            <a:noFill/>
          </a:ln>
          <a:extLst>
            <a:ext uri="{53640926-AAD7-44D8-BBD7-CCE9431645EC}">
              <a14:shadowObscured xmlns:a14="http://schemas.microsoft.com/office/drawing/2010/main"/>
            </a:ext>
          </a:extLst>
        </p:spPr>
      </p:pic>
      <p:pic>
        <p:nvPicPr>
          <p:cNvPr id="18" name="Picture 17" descr="C:\Users\Nick Nandoma\AppData\Local\Microsoft\Windows\INetCache\Content.MSO\C171C950.tmp"/>
          <p:cNvPicPr/>
          <p:nvPr/>
        </p:nvPicPr>
        <p:blipFill rotWithShape="1">
          <a:blip r:embed="rId3">
            <a:extLst>
              <a:ext uri="{28A0092B-C50C-407E-A947-70E740481C1C}">
                <a14:useLocalDpi xmlns:a14="http://schemas.microsoft.com/office/drawing/2010/main" val="0"/>
              </a:ext>
            </a:extLst>
          </a:blip>
          <a:srcRect l="5346" t="15384" r="6289" b="13287"/>
          <a:stretch/>
        </p:blipFill>
        <p:spPr bwMode="auto">
          <a:xfrm>
            <a:off x="548345" y="2792412"/>
            <a:ext cx="2857007" cy="1196264"/>
          </a:xfrm>
          <a:prstGeom prst="rect">
            <a:avLst/>
          </a:prstGeom>
          <a:noFill/>
          <a:ln>
            <a:noFill/>
          </a:ln>
          <a:extLst>
            <a:ext uri="{53640926-AAD7-44D8-BBD7-CCE9431645EC}">
              <a14:shadowObscured xmlns:a14="http://schemas.microsoft.com/office/drawing/2010/main"/>
            </a:ext>
          </a:extLst>
        </p:spPr>
      </p:pic>
      <p:pic>
        <p:nvPicPr>
          <p:cNvPr id="10" name="Picture 2" descr="Microsoft 365 Copilot - Apps on Google Play"/>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5606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1769533" y="94285"/>
            <a:ext cx="7962061" cy="1325563"/>
          </a:xfrm>
        </p:spPr>
        <p:txBody>
          <a:bodyPr/>
          <a:lstStyle/>
          <a:p>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203199" y="1557868"/>
            <a:ext cx="11778593" cy="5300132"/>
          </a:xfrm>
        </p:spPr>
        <p:txBody>
          <a:bodyPr>
            <a:normAutofit/>
          </a:bodyPr>
          <a:lstStyle/>
          <a:p>
            <a:pPr marL="0" indent="0">
              <a:buNone/>
            </a:pPr>
            <a:r>
              <a:rPr lang="en-US" sz="3200" dirty="0">
                <a:latin typeface="Times New Roman" panose="02020603050405020304" pitchFamily="18" charset="0"/>
                <a:cs typeface="Times New Roman" panose="02020603050405020304" pitchFamily="18" charset="0"/>
              </a:rPr>
              <a:t>Scanners are used to capture image data, and virtual reality devices to capture our body movements.</a:t>
            </a:r>
          </a:p>
          <a:p>
            <a:pPr marL="0" indent="0">
              <a:buNone/>
            </a:pPr>
            <a:endParaRPr lang="en-US" sz="3200" dirty="0">
              <a:latin typeface="Times New Roman" panose="02020603050405020304" pitchFamily="18" charset="0"/>
              <a:cs typeface="Times New Roman" panose="02020603050405020304" pitchFamily="18" charset="0"/>
            </a:endParaRPr>
          </a:p>
          <a:p>
            <a:pPr marL="0" indent="0">
              <a:buNone/>
            </a:pPr>
            <a:r>
              <a:rPr lang="en-US" sz="3200" dirty="0" smtClean="0">
                <a:latin typeface="Times New Roman" panose="02020603050405020304" pitchFamily="18" charset="0"/>
                <a:cs typeface="Times New Roman" panose="02020603050405020304" pitchFamily="18" charset="0"/>
              </a:rPr>
              <a:t>Scanner </a:t>
            </a:r>
            <a:r>
              <a:rPr lang="en-US" sz="3200" dirty="0">
                <a:latin typeface="Times New Roman" panose="02020603050405020304" pitchFamily="18" charset="0"/>
                <a:cs typeface="Times New Roman" panose="02020603050405020304" pitchFamily="18" charset="0"/>
              </a:rPr>
              <a:t>is used an input device.</a:t>
            </a:r>
          </a:p>
          <a:p>
            <a:r>
              <a:rPr lang="en-US" sz="3200" dirty="0">
                <a:latin typeface="Times New Roman" panose="02020603050405020304" pitchFamily="18" charset="0"/>
                <a:cs typeface="Times New Roman" panose="02020603050405020304" pitchFamily="18" charset="0"/>
              </a:rPr>
              <a:t>For example, handheld scanner is a small manual scanning device which is held by hand and is rolled over a flat image that is to be scanned. One of the commonly used handheld scanners is the barcode scanner which you would have seen in shopping stores.</a:t>
            </a:r>
          </a:p>
          <a:p>
            <a:pPr marL="0" indent="0">
              <a:buNone/>
            </a:pPr>
            <a:endParaRPr lang="en-US"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5" descr="Handheld Scanner"/>
          <p:cNvPicPr/>
          <p:nvPr/>
        </p:nvPicPr>
        <p:blipFill rotWithShape="1">
          <a:blip r:embed="rId2">
            <a:extLst>
              <a:ext uri="{28A0092B-C50C-407E-A947-70E740481C1C}">
                <a14:useLocalDpi xmlns:a14="http://schemas.microsoft.com/office/drawing/2010/main" val="0"/>
              </a:ext>
            </a:extLst>
          </a:blip>
          <a:srcRect l="8475" r="10169" b="7308"/>
          <a:stretch/>
        </p:blipFill>
        <p:spPr bwMode="auto">
          <a:xfrm>
            <a:off x="6738946" y="5476127"/>
            <a:ext cx="1828800" cy="1271513"/>
          </a:xfrm>
          <a:prstGeom prst="rect">
            <a:avLst/>
          </a:prstGeom>
          <a:noFill/>
          <a:ln>
            <a:noFill/>
          </a:ln>
          <a:extLst>
            <a:ext uri="{53640926-AAD7-44D8-BBD7-CCE9431645EC}">
              <a14:shadowObscured xmlns:a14="http://schemas.microsoft.com/office/drawing/2010/main"/>
            </a:ext>
          </a:extLst>
        </p:spPr>
      </p:pic>
      <p:pic>
        <p:nvPicPr>
          <p:cNvPr id="7" name="Picture 6" descr="How To Use a Scanner | HP® Tech Takes"/>
          <p:cNvPicPr/>
          <p:nvPr/>
        </p:nvPicPr>
        <p:blipFill>
          <a:blip r:embed="rId3">
            <a:extLst>
              <a:ext uri="{28A0092B-C50C-407E-A947-70E740481C1C}">
                <a14:useLocalDpi xmlns:a14="http://schemas.microsoft.com/office/drawing/2010/main" val="0"/>
              </a:ext>
            </a:extLst>
          </a:blip>
          <a:srcRect/>
          <a:stretch>
            <a:fillRect/>
          </a:stretch>
        </p:blipFill>
        <p:spPr bwMode="auto">
          <a:xfrm>
            <a:off x="6092495" y="2112579"/>
            <a:ext cx="2475251" cy="1418896"/>
          </a:xfrm>
          <a:prstGeom prst="rect">
            <a:avLst/>
          </a:prstGeom>
          <a:noFill/>
          <a:ln>
            <a:noFill/>
          </a:ln>
        </p:spPr>
      </p:pic>
      <p:pic>
        <p:nvPicPr>
          <p:cNvPr id="10" name="Picture 2" descr="Microsoft 365 Copilot - Apps on Google Play"/>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457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1769533" y="94285"/>
            <a:ext cx="7962061" cy="1325563"/>
          </a:xfrm>
        </p:spPr>
        <p:txBody>
          <a:bodyPr/>
          <a:lstStyle/>
          <a:p>
            <a:r>
              <a:rPr lang="en-AU" b="1" dirty="0">
                <a:latin typeface="Times New Roman" panose="02020603050405020304" pitchFamily="18" charset="0"/>
                <a:cs typeface="Times New Roman" panose="02020603050405020304" pitchFamily="18" charset="0"/>
              </a:rPr>
              <a:t>4</a:t>
            </a:r>
            <a:r>
              <a:rPr lang="en-AU" b="1" dirty="0" smtClean="0">
                <a:latin typeface="Times New Roman" panose="02020603050405020304" pitchFamily="18" charset="0"/>
                <a:cs typeface="Times New Roman" panose="02020603050405020304" pitchFamily="18" charset="0"/>
              </a:rPr>
              <a:t>.Output Devices</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38815" y="961696"/>
            <a:ext cx="9743090" cy="5060731"/>
          </a:xfrm>
        </p:spPr>
        <p:txBody>
          <a:bodyPr>
            <a:noAutofit/>
          </a:bodyPr>
          <a:lstStyle/>
          <a:p>
            <a:pPr marL="0" indent="0">
              <a:buNone/>
            </a:pPr>
            <a:r>
              <a:rPr lang="en-US" sz="2600" dirty="0" smtClean="0">
                <a:latin typeface="Times New Roman" panose="02020603050405020304" pitchFamily="18" charset="0"/>
                <a:cs typeface="Times New Roman" panose="02020603050405020304" pitchFamily="18" charset="0"/>
              </a:rPr>
              <a:t>Devices </a:t>
            </a:r>
            <a:r>
              <a:rPr lang="en-US" sz="2600" dirty="0">
                <a:latin typeface="Times New Roman" panose="02020603050405020304" pitchFamily="18" charset="0"/>
                <a:cs typeface="Times New Roman" panose="02020603050405020304" pitchFamily="18" charset="0"/>
              </a:rPr>
              <a:t>that display the output as a result of using input devices to capture data or an image. Examples of output devices are: monitor, which displays text, images. </a:t>
            </a:r>
            <a:endParaRPr lang="en-US" sz="2600" dirty="0" smtClean="0">
              <a:latin typeface="Times New Roman" panose="02020603050405020304" pitchFamily="18" charset="0"/>
              <a:cs typeface="Times New Roman" panose="02020603050405020304" pitchFamily="18" charset="0"/>
            </a:endParaRPr>
          </a:p>
          <a:p>
            <a:pPr marL="0" indent="0">
              <a:buNone/>
            </a:pPr>
            <a:r>
              <a:rPr lang="en-US" sz="2600" dirty="0">
                <a:latin typeface="Times New Roman" panose="02020603050405020304" pitchFamily="18" charset="0"/>
                <a:cs typeface="Times New Roman" panose="02020603050405020304" pitchFamily="18" charset="0"/>
              </a:rPr>
              <a:t>Headphones display output sound. It allows you to listen to audio or watch movies from computing </a:t>
            </a:r>
            <a:r>
              <a:rPr lang="en-US" sz="2600" dirty="0" smtClean="0">
                <a:latin typeface="Times New Roman" panose="02020603050405020304" pitchFamily="18" charset="0"/>
                <a:cs typeface="Times New Roman" panose="02020603050405020304" pitchFamily="18" charset="0"/>
              </a:rPr>
              <a:t>devices.</a:t>
            </a:r>
          </a:p>
          <a:p>
            <a:r>
              <a:rPr lang="en-US" sz="2600" dirty="0">
                <a:latin typeface="Times New Roman" panose="02020603050405020304" pitchFamily="18" charset="0"/>
                <a:cs typeface="Times New Roman" panose="02020603050405020304" pitchFamily="18" charset="0"/>
              </a:rPr>
              <a:t>Printers’ output ink on paper. A printer produces hard copies of the processed data. It enables the user, to print images, text or any other information onto the </a:t>
            </a:r>
            <a:r>
              <a:rPr lang="en-US" sz="2600" dirty="0" smtClean="0">
                <a:latin typeface="Times New Roman" panose="02020603050405020304" pitchFamily="18" charset="0"/>
                <a:cs typeface="Times New Roman" panose="02020603050405020304" pitchFamily="18" charset="0"/>
              </a:rPr>
              <a:t>paper </a:t>
            </a:r>
            <a:r>
              <a:rPr lang="en-US" sz="2600" dirty="0">
                <a:latin typeface="Times New Roman" panose="02020603050405020304" pitchFamily="18" charset="0"/>
                <a:cs typeface="Times New Roman" panose="02020603050405020304" pitchFamily="18" charset="0"/>
              </a:rPr>
              <a:t>and projectors output light. A projector is an output device that enables the user to project the output onto a large surface such as a big screen or wall by connecting to a computer to project their output onto a screen. It uses light and lenses to produce magnified texts, images, and videos. So, it is an ideal output device to give presentations in meeting or in a lecture to students.</a:t>
            </a:r>
          </a:p>
          <a:p>
            <a:r>
              <a:rPr lang="en-US" sz="2600" dirty="0">
                <a:latin typeface="Times New Roman" panose="02020603050405020304" pitchFamily="18" charset="0"/>
                <a:cs typeface="Times New Roman" panose="02020603050405020304" pitchFamily="18" charset="0"/>
              </a:rPr>
              <a:t>Some other examples of output devices include: speaker, video card, sound card, etc.</a:t>
            </a:r>
          </a:p>
          <a:p>
            <a:pPr marL="0" indent="0">
              <a:buNone/>
            </a:pPr>
            <a:endParaRPr lang="en-US" sz="2600" dirty="0">
              <a:latin typeface="Times New Roman" panose="02020603050405020304" pitchFamily="18" charset="0"/>
              <a:cs typeface="Times New Roman" panose="02020603050405020304" pitchFamily="18" charset="0"/>
            </a:endParaRPr>
          </a:p>
          <a:p>
            <a:pPr marL="0" indent="0">
              <a:buNone/>
            </a:pPr>
            <a:endParaRPr lang="en-US" sz="2600" dirty="0" smtClean="0">
              <a:latin typeface="Times New Roman" panose="02020603050405020304" pitchFamily="18" charset="0"/>
              <a:cs typeface="Times New Roman" panose="02020603050405020304" pitchFamily="18" charset="0"/>
            </a:endParaRPr>
          </a:p>
          <a:p>
            <a:pPr marL="0" indent="0">
              <a:buNone/>
            </a:pPr>
            <a:endParaRPr lang="en-US" sz="2600" dirty="0">
              <a:latin typeface="Times New Roman" panose="02020603050405020304" pitchFamily="18" charset="0"/>
              <a:cs typeface="Times New Roman" panose="02020603050405020304" pitchFamily="18" charset="0"/>
            </a:endParaRPr>
          </a:p>
          <a:p>
            <a:pPr marL="0" indent="0">
              <a:buNone/>
            </a:pPr>
            <a:endParaRPr lang="en-US" sz="26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19" name="Picture 18" descr="LED Monitor"/>
          <p:cNvPicPr/>
          <p:nvPr/>
        </p:nvPicPr>
        <p:blipFill>
          <a:blip r:embed="rId2">
            <a:extLst>
              <a:ext uri="{28A0092B-C50C-407E-A947-70E740481C1C}">
                <a14:useLocalDpi xmlns:a14="http://schemas.microsoft.com/office/drawing/2010/main" val="0"/>
              </a:ext>
            </a:extLst>
          </a:blip>
          <a:srcRect/>
          <a:stretch>
            <a:fillRect/>
          </a:stretch>
        </p:blipFill>
        <p:spPr bwMode="auto">
          <a:xfrm>
            <a:off x="9676724" y="923219"/>
            <a:ext cx="1562100" cy="1247775"/>
          </a:xfrm>
          <a:prstGeom prst="rect">
            <a:avLst/>
          </a:prstGeom>
          <a:noFill/>
          <a:ln>
            <a:noFill/>
          </a:ln>
        </p:spPr>
      </p:pic>
      <p:pic>
        <p:nvPicPr>
          <p:cNvPr id="20" name="Picture 19" descr="TCL Shadow Black Wireless On-ear Bluetooth Headphones with Mic -  MTRO200BTBK | TCL USA"/>
          <p:cNvPicPr/>
          <p:nvPr/>
        </p:nvPicPr>
        <p:blipFill rotWithShape="1">
          <a:blip r:embed="rId3">
            <a:extLst>
              <a:ext uri="{28A0092B-C50C-407E-A947-70E740481C1C}">
                <a14:useLocalDpi xmlns:a14="http://schemas.microsoft.com/office/drawing/2010/main" val="0"/>
              </a:ext>
            </a:extLst>
          </a:blip>
          <a:srcRect l="26296" t="11667" r="31482" b="14445"/>
          <a:stretch/>
        </p:blipFill>
        <p:spPr bwMode="auto">
          <a:xfrm>
            <a:off x="10324436" y="2471871"/>
            <a:ext cx="600075" cy="578485"/>
          </a:xfrm>
          <a:prstGeom prst="rect">
            <a:avLst/>
          </a:prstGeom>
          <a:noFill/>
          <a:ln>
            <a:noFill/>
          </a:ln>
          <a:extLst>
            <a:ext uri="{53640926-AAD7-44D8-BBD7-CCE9431645EC}">
              <a14:shadowObscured xmlns:a14="http://schemas.microsoft.com/office/drawing/2010/main"/>
            </a:ext>
          </a:extLst>
        </p:spPr>
      </p:pic>
      <p:pic>
        <p:nvPicPr>
          <p:cNvPr id="21" name="Picture 20" descr="Inkjet Printer"/>
          <p:cNvPicPr/>
          <p:nvPr/>
        </p:nvPicPr>
        <p:blipFill rotWithShape="1">
          <a:blip r:embed="rId4">
            <a:extLst>
              <a:ext uri="{28A0092B-C50C-407E-A947-70E740481C1C}">
                <a14:useLocalDpi xmlns:a14="http://schemas.microsoft.com/office/drawing/2010/main" val="0"/>
              </a:ext>
            </a:extLst>
          </a:blip>
          <a:srcRect l="8638" t="12360" r="8638" b="7865"/>
          <a:stretch/>
        </p:blipFill>
        <p:spPr bwMode="auto">
          <a:xfrm>
            <a:off x="9781905" y="3716586"/>
            <a:ext cx="1885950" cy="790575"/>
          </a:xfrm>
          <a:prstGeom prst="rect">
            <a:avLst/>
          </a:prstGeom>
          <a:noFill/>
          <a:ln>
            <a:noFill/>
          </a:ln>
          <a:extLst>
            <a:ext uri="{53640926-AAD7-44D8-BBD7-CCE9431645EC}">
              <a14:shadowObscured xmlns:a14="http://schemas.microsoft.com/office/drawing/2010/main"/>
            </a:ext>
          </a:extLst>
        </p:spPr>
      </p:pic>
      <p:pic>
        <p:nvPicPr>
          <p:cNvPr id="22" name="Picture 21" descr="Projector"/>
          <p:cNvPicPr/>
          <p:nvPr/>
        </p:nvPicPr>
        <p:blipFill rotWithShape="1">
          <a:blip r:embed="rId5">
            <a:extLst>
              <a:ext uri="{28A0092B-C50C-407E-A947-70E740481C1C}">
                <a14:useLocalDpi xmlns:a14="http://schemas.microsoft.com/office/drawing/2010/main" val="0"/>
              </a:ext>
            </a:extLst>
          </a:blip>
          <a:srcRect l="4497" t="16956" r="3439" b="12609"/>
          <a:stretch/>
        </p:blipFill>
        <p:spPr bwMode="auto">
          <a:xfrm>
            <a:off x="9908270" y="5050358"/>
            <a:ext cx="1759585" cy="819150"/>
          </a:xfrm>
          <a:prstGeom prst="rect">
            <a:avLst/>
          </a:prstGeom>
          <a:noFill/>
          <a:ln>
            <a:noFill/>
          </a:ln>
          <a:extLst>
            <a:ext uri="{53640926-AAD7-44D8-BBD7-CCE9431645EC}">
              <a14:shadowObscured xmlns:a14="http://schemas.microsoft.com/office/drawing/2010/main"/>
            </a:ext>
          </a:extLst>
        </p:spPr>
      </p:pic>
      <p:pic>
        <p:nvPicPr>
          <p:cNvPr id="10" name="Picture 2" descr="Microsoft 365 Copilot - Apps on Google Play"/>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54059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1769533" y="94285"/>
            <a:ext cx="7962061" cy="1325563"/>
          </a:xfrm>
        </p:spPr>
        <p:txBody>
          <a:bodyPr/>
          <a:lstStyle/>
          <a:p>
            <a:r>
              <a:rPr lang="en-AU" b="1" dirty="0">
                <a:latin typeface="Times New Roman" panose="02020603050405020304" pitchFamily="18" charset="0"/>
                <a:cs typeface="Times New Roman" panose="02020603050405020304" pitchFamily="18" charset="0"/>
              </a:rPr>
              <a:t>5</a:t>
            </a:r>
            <a:r>
              <a:rPr lang="en-AU" b="1" dirty="0" smtClean="0">
                <a:latin typeface="Times New Roman" panose="02020603050405020304" pitchFamily="18" charset="0"/>
                <a:cs typeface="Times New Roman" panose="02020603050405020304" pitchFamily="18" charset="0"/>
              </a:rPr>
              <a:t>.Software</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203199" y="1557868"/>
            <a:ext cx="11778593" cy="5300132"/>
          </a:xfrm>
        </p:spPr>
        <p:txBody>
          <a:bodyPr>
            <a:normAutofit/>
          </a:bodyPr>
          <a:lstStyle/>
          <a:p>
            <a:pPr marL="0" indent="0">
              <a:buNone/>
            </a:pPr>
            <a:r>
              <a:rPr lang="en-US" sz="3200" dirty="0">
                <a:latin typeface="Times New Roman" panose="02020603050405020304" pitchFamily="18" charset="0"/>
                <a:cs typeface="Times New Roman" panose="02020603050405020304" pitchFamily="18" charset="0"/>
              </a:rPr>
              <a:t>Software is a set of programs or sequence of instructions that allows the users to perform well-defined function or some specific tasks to achieve results</a:t>
            </a:r>
            <a:r>
              <a:rPr lang="en-US" sz="3200" dirty="0" smtClean="0">
                <a:latin typeface="Times New Roman" panose="02020603050405020304" pitchFamily="18" charset="0"/>
                <a:cs typeface="Times New Roman" panose="02020603050405020304" pitchFamily="18" charset="0"/>
              </a:rPr>
              <a:t>.</a:t>
            </a:r>
          </a:p>
          <a:p>
            <a:pPr marL="0" indent="0">
              <a:buNone/>
            </a:pPr>
            <a:endParaRPr lang="en-US" sz="3200" dirty="0">
              <a:latin typeface="Times New Roman" panose="02020603050405020304" pitchFamily="18" charset="0"/>
              <a:cs typeface="Times New Roman" panose="02020603050405020304" pitchFamily="18" charset="0"/>
            </a:endParaRPr>
          </a:p>
          <a:p>
            <a:pPr marL="0" indent="0">
              <a:buNone/>
            </a:pPr>
            <a:r>
              <a:rPr lang="en-US" sz="3200" dirty="0" smtClean="0">
                <a:latin typeface="Times New Roman" panose="02020603050405020304" pitchFamily="18" charset="0"/>
                <a:cs typeface="Times New Roman" panose="02020603050405020304" pitchFamily="18" charset="0"/>
              </a:rPr>
              <a:t>Types of software are;</a:t>
            </a:r>
          </a:p>
          <a:p>
            <a:pPr marL="571500" indent="-571500">
              <a:buFont typeface="+mj-lt"/>
              <a:buAutoNum type="romanUcPeriod"/>
            </a:pPr>
            <a:r>
              <a:rPr lang="en-US" sz="3200" dirty="0" smtClean="0">
                <a:latin typeface="Times New Roman" panose="02020603050405020304" pitchFamily="18" charset="0"/>
                <a:cs typeface="Times New Roman" panose="02020603050405020304" pitchFamily="18" charset="0"/>
              </a:rPr>
              <a:t>System </a:t>
            </a:r>
          </a:p>
          <a:p>
            <a:pPr marL="571500" indent="-571500">
              <a:buFont typeface="+mj-lt"/>
              <a:buAutoNum type="romanUcPeriod"/>
            </a:pPr>
            <a:r>
              <a:rPr lang="en-US" sz="3200" dirty="0" smtClean="0">
                <a:latin typeface="Times New Roman" panose="02020603050405020304" pitchFamily="18" charset="0"/>
                <a:cs typeface="Times New Roman" panose="02020603050405020304" pitchFamily="18" charset="0"/>
              </a:rPr>
              <a:t>Application </a:t>
            </a:r>
            <a:endParaRPr lang="en-US" sz="3200" dirty="0">
              <a:latin typeface="Times New Roman" panose="02020603050405020304" pitchFamily="18" charset="0"/>
              <a:cs typeface="Times New Roman" panose="02020603050405020304" pitchFamily="18" charset="0"/>
            </a:endParaRPr>
          </a:p>
          <a:p>
            <a:pPr marL="0" indent="0">
              <a:buNone/>
            </a:pPr>
            <a:endParaRPr lang="en-US"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368395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1769533" y="94285"/>
            <a:ext cx="7962061" cy="1325563"/>
          </a:xfrm>
        </p:spPr>
        <p:txBody>
          <a:bodyPr/>
          <a:lstStyle/>
          <a:p>
            <a:pPr marL="857250" indent="-857250">
              <a:buFont typeface="+mj-lt"/>
              <a:buAutoNum type="romanUcPeriod"/>
            </a:pPr>
            <a:r>
              <a:rPr lang="en-AU" b="1" dirty="0" smtClean="0">
                <a:latin typeface="Times New Roman" panose="02020603050405020304" pitchFamily="18" charset="0"/>
                <a:cs typeface="Times New Roman" panose="02020603050405020304" pitchFamily="18" charset="0"/>
              </a:rPr>
              <a:t>System Software</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203199" y="1557868"/>
            <a:ext cx="11778593" cy="5300132"/>
          </a:xfrm>
        </p:spPr>
        <p:txBody>
          <a:bodyPr>
            <a:normAutofit/>
          </a:bodyPr>
          <a:lstStyle/>
          <a:p>
            <a:pPr marL="0" indent="0">
              <a:buNone/>
            </a:pPr>
            <a:r>
              <a:rPr lang="en-US" sz="3200" dirty="0">
                <a:latin typeface="Times New Roman" panose="02020603050405020304" pitchFamily="18" charset="0"/>
                <a:cs typeface="Times New Roman" panose="02020603050405020304" pitchFamily="18" charset="0"/>
              </a:rPr>
              <a:t>System software is a computer program that helps the user to run computer hardware or software and manages the interaction between hardware and software. These software programs are designed to run on a computer's application programs and hardware and coordinates the activities and factions. In addition, it controls the entire operations of the computer hardware and provides an environment or platform for all the other types of software to work in. The OS is the best example of system software; it manages all the other computer programs like office applications. Other examples of system software include the firmware and system utilities.</a:t>
            </a:r>
          </a:p>
          <a:p>
            <a:pPr marL="0" indent="0">
              <a:buNone/>
            </a:pPr>
            <a:endParaRPr lang="en-US"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63250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1769533" y="7406"/>
            <a:ext cx="7962061" cy="1325563"/>
          </a:xfrm>
        </p:spPr>
        <p:txBody>
          <a:bodyPr/>
          <a:lstStyle/>
          <a:p>
            <a:r>
              <a:rPr lang="en-AU" b="1" dirty="0" smtClean="0">
                <a:latin typeface="Times New Roman" panose="02020603050405020304" pitchFamily="18" charset="0"/>
                <a:cs typeface="Times New Roman" panose="02020603050405020304" pitchFamily="18" charset="0"/>
              </a:rPr>
              <a:t>Operating System (OS)</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220132" y="1475317"/>
            <a:ext cx="11778593" cy="5300132"/>
          </a:xfrm>
        </p:spPr>
        <p:txBody>
          <a:bodyPr>
            <a:normAutofit/>
          </a:bodyPr>
          <a:lstStyle/>
          <a:p>
            <a:r>
              <a:rPr lang="en-US" sz="3200" dirty="0">
                <a:latin typeface="Times New Roman" panose="02020603050405020304" pitchFamily="18" charset="0"/>
                <a:cs typeface="Times New Roman" panose="02020603050405020304" pitchFamily="18" charset="0"/>
              </a:rPr>
              <a:t>The operating system is the most prominent example of system software that acts as an interface between the user and system hardware. It is a group of software that handles the execution of programs and offers general services for the application that runs over the computer. There are various types of operating systems available in the market, such as embedded operating systems, real-time OS, distributed OS, single or multi-user operating system, mobile, Internet, and various others</a:t>
            </a:r>
            <a:r>
              <a:rPr lang="en-US" sz="3200" dirty="0" smtClean="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08900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1744133" y="104000"/>
            <a:ext cx="7962061" cy="1325563"/>
          </a:xfrm>
        </p:spPr>
        <p:txBody>
          <a:bodyPr/>
          <a:lstStyle/>
          <a:p>
            <a:r>
              <a:rPr lang="en-AU" b="1" dirty="0" smtClean="0">
                <a:latin typeface="Times New Roman" panose="02020603050405020304" pitchFamily="18" charset="0"/>
                <a:cs typeface="Times New Roman" panose="02020603050405020304" pitchFamily="18" charset="0"/>
              </a:rPr>
              <a:t>Different types of Operating Systems (OS)</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203199" y="1557868"/>
            <a:ext cx="11778593" cy="5300132"/>
          </a:xfrm>
        </p:spPr>
        <p:txBody>
          <a:bodyPr>
            <a:normAutofit lnSpcReduction="10000"/>
          </a:bodyPr>
          <a:lstStyle/>
          <a:p>
            <a:pPr marL="0" indent="0">
              <a:buNone/>
            </a:pPr>
            <a:r>
              <a:rPr lang="en-US" sz="3200" dirty="0">
                <a:latin typeface="Times New Roman" panose="02020603050405020304" pitchFamily="18" charset="0"/>
                <a:cs typeface="Times New Roman" panose="02020603050405020304" pitchFamily="18" charset="0"/>
              </a:rPr>
              <a:t>Some of the commonly used examples of operating systems are given </a:t>
            </a:r>
            <a:r>
              <a:rPr lang="en-US" sz="3200" dirty="0" smtClean="0">
                <a:latin typeface="Times New Roman" panose="02020603050405020304" pitchFamily="18" charset="0"/>
                <a:cs typeface="Times New Roman" panose="02020603050405020304" pitchFamily="18" charset="0"/>
              </a:rPr>
              <a:t>below</a:t>
            </a:r>
            <a:r>
              <a:rPr lang="en-US" sz="3200" dirty="0">
                <a:latin typeface="Times New Roman" panose="02020603050405020304" pitchFamily="18" charset="0"/>
                <a:cs typeface="Times New Roman" panose="02020603050405020304" pitchFamily="18" charset="0"/>
              </a:rPr>
              <a:t>.</a:t>
            </a:r>
            <a:endParaRPr lang="en-US" sz="3200" dirty="0" smtClean="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Windows </a:t>
            </a:r>
            <a:r>
              <a:rPr lang="en-US" sz="3200" dirty="0">
                <a:latin typeface="Times New Roman" panose="02020603050405020304" pitchFamily="18" charset="0"/>
                <a:cs typeface="Times New Roman" panose="02020603050405020304" pitchFamily="18" charset="0"/>
              </a:rPr>
              <a:t>95, XP, 7, 8, 10, and 11</a:t>
            </a:r>
            <a:endParaRPr lang="en-US" sz="3200" dirty="0" smtClean="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Apple's </a:t>
            </a:r>
            <a:r>
              <a:rPr lang="en-US" sz="3200" dirty="0" err="1">
                <a:latin typeface="Times New Roman" panose="02020603050405020304" pitchFamily="18" charset="0"/>
                <a:cs typeface="Times New Roman" panose="02020603050405020304" pitchFamily="18" charset="0"/>
              </a:rPr>
              <a:t>iOS</a:t>
            </a:r>
            <a:endParaRPr lang="en-US" sz="3200"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Apple's MacOS</a:t>
            </a:r>
          </a:p>
          <a:p>
            <a:pPr lvl="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Android</a:t>
            </a:r>
          </a:p>
          <a:p>
            <a:pPr lvl="0">
              <a:buFont typeface="Wingdings" panose="05000000000000000000" pitchFamily="2" charset="2"/>
              <a:buChar char="Ø"/>
            </a:pPr>
            <a:r>
              <a:rPr lang="en-US" sz="3200" dirty="0" err="1">
                <a:latin typeface="Times New Roman" panose="02020603050405020304" pitchFamily="18" charset="0"/>
                <a:cs typeface="Times New Roman" panose="02020603050405020304" pitchFamily="18" charset="0"/>
              </a:rPr>
              <a:t>CentOS</a:t>
            </a:r>
            <a:endParaRPr lang="en-US" sz="3200"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Linus</a:t>
            </a:r>
          </a:p>
          <a:p>
            <a:pPr lvl="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Ubuntu</a:t>
            </a:r>
          </a:p>
          <a:p>
            <a:pPr lvl="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Unix</a:t>
            </a: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29081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1769533" y="94285"/>
            <a:ext cx="7962061" cy="1325563"/>
          </a:xfrm>
        </p:spPr>
        <p:txBody>
          <a:bodyPr>
            <a:normAutofit/>
          </a:bodyPr>
          <a:lstStyle/>
          <a:p>
            <a:r>
              <a:rPr lang="en-US" sz="4000" b="1" dirty="0" smtClean="0">
                <a:latin typeface="Times New Roman" panose="02020603050405020304" pitchFamily="18" charset="0"/>
                <a:cs typeface="Times New Roman" panose="02020603050405020304" pitchFamily="18" charset="0"/>
              </a:rPr>
              <a:t>Drivers Software</a:t>
            </a:r>
            <a:endParaRPr lang="en-AU"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203199" y="1557868"/>
            <a:ext cx="11778593" cy="5300132"/>
          </a:xfrm>
        </p:spPr>
        <p:txBody>
          <a:bodyPr>
            <a:normAutofit fontScale="70000" lnSpcReduction="20000"/>
          </a:bodyPr>
          <a:lstStyle/>
          <a:p>
            <a:r>
              <a:rPr lang="en-US" sz="3200" dirty="0">
                <a:latin typeface="Times New Roman" panose="02020603050405020304" pitchFamily="18" charset="0"/>
                <a:cs typeface="Times New Roman" panose="02020603050405020304" pitchFamily="18" charset="0"/>
              </a:rPr>
              <a:t>Also known as device </a:t>
            </a:r>
            <a:r>
              <a:rPr lang="en-US" sz="3200" dirty="0" smtClean="0">
                <a:latin typeface="Times New Roman" panose="02020603050405020304" pitchFamily="18" charset="0"/>
                <a:cs typeface="Times New Roman" panose="02020603050405020304" pitchFamily="18" charset="0"/>
              </a:rPr>
              <a:t>drivers, </a:t>
            </a:r>
            <a:r>
              <a:rPr lang="en-US" sz="3200" dirty="0">
                <a:latin typeface="Times New Roman" panose="02020603050405020304" pitchFamily="18" charset="0"/>
                <a:cs typeface="Times New Roman" panose="02020603050405020304" pitchFamily="18" charset="0"/>
              </a:rPr>
              <a:t>this software is often considered a type of system software. These device drivers control the devices and peripherals connected to a computer, enabling them to perform their specific tasks. Every device that is connected to a computer needs at least one device driver to function. Examples include software that comes with any nonstandard hardware, including special game controllers, as well as the software that enables standard hardware, such as USB storage devices, keyboards, headphones and printers. If the drivers are not configured correctly, you may not hear sound from your PC or you may not be able to print your document.</a:t>
            </a:r>
          </a:p>
          <a:p>
            <a:r>
              <a:rPr lang="en-US" sz="3200" dirty="0">
                <a:latin typeface="Times New Roman" panose="02020603050405020304" pitchFamily="18" charset="0"/>
                <a:cs typeface="Times New Roman" panose="02020603050405020304" pitchFamily="18" charset="0"/>
              </a:rPr>
              <a:t>Some common examples of such device drivers that connect hardware devices (printers, sound cards, network cards, hard disks, floppy disk, keyboard, mouse, etc.) to a system easily are as follows:</a:t>
            </a:r>
          </a:p>
          <a:p>
            <a:pPr lvl="0"/>
            <a:r>
              <a:rPr lang="en-US" sz="3200" dirty="0">
                <a:latin typeface="Times New Roman" panose="02020603050405020304" pitchFamily="18" charset="0"/>
                <a:cs typeface="Times New Roman" panose="02020603050405020304" pitchFamily="18" charset="0"/>
              </a:rPr>
              <a:t>BIOS (Basic Input/output System) Device Driver</a:t>
            </a:r>
          </a:p>
          <a:p>
            <a:pPr lvl="0"/>
            <a:r>
              <a:rPr lang="en-US" sz="3200" dirty="0">
                <a:latin typeface="Times New Roman" panose="02020603050405020304" pitchFamily="18" charset="0"/>
                <a:cs typeface="Times New Roman" panose="02020603050405020304" pitchFamily="18" charset="0"/>
              </a:rPr>
              <a:t>USB (Universal Serial Bus) Drivers</a:t>
            </a:r>
          </a:p>
          <a:p>
            <a:pPr lvl="0"/>
            <a:r>
              <a:rPr lang="en-US" sz="3200" dirty="0">
                <a:latin typeface="Times New Roman" panose="02020603050405020304" pitchFamily="18" charset="0"/>
                <a:cs typeface="Times New Roman" panose="02020603050405020304" pitchFamily="18" charset="0"/>
              </a:rPr>
              <a:t>Motherboard Drivers</a:t>
            </a:r>
          </a:p>
          <a:p>
            <a:pPr lvl="0"/>
            <a:r>
              <a:rPr lang="en-US" sz="3200" dirty="0">
                <a:latin typeface="Times New Roman" panose="02020603050405020304" pitchFamily="18" charset="0"/>
                <a:cs typeface="Times New Roman" panose="02020603050405020304" pitchFamily="18" charset="0"/>
              </a:rPr>
              <a:t>Display Drivers</a:t>
            </a:r>
          </a:p>
          <a:p>
            <a:pPr lvl="0"/>
            <a:r>
              <a:rPr lang="en-US" sz="3200" dirty="0">
                <a:latin typeface="Times New Roman" panose="02020603050405020304" pitchFamily="18" charset="0"/>
                <a:cs typeface="Times New Roman" panose="02020603050405020304" pitchFamily="18" charset="0"/>
              </a:rPr>
              <a:t>Printer Drivers</a:t>
            </a:r>
          </a:p>
          <a:p>
            <a:pPr lvl="0"/>
            <a:r>
              <a:rPr lang="en-US" sz="3200" dirty="0">
                <a:latin typeface="Times New Roman" panose="02020603050405020304" pitchFamily="18" charset="0"/>
                <a:cs typeface="Times New Roman" panose="02020603050405020304" pitchFamily="18" charset="0"/>
              </a:rPr>
              <a:t>Sound Card Driver</a:t>
            </a:r>
          </a:p>
          <a:p>
            <a:pPr lvl="0"/>
            <a:r>
              <a:rPr lang="en-US" sz="3200" dirty="0">
                <a:latin typeface="Times New Roman" panose="02020603050405020304" pitchFamily="18" charset="0"/>
                <a:cs typeface="Times New Roman" panose="02020603050405020304" pitchFamily="18" charset="0"/>
              </a:rPr>
              <a:t>ROM (Read-only memory) Drivers</a:t>
            </a:r>
          </a:p>
          <a:p>
            <a:pPr lvl="0"/>
            <a:r>
              <a:rPr lang="en-US" sz="3200" dirty="0">
                <a:latin typeface="Times New Roman" panose="02020603050405020304" pitchFamily="18" charset="0"/>
                <a:cs typeface="Times New Roman" panose="02020603050405020304" pitchFamily="18" charset="0"/>
              </a:rPr>
              <a:t>VGA (Video Graphic Array) Drivers</a:t>
            </a:r>
          </a:p>
          <a:p>
            <a:pPr marL="0" indent="0">
              <a:buNone/>
            </a:pPr>
            <a:endParaRPr lang="en-US"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316860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1769533" y="94285"/>
            <a:ext cx="7962061" cy="1325563"/>
          </a:xfrm>
        </p:spPr>
        <p:txBody>
          <a:bodyPr>
            <a:normAutofit/>
          </a:bodyPr>
          <a:lstStyle/>
          <a:p>
            <a:pPr marL="857250" indent="-857250">
              <a:buFont typeface="+mj-lt"/>
              <a:buAutoNum type="romanUcPeriod" startAt="2"/>
            </a:pPr>
            <a:r>
              <a:rPr lang="en-US" sz="4000" b="1" dirty="0" smtClean="0">
                <a:latin typeface="Times New Roman" panose="02020603050405020304" pitchFamily="18" charset="0"/>
                <a:cs typeface="Times New Roman" panose="02020603050405020304" pitchFamily="18" charset="0"/>
              </a:rPr>
              <a:t>Application Software</a:t>
            </a:r>
            <a:endParaRPr lang="en-AU"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38815" y="1062567"/>
            <a:ext cx="11933052" cy="5655733"/>
          </a:xfrm>
        </p:spPr>
        <p:txBody>
          <a:bodyPr>
            <a:normAutofit fontScale="92500" lnSpcReduction="20000"/>
          </a:bodyPr>
          <a:lstStyle/>
          <a:p>
            <a:r>
              <a:rPr lang="en-US" sz="3200" dirty="0">
                <a:latin typeface="Times New Roman" panose="02020603050405020304" pitchFamily="18" charset="0"/>
                <a:cs typeface="Times New Roman" panose="02020603050405020304" pitchFamily="18" charset="0"/>
              </a:rPr>
              <a:t>The most common type of software, application software is a computer software package that performs a specific function for a user. Application software are designed for specific tasks. They cannot operate without the absence of operating systems. There are many different types of application </a:t>
            </a:r>
            <a:r>
              <a:rPr lang="en-US" sz="3200" dirty="0" smtClean="0">
                <a:latin typeface="Times New Roman" panose="02020603050405020304" pitchFamily="18" charset="0"/>
                <a:cs typeface="Times New Roman" panose="02020603050405020304" pitchFamily="18" charset="0"/>
              </a:rPr>
              <a:t>software </a:t>
            </a:r>
            <a:r>
              <a:rPr lang="en-US" sz="3200" dirty="0">
                <a:latin typeface="Times New Roman" panose="02020603050405020304" pitchFamily="18" charset="0"/>
                <a:cs typeface="Times New Roman" panose="02020603050405020304" pitchFamily="18" charset="0"/>
              </a:rPr>
              <a:t>out there in the market. An application can be self-contained, or it can be a group of programs that run the application for the user. Examples are different versions of office applications include office suites, graphics software, databases and database management programs, web browsers, word processors, software development tools, and image editors.</a:t>
            </a:r>
          </a:p>
          <a:p>
            <a:r>
              <a:rPr lang="en-US" sz="3200" dirty="0">
                <a:latin typeface="Times New Roman" panose="02020603050405020304" pitchFamily="18" charset="0"/>
                <a:cs typeface="Times New Roman" panose="02020603050405020304" pitchFamily="18" charset="0"/>
              </a:rPr>
              <a:t>These are desktop applications installed on user’s PC and use the computer memory to carry out specific tasks. They are taken up space from computer hard drive and do not need the internet connection to work, however, they may require some hardware devices as part of the requirements in order to run.</a:t>
            </a:r>
          </a:p>
          <a:p>
            <a:pPr marL="0" indent="0">
              <a:buNone/>
            </a:pPr>
            <a:endParaRPr lang="en-US"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003662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1202267" y="0"/>
            <a:ext cx="7962061" cy="1325563"/>
          </a:xfrm>
        </p:spPr>
        <p:txBody>
          <a:bodyPr>
            <a:normAutofit/>
          </a:bodyPr>
          <a:lstStyle/>
          <a:p>
            <a:r>
              <a:rPr lang="en-AU" sz="4000" b="1" dirty="0" smtClean="0">
                <a:latin typeface="Times New Roman" panose="02020603050405020304" pitchFamily="18" charset="0"/>
                <a:cs typeface="Times New Roman" panose="02020603050405020304" pitchFamily="18" charset="0"/>
              </a:rPr>
              <a:t>Other Software</a:t>
            </a:r>
            <a:endParaRPr lang="en-AU"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38815" y="1100139"/>
            <a:ext cx="11778593" cy="5300132"/>
          </a:xfrm>
        </p:spPr>
        <p:txBody>
          <a:bodyPr>
            <a:normAutofit fontScale="70000" lnSpcReduction="20000"/>
          </a:bodyPr>
          <a:lstStyle/>
          <a:p>
            <a:pPr marL="0" indent="0">
              <a:buNone/>
            </a:pPr>
            <a:r>
              <a:rPr lang="en-US" sz="3200" dirty="0" smtClean="0">
                <a:latin typeface="Times New Roman" panose="02020603050405020304" pitchFamily="18" charset="0"/>
                <a:cs typeface="Times New Roman" panose="02020603050405020304" pitchFamily="18" charset="0"/>
              </a:rPr>
              <a:t>Other System software apart from System and Application Software are as follows;</a:t>
            </a:r>
          </a:p>
          <a:p>
            <a:pPr marL="541338" indent="-269875"/>
            <a:r>
              <a:rPr lang="en-US" sz="3200" b="1" dirty="0" smtClean="0">
                <a:latin typeface="Times New Roman" panose="02020603050405020304" pitchFamily="18" charset="0"/>
                <a:cs typeface="Times New Roman" panose="02020603050405020304" pitchFamily="18" charset="0"/>
              </a:rPr>
              <a:t>Programming Software</a:t>
            </a:r>
            <a:r>
              <a:rPr lang="en-US" sz="3200" dirty="0" smtClean="0">
                <a:latin typeface="Times New Roman" panose="02020603050405020304" pitchFamily="18" charset="0"/>
                <a:cs typeface="Times New Roman" panose="02020603050405020304" pitchFamily="18" charset="0"/>
              </a:rPr>
              <a:t>-examples, Microsoft Visual Basic Studio 6.0</a:t>
            </a:r>
          </a:p>
          <a:p>
            <a:pPr marL="541338" indent="-269875"/>
            <a:r>
              <a:rPr lang="en-US" sz="3200" b="1" dirty="0" smtClean="0">
                <a:latin typeface="Times New Roman" panose="02020603050405020304" pitchFamily="18" charset="0"/>
                <a:cs typeface="Times New Roman" panose="02020603050405020304" pitchFamily="18" charset="0"/>
              </a:rPr>
              <a:t>Middleware</a:t>
            </a:r>
            <a:r>
              <a:rPr lang="en-US" sz="3200" dirty="0" smtClean="0">
                <a:latin typeface="Times New Roman" panose="02020603050405020304" pitchFamily="18" charset="0"/>
                <a:cs typeface="Times New Roman" panose="02020603050405020304" pitchFamily="18" charset="0"/>
              </a:rPr>
              <a:t> –software glue that connects different  software applications or components</a:t>
            </a:r>
          </a:p>
          <a:p>
            <a:pPr marL="541338" indent="-269875"/>
            <a:r>
              <a:rPr lang="en-US" sz="3200" b="1" dirty="0" smtClean="0">
                <a:latin typeface="Times New Roman" panose="02020603050405020304" pitchFamily="18" charset="0"/>
                <a:cs typeface="Times New Roman" panose="02020603050405020304" pitchFamily="18" charset="0"/>
              </a:rPr>
              <a:t>Embedded Software</a:t>
            </a:r>
            <a:r>
              <a:rPr lang="en-US" sz="3200" dirty="0" smtClean="0">
                <a:latin typeface="Times New Roman" panose="02020603050405020304" pitchFamily="18" charset="0"/>
                <a:cs typeface="Times New Roman" panose="02020603050405020304" pitchFamily="18" charset="0"/>
              </a:rPr>
              <a:t>-Specialized software for controlling machines and devices not typically considered computers.</a:t>
            </a:r>
          </a:p>
          <a:p>
            <a:pPr marL="541338" indent="-269875"/>
            <a:r>
              <a:rPr lang="en-US" sz="3200" b="1" dirty="0" smtClean="0">
                <a:latin typeface="Times New Roman" panose="02020603050405020304" pitchFamily="18" charset="0"/>
                <a:cs typeface="Times New Roman" panose="02020603050405020304" pitchFamily="18" charset="0"/>
              </a:rPr>
              <a:t>Networking &amp;  Security Software</a:t>
            </a:r>
            <a:r>
              <a:rPr lang="en-US" sz="3200" dirty="0" smtClean="0">
                <a:latin typeface="Times New Roman" panose="02020603050405020304" pitchFamily="18" charset="0"/>
                <a:cs typeface="Times New Roman" panose="02020603050405020304" pitchFamily="18" charset="0"/>
              </a:rPr>
              <a:t>- Manages, secures, and monitors network communications.</a:t>
            </a:r>
          </a:p>
          <a:p>
            <a:pPr marL="541338" indent="-269875"/>
            <a:r>
              <a:rPr lang="en-US" sz="3200" b="1" dirty="0" smtClean="0">
                <a:latin typeface="Times New Roman" panose="02020603050405020304" pitchFamily="18" charset="0"/>
                <a:cs typeface="Times New Roman" panose="02020603050405020304" pitchFamily="18" charset="0"/>
              </a:rPr>
              <a:t>Artificial Intelligence &amp; Data Science Software</a:t>
            </a:r>
            <a:r>
              <a:rPr lang="en-US" sz="3200" dirty="0" smtClean="0">
                <a:latin typeface="Times New Roman" panose="02020603050405020304" pitchFamily="18" charset="0"/>
                <a:cs typeface="Times New Roman" panose="02020603050405020304" pitchFamily="18" charset="0"/>
              </a:rPr>
              <a:t>-tools for intelligence systems, machine learning and data analysis</a:t>
            </a:r>
          </a:p>
          <a:p>
            <a:pPr marL="541338" indent="-269875"/>
            <a:r>
              <a:rPr lang="en-US" sz="3200" b="1" dirty="0" smtClean="0">
                <a:latin typeface="Times New Roman" panose="02020603050405020304" pitchFamily="18" charset="0"/>
                <a:cs typeface="Times New Roman" panose="02020603050405020304" pitchFamily="18" charset="0"/>
              </a:rPr>
              <a:t>Database Software (Database Management System-DBMS)</a:t>
            </a:r>
            <a:r>
              <a:rPr lang="en-US" sz="3200" dirty="0" smtClean="0">
                <a:latin typeface="Times New Roman" panose="02020603050405020304" pitchFamily="18" charset="0"/>
                <a:cs typeface="Times New Roman" panose="02020603050405020304" pitchFamily="18" charset="0"/>
              </a:rPr>
              <a:t>-Manages  data storage, retrieval and organization</a:t>
            </a:r>
          </a:p>
          <a:p>
            <a:pPr marL="541338" indent="-269875"/>
            <a:r>
              <a:rPr lang="en-US" sz="3200" b="1" dirty="0" smtClean="0">
                <a:latin typeface="Times New Roman" panose="02020603050405020304" pitchFamily="18" charset="0"/>
                <a:cs typeface="Times New Roman" panose="02020603050405020304" pitchFamily="18" charset="0"/>
              </a:rPr>
              <a:t>Stimulation  &amp; Scientific  Computing Software </a:t>
            </a:r>
            <a:r>
              <a:rPr lang="en-US" sz="3200" dirty="0" smtClean="0">
                <a:latin typeface="Times New Roman" panose="02020603050405020304" pitchFamily="18" charset="0"/>
                <a:cs typeface="Times New Roman" panose="02020603050405020304" pitchFamily="18" charset="0"/>
              </a:rPr>
              <a:t>– models  real  world systems and performs complex  computation</a:t>
            </a:r>
          </a:p>
          <a:p>
            <a:pPr marL="541338" indent="-269875"/>
            <a:r>
              <a:rPr lang="en-US" sz="3200" b="1" dirty="0" smtClean="0">
                <a:latin typeface="Times New Roman" panose="02020603050405020304" pitchFamily="18" charset="0"/>
                <a:cs typeface="Times New Roman" panose="02020603050405020304" pitchFamily="18" charset="0"/>
              </a:rPr>
              <a:t>Cloud  &amp; Distributed System Software</a:t>
            </a:r>
            <a:r>
              <a:rPr lang="en-US" sz="3200" dirty="0" smtClean="0">
                <a:latin typeface="Times New Roman" panose="02020603050405020304" pitchFamily="18" charset="0"/>
                <a:cs typeface="Times New Roman" panose="02020603050405020304" pitchFamily="18" charset="0"/>
              </a:rPr>
              <a:t>-enables cloud computing and distributed computing paradigms.</a:t>
            </a:r>
            <a:endParaRPr lang="en-US"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042972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D10D8-CC9B-4AB6-8F44-97EFE99F6469}"/>
              </a:ext>
            </a:extLst>
          </p:cNvPr>
          <p:cNvSpPr>
            <a:spLocks noGrp="1"/>
          </p:cNvSpPr>
          <p:nvPr>
            <p:ph type="title"/>
          </p:nvPr>
        </p:nvSpPr>
        <p:spPr>
          <a:xfrm>
            <a:off x="1769533" y="94285"/>
            <a:ext cx="7962061" cy="1325563"/>
          </a:xfrm>
        </p:spPr>
        <p:txBody>
          <a:bodyPr>
            <a:normAutofit/>
          </a:bodyPr>
          <a:lstStyle/>
          <a:p>
            <a:r>
              <a:rPr lang="en-US" sz="4000" b="1" dirty="0" smtClean="0">
                <a:latin typeface="Times New Roman" panose="02020603050405020304" pitchFamily="18" charset="0"/>
                <a:cs typeface="Times New Roman" panose="02020603050405020304" pitchFamily="18" charset="0"/>
              </a:rPr>
              <a:t>6. Users</a:t>
            </a:r>
            <a:endParaRPr lang="en-AU"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AF9274F-8429-43B0-B56E-864C01E876F5}"/>
              </a:ext>
            </a:extLst>
          </p:cNvPr>
          <p:cNvSpPr>
            <a:spLocks noGrp="1"/>
          </p:cNvSpPr>
          <p:nvPr>
            <p:ph idx="1"/>
          </p:nvPr>
        </p:nvSpPr>
        <p:spPr>
          <a:xfrm>
            <a:off x="203199" y="1557868"/>
            <a:ext cx="11778593" cy="5300132"/>
          </a:xfrm>
        </p:spPr>
        <p:txBody>
          <a:bodyPr>
            <a:normAutofit/>
          </a:bodyPr>
          <a:lstStyle/>
          <a:p>
            <a:r>
              <a:rPr lang="en-US" sz="2400" dirty="0">
                <a:latin typeface="Times New Roman" panose="02020603050405020304" pitchFamily="18" charset="0"/>
                <a:cs typeface="Times New Roman" panose="02020603050405020304" pitchFamily="18" charset="0"/>
              </a:rPr>
              <a:t>The users are considered to be an important component of computer system. Users play important role in ensuring the other components are up and running.</a:t>
            </a:r>
          </a:p>
          <a:p>
            <a:r>
              <a:rPr lang="en-US" sz="2400" dirty="0">
                <a:latin typeface="Times New Roman" panose="02020603050405020304" pitchFamily="18" charset="0"/>
                <a:cs typeface="Times New Roman" panose="02020603050405020304" pitchFamily="18" charset="0"/>
              </a:rPr>
              <a:t>The users can be classified into the following categories.</a:t>
            </a:r>
          </a:p>
          <a:p>
            <a:r>
              <a:rPr lang="en-US" sz="2400" b="1" dirty="0">
                <a:latin typeface="Times New Roman" panose="02020603050405020304" pitchFamily="18" charset="0"/>
                <a:cs typeface="Times New Roman" panose="02020603050405020304" pitchFamily="18" charset="0"/>
              </a:rPr>
              <a:t>IT Manager </a:t>
            </a:r>
            <a:r>
              <a:rPr lang="en-US" sz="2400" dirty="0">
                <a:latin typeface="Times New Roman" panose="02020603050405020304" pitchFamily="18" charset="0"/>
                <a:cs typeface="Times New Roman" panose="02020603050405020304" pitchFamily="18" charset="0"/>
              </a:rPr>
              <a:t>– person who works closely with CEO and execute tasks on a managerial level. Involves in policies, planning, project management and ensure all hardware peripherals to </a:t>
            </a:r>
            <a:r>
              <a:rPr lang="en-US" sz="2400" dirty="0" err="1">
                <a:latin typeface="Times New Roman" panose="02020603050405020304" pitchFamily="18" charset="0"/>
                <a:cs typeface="Times New Roman" panose="02020603050405020304" pitchFamily="18" charset="0"/>
              </a:rPr>
              <a:t>softwares</a:t>
            </a:r>
            <a:r>
              <a:rPr lang="en-US" sz="2400" dirty="0">
                <a:latin typeface="Times New Roman" panose="02020603050405020304" pitchFamily="18" charset="0"/>
                <a:cs typeface="Times New Roman" panose="02020603050405020304" pitchFamily="18" charset="0"/>
              </a:rPr>
              <a:t> are up and running smoothly.</a:t>
            </a:r>
          </a:p>
          <a:p>
            <a:r>
              <a:rPr lang="en-US" sz="2400" b="1" dirty="0">
                <a:latin typeface="Times New Roman" panose="02020603050405020304" pitchFamily="18" charset="0"/>
                <a:cs typeface="Times New Roman" panose="02020603050405020304" pitchFamily="18" charset="0"/>
              </a:rPr>
              <a:t>Programmer</a:t>
            </a:r>
            <a:r>
              <a:rPr lang="en-US" sz="2400" dirty="0">
                <a:latin typeface="Times New Roman" panose="02020603050405020304" pitchFamily="18" charset="0"/>
                <a:cs typeface="Times New Roman" panose="02020603050405020304" pitchFamily="18" charset="0"/>
              </a:rPr>
              <a:t> – person who is responsible to write codes for computer programs</a:t>
            </a:r>
          </a:p>
          <a:p>
            <a:r>
              <a:rPr lang="en-US" sz="2400" b="1" dirty="0">
                <a:latin typeface="Times New Roman" panose="02020603050405020304" pitchFamily="18" charset="0"/>
                <a:cs typeface="Times New Roman" panose="02020603050405020304" pitchFamily="18" charset="0"/>
              </a:rPr>
              <a:t>IT Administrator </a:t>
            </a:r>
            <a:r>
              <a:rPr lang="en-US" sz="2400" dirty="0">
                <a:latin typeface="Times New Roman" panose="02020603050405020304" pitchFamily="18" charset="0"/>
                <a:cs typeface="Times New Roman" panose="02020603050405020304" pitchFamily="18" charset="0"/>
              </a:rPr>
              <a:t>– ensure daily operations are routinely checked and runs smoothly.</a:t>
            </a:r>
          </a:p>
          <a:p>
            <a:r>
              <a:rPr lang="en-US" sz="2400" b="1" dirty="0">
                <a:latin typeface="Times New Roman" panose="02020603050405020304" pitchFamily="18" charset="0"/>
                <a:cs typeface="Times New Roman" panose="02020603050405020304" pitchFamily="18" charset="0"/>
              </a:rPr>
              <a:t>Users (employees) </a:t>
            </a:r>
            <a:r>
              <a:rPr lang="en-US" sz="2400" dirty="0">
                <a:latin typeface="Times New Roman" panose="02020603050405020304" pitchFamily="18" charset="0"/>
                <a:cs typeface="Times New Roman" panose="02020603050405020304" pitchFamily="18" charset="0"/>
              </a:rPr>
              <a:t>– people who use computer daily for data entry, processing, etc.</a:t>
            </a: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17988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75" y="85725"/>
            <a:ext cx="11022725" cy="1325563"/>
          </a:xfrm>
        </p:spPr>
        <p:txBody>
          <a:bodyPr/>
          <a:lstStyle/>
          <a:p>
            <a:r>
              <a:rPr lang="en-US" b="1" dirty="0">
                <a:latin typeface="Times New Roman" panose="02020603050405020304" pitchFamily="18" charset="0"/>
                <a:cs typeface="Times New Roman" panose="02020603050405020304" pitchFamily="18" charset="0"/>
              </a:rPr>
              <a:t>Summary</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7075" y="807773"/>
            <a:ext cx="11650717" cy="4919134"/>
          </a:xfrm>
        </p:spPr>
        <p:txBody>
          <a:bodyPr>
            <a:noAutofit/>
          </a:bodyPr>
          <a:lstStyle/>
          <a:p>
            <a:pPr lvl="0"/>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main components of computer are:</a:t>
            </a:r>
          </a:p>
          <a:p>
            <a:pPr lvl="0"/>
            <a:r>
              <a:rPr lang="en-US" dirty="0">
                <a:latin typeface="Times New Roman" panose="02020603050405020304" pitchFamily="18" charset="0"/>
                <a:cs typeface="Times New Roman" panose="02020603050405020304" pitchFamily="18" charset="0"/>
              </a:rPr>
              <a:t>Central Processing Unit (CPU) is the brain of the computer.</a:t>
            </a:r>
          </a:p>
          <a:p>
            <a:pPr lvl="1"/>
            <a:r>
              <a:rPr lang="en-US" sz="2800" dirty="0">
                <a:latin typeface="Times New Roman" panose="02020603050405020304" pitchFamily="18" charset="0"/>
                <a:cs typeface="Times New Roman" panose="02020603050405020304" pitchFamily="18" charset="0"/>
              </a:rPr>
              <a:t>Main components of CPU</a:t>
            </a:r>
          </a:p>
          <a:p>
            <a:pPr lvl="2"/>
            <a:r>
              <a:rPr lang="en-US" sz="2800" b="1" dirty="0">
                <a:latin typeface="Times New Roman" panose="02020603050405020304" pitchFamily="18" charset="0"/>
                <a:cs typeface="Times New Roman" panose="02020603050405020304" pitchFamily="18" charset="0"/>
              </a:rPr>
              <a:t>Memory Unit</a:t>
            </a:r>
            <a:r>
              <a:rPr lang="en-US" sz="2800" dirty="0">
                <a:latin typeface="Times New Roman" panose="02020603050405020304" pitchFamily="18" charset="0"/>
                <a:cs typeface="Times New Roman" panose="02020603050405020304" pitchFamily="18" charset="0"/>
              </a:rPr>
              <a:t> stores data for use on temporary basis for as long as the power is on.</a:t>
            </a:r>
          </a:p>
          <a:p>
            <a:pPr lvl="2"/>
            <a:r>
              <a:rPr lang="en-US" sz="2800" b="1" dirty="0">
                <a:latin typeface="Times New Roman" panose="02020603050405020304" pitchFamily="18" charset="0"/>
                <a:cs typeface="Times New Roman" panose="02020603050405020304" pitchFamily="18" charset="0"/>
              </a:rPr>
              <a:t>Arithmetic Logical Unit</a:t>
            </a:r>
            <a:r>
              <a:rPr lang="en-US" sz="2800" dirty="0">
                <a:latin typeface="Times New Roman" panose="02020603050405020304" pitchFamily="18" charset="0"/>
                <a:cs typeface="Times New Roman" panose="02020603050405020304" pitchFamily="18" charset="0"/>
              </a:rPr>
              <a:t> (ALU) performs all the calculation.</a:t>
            </a:r>
          </a:p>
          <a:p>
            <a:pPr lvl="2"/>
            <a:r>
              <a:rPr lang="en-US" sz="2800" b="1" dirty="0">
                <a:latin typeface="Times New Roman" panose="02020603050405020304" pitchFamily="18" charset="0"/>
                <a:cs typeface="Times New Roman" panose="02020603050405020304" pitchFamily="18" charset="0"/>
              </a:rPr>
              <a:t>Control Unit</a:t>
            </a:r>
            <a:r>
              <a:rPr lang="en-US" sz="2800" dirty="0">
                <a:latin typeface="Times New Roman" panose="02020603050405020304" pitchFamily="18" charset="0"/>
                <a:cs typeface="Times New Roman" panose="02020603050405020304" pitchFamily="18" charset="0"/>
              </a:rPr>
              <a:t> has direct control over the entire computer system.</a:t>
            </a:r>
          </a:p>
          <a:p>
            <a:pPr lvl="0"/>
            <a:r>
              <a:rPr lang="en-US" dirty="0">
                <a:latin typeface="Times New Roman" panose="02020603050405020304" pitchFamily="18" charset="0"/>
                <a:cs typeface="Times New Roman" panose="02020603050405020304" pitchFamily="18" charset="0"/>
              </a:rPr>
              <a:t>Memory is the storage area of computer where information is stored for immediate use. Memory is used by operating system to store hardware and software. It comes in different sizes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Tree>
    <p:extLst>
      <p:ext uri="{BB962C8B-B14F-4D97-AF65-F5344CB8AC3E}">
        <p14:creationId xmlns:p14="http://schemas.microsoft.com/office/powerpoint/2010/main" val="17880372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4872" y="268634"/>
            <a:ext cx="10515600" cy="4351338"/>
          </a:xfrm>
        </p:spPr>
        <p:txBody>
          <a:bodyPr>
            <a:noAutofit/>
          </a:bodyPr>
          <a:lstStyle/>
          <a:p>
            <a:pPr lvl="0"/>
            <a:r>
              <a:rPr lang="en-US" sz="2400" dirty="0">
                <a:latin typeface="Times New Roman" panose="02020603050405020304" pitchFamily="18" charset="0"/>
                <a:cs typeface="Times New Roman" panose="02020603050405020304" pitchFamily="18" charset="0"/>
              </a:rPr>
              <a:t>Two types of computer memory. </a:t>
            </a:r>
          </a:p>
          <a:p>
            <a:pPr lvl="1"/>
            <a:r>
              <a:rPr lang="en-US" dirty="0">
                <a:latin typeface="Times New Roman" panose="02020603050405020304" pitchFamily="18" charset="0"/>
                <a:cs typeface="Times New Roman" panose="02020603050405020304" pitchFamily="18" charset="0"/>
              </a:rPr>
              <a:t>Primary memory, for example, Random Access memory (RAM).</a:t>
            </a:r>
          </a:p>
          <a:p>
            <a:pPr lvl="1"/>
            <a:r>
              <a:rPr lang="en-US" dirty="0">
                <a:latin typeface="Times New Roman" panose="02020603050405020304" pitchFamily="18" charset="0"/>
                <a:cs typeface="Times New Roman" panose="02020603050405020304" pitchFamily="18" charset="0"/>
              </a:rPr>
              <a:t>Secondary memory, for example, Hard disk.</a:t>
            </a:r>
          </a:p>
          <a:p>
            <a:pPr lvl="0"/>
            <a:r>
              <a:rPr lang="en-US" sz="2400" dirty="0">
                <a:latin typeface="Times New Roman" panose="02020603050405020304" pitchFamily="18" charset="0"/>
                <a:cs typeface="Times New Roman" panose="02020603050405020304" pitchFamily="18" charset="0"/>
              </a:rPr>
              <a:t>Input devices – devices that feed computer with information, for example, mouse.</a:t>
            </a:r>
          </a:p>
          <a:p>
            <a:pPr lvl="0"/>
            <a:r>
              <a:rPr lang="en-US" sz="2400" dirty="0">
                <a:latin typeface="Times New Roman" panose="02020603050405020304" pitchFamily="18" charset="0"/>
                <a:cs typeface="Times New Roman" panose="02020603050405020304" pitchFamily="18" charset="0"/>
              </a:rPr>
              <a:t>Output devices – devices that display the result, for example, Monitor.</a:t>
            </a:r>
          </a:p>
          <a:p>
            <a:pPr lvl="0"/>
            <a:r>
              <a:rPr lang="en-US" sz="2400" dirty="0" smtClean="0">
                <a:latin typeface="Times New Roman" panose="02020603050405020304" pitchFamily="18" charset="0"/>
                <a:cs typeface="Times New Roman" panose="02020603050405020304" pitchFamily="18" charset="0"/>
              </a:rPr>
              <a:t>Software </a:t>
            </a:r>
            <a:r>
              <a:rPr lang="en-US" sz="2400" dirty="0">
                <a:latin typeface="Times New Roman" panose="02020603050405020304" pitchFamily="18" charset="0"/>
                <a:cs typeface="Times New Roman" panose="02020603050405020304" pitchFamily="18" charset="0"/>
              </a:rPr>
              <a:t>is a set of programs or sequence of instructions that allows the users to perform well-defined function or some specific tasks to achieve results.</a:t>
            </a:r>
          </a:p>
          <a:p>
            <a:pPr lvl="1"/>
            <a:r>
              <a:rPr lang="en-US" dirty="0">
                <a:latin typeface="Times New Roman" panose="02020603050405020304" pitchFamily="18" charset="0"/>
                <a:cs typeface="Times New Roman" panose="02020603050405020304" pitchFamily="18" charset="0"/>
              </a:rPr>
              <a:t>Types of </a:t>
            </a:r>
            <a:r>
              <a:rPr lang="en-US" dirty="0" smtClean="0">
                <a:latin typeface="Times New Roman" panose="02020603050405020304" pitchFamily="18" charset="0"/>
                <a:cs typeface="Times New Roman" panose="02020603050405020304" pitchFamily="18" charset="0"/>
              </a:rPr>
              <a:t> Software:</a:t>
            </a:r>
          </a:p>
          <a:p>
            <a:pPr lvl="1"/>
            <a:r>
              <a:rPr lang="en-US" dirty="0" smtClean="0">
                <a:latin typeface="Times New Roman" panose="02020603050405020304" pitchFamily="18" charset="0"/>
                <a:cs typeface="Times New Roman" panose="02020603050405020304" pitchFamily="18" charset="0"/>
              </a:rPr>
              <a:t>System Software</a:t>
            </a:r>
            <a:endParaRPr lang="en-US"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Operating System, example: Windows 10 &amp; 11</a:t>
            </a:r>
          </a:p>
          <a:p>
            <a:pPr lvl="2">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Device Driver, example, Printer driver</a:t>
            </a:r>
          </a:p>
          <a:p>
            <a:pPr lvl="2">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Utility Software, examples, anti-virus &amp; disk </a:t>
            </a:r>
            <a:r>
              <a:rPr lang="en-US" sz="2400" dirty="0" smtClean="0">
                <a:latin typeface="Times New Roman" panose="02020603050405020304" pitchFamily="18" charset="0"/>
                <a:cs typeface="Times New Roman" panose="02020603050405020304" pitchFamily="18" charset="0"/>
              </a:rPr>
              <a:t>cleanup</a:t>
            </a:r>
          </a:p>
          <a:p>
            <a:pPr lvl="2">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Firmware software, examples, BIOS/UEFI &amp; embedded system controllers</a:t>
            </a:r>
          </a:p>
          <a:p>
            <a:pPr marL="719138" lvl="2" indent="-269875"/>
            <a:r>
              <a:rPr lang="en-US" sz="2400" dirty="0" smtClean="0">
                <a:latin typeface="Times New Roman" panose="02020603050405020304" pitchFamily="18" charset="0"/>
                <a:cs typeface="Times New Roman" panose="02020603050405020304" pitchFamily="18" charset="0"/>
              </a:rPr>
              <a:t> Application Software</a:t>
            </a:r>
          </a:p>
          <a:p>
            <a:pPr marL="906463" lvl="2" indent="76200">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Productivity Software, example, MS Office Suite.</a:t>
            </a:r>
          </a:p>
          <a:p>
            <a:endParaRPr lang="en-US" sz="24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8077200" y="6492875"/>
            <a:ext cx="4114800" cy="365125"/>
          </a:xfrm>
        </p:spPr>
        <p:txBody>
          <a:bodyPr/>
          <a:lstStyle/>
          <a:p>
            <a:r>
              <a:rPr lang="en-US" dirty="0" smtClean="0"/>
              <a:t>Prepared: by:  MS Odilia Tita</a:t>
            </a:r>
            <a:endParaRPr lang="en-AU" dirty="0"/>
          </a:p>
        </p:txBody>
      </p:sp>
    </p:spTree>
    <p:extLst>
      <p:ext uri="{BB962C8B-B14F-4D97-AF65-F5344CB8AC3E}">
        <p14:creationId xmlns:p14="http://schemas.microsoft.com/office/powerpoint/2010/main" val="277414086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98" y="384831"/>
            <a:ext cx="10515600" cy="5284623"/>
          </a:xfrm>
        </p:spPr>
        <p:txBody>
          <a:bodyPr>
            <a:noAutofit/>
          </a:bodyPr>
          <a:lstStyle/>
          <a:p>
            <a:pPr lvl="0"/>
            <a:r>
              <a:rPr lang="en-US" dirty="0">
                <a:latin typeface="Times New Roman" panose="02020603050405020304" pitchFamily="18" charset="0"/>
                <a:cs typeface="Times New Roman" panose="02020603050405020304" pitchFamily="18" charset="0"/>
              </a:rPr>
              <a:t>Users</a:t>
            </a:r>
          </a:p>
          <a:p>
            <a:pPr lvl="1"/>
            <a:r>
              <a:rPr lang="en-US" sz="2800" dirty="0">
                <a:latin typeface="Times New Roman" panose="02020603050405020304" pitchFamily="18" charset="0"/>
                <a:cs typeface="Times New Roman" panose="02020603050405020304" pitchFamily="18" charset="0"/>
              </a:rPr>
              <a:t>IT Manager – person who works closely with CEO and execute tasks on a managerial level. Involves in policies, planning, project management and ensure all hardware peripherals to </a:t>
            </a:r>
            <a:r>
              <a:rPr lang="en-US" sz="2800" dirty="0" err="1">
                <a:latin typeface="Times New Roman" panose="02020603050405020304" pitchFamily="18" charset="0"/>
                <a:cs typeface="Times New Roman" panose="02020603050405020304" pitchFamily="18" charset="0"/>
              </a:rPr>
              <a:t>softwares</a:t>
            </a:r>
            <a:r>
              <a:rPr lang="en-US" sz="2800" dirty="0">
                <a:latin typeface="Times New Roman" panose="02020603050405020304" pitchFamily="18" charset="0"/>
                <a:cs typeface="Times New Roman" panose="02020603050405020304" pitchFamily="18" charset="0"/>
              </a:rPr>
              <a:t> are up and running smoothly.</a:t>
            </a:r>
          </a:p>
          <a:p>
            <a:pPr lvl="1"/>
            <a:r>
              <a:rPr lang="en-US" sz="2800" dirty="0">
                <a:latin typeface="Times New Roman" panose="02020603050405020304" pitchFamily="18" charset="0"/>
                <a:cs typeface="Times New Roman" panose="02020603050405020304" pitchFamily="18" charset="0"/>
              </a:rPr>
              <a:t>Programmer – person who is responsible to write codes for computer programs</a:t>
            </a:r>
          </a:p>
          <a:p>
            <a:pPr lvl="1"/>
            <a:r>
              <a:rPr lang="en-US" sz="2800" dirty="0">
                <a:latin typeface="Times New Roman" panose="02020603050405020304" pitchFamily="18" charset="0"/>
                <a:cs typeface="Times New Roman" panose="02020603050405020304" pitchFamily="18" charset="0"/>
              </a:rPr>
              <a:t>IT Administrator – ensure daily operations are routinely checked and runs smoothly.</a:t>
            </a:r>
          </a:p>
          <a:p>
            <a:pPr lvl="1"/>
            <a:r>
              <a:rPr lang="en-US" sz="2800" dirty="0">
                <a:latin typeface="Times New Roman" panose="02020603050405020304" pitchFamily="18" charset="0"/>
                <a:cs typeface="Times New Roman" panose="02020603050405020304" pitchFamily="18" charset="0"/>
              </a:rPr>
              <a:t>Users (employees) – people who use computer daily for data entry, processing, etc.</a:t>
            </a:r>
          </a:p>
          <a:p>
            <a:pPr marL="0" indent="0">
              <a:buNone/>
            </a:pPr>
            <a:endParaRPr lang="en-US" dirty="0">
              <a:latin typeface="Times New Roman" panose="02020603050405020304" pitchFamily="18" charset="0"/>
              <a:cs typeface="Times New Roman" panose="02020603050405020304" pitchFamily="18" charset="0"/>
            </a:endParaRPr>
          </a:p>
          <a:p>
            <a:pPr marL="0" lv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dirty="0" smtClean="0"/>
              <a:t>Prepared: by:  MS Odilia Tita</a:t>
            </a:r>
            <a:endParaRPr lang="en-AU" dirty="0"/>
          </a:p>
        </p:txBody>
      </p:sp>
    </p:spTree>
    <p:extLst>
      <p:ext uri="{BB962C8B-B14F-4D97-AF65-F5344CB8AC3E}">
        <p14:creationId xmlns:p14="http://schemas.microsoft.com/office/powerpoint/2010/main" val="398452590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3413"/>
          </a:xfrm>
        </p:spPr>
        <p:txBody>
          <a:bodyPr>
            <a:normAutofit fontScale="90000"/>
          </a:bodyPr>
          <a:lstStyle/>
          <a:p>
            <a:r>
              <a:rPr lang="en-US" b="1" dirty="0">
                <a:latin typeface="Times New Roman" panose="02020603050405020304" pitchFamily="18" charset="0"/>
                <a:cs typeface="Times New Roman" panose="02020603050405020304" pitchFamily="18" charset="0"/>
              </a:rPr>
              <a:t>Review Activities:</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1600" y="931333"/>
            <a:ext cx="12090400" cy="5425017"/>
          </a:xfrm>
        </p:spPr>
        <p:txBody>
          <a:bodyPr>
            <a:normAutofit fontScale="77500" lnSpcReduction="20000"/>
          </a:bodyPr>
          <a:lstStyle/>
          <a:p>
            <a:pPr marL="742950" lvl="0" indent="-742950">
              <a:buFont typeface="+mj-lt"/>
              <a:buAutoNum type="arabicPeriod"/>
            </a:pPr>
            <a:r>
              <a:rPr lang="en-US" sz="3600" dirty="0">
                <a:latin typeface="Times New Roman" panose="02020603050405020304" pitchFamily="18" charset="0"/>
                <a:cs typeface="Times New Roman" panose="02020603050405020304" pitchFamily="18" charset="0"/>
              </a:rPr>
              <a:t>Based on the Lecture covered, name the components that make up computer system.</a:t>
            </a:r>
          </a:p>
          <a:p>
            <a:pPr marL="742950" lvl="0" indent="-742950">
              <a:buFont typeface="+mj-lt"/>
              <a:buAutoNum type="arabicPeriod"/>
            </a:pPr>
            <a:r>
              <a:rPr lang="en-US" sz="3600" dirty="0">
                <a:latin typeface="Times New Roman" panose="02020603050405020304" pitchFamily="18" charset="0"/>
                <a:cs typeface="Times New Roman" panose="02020603050405020304" pitchFamily="18" charset="0"/>
              </a:rPr>
              <a:t>What is the “brain” of the computer called?</a:t>
            </a:r>
          </a:p>
          <a:p>
            <a:pPr marL="742950" lvl="0" indent="-742950">
              <a:buFont typeface="+mj-lt"/>
              <a:buAutoNum type="arabicPeriod"/>
            </a:pPr>
            <a:r>
              <a:rPr lang="en-US" sz="3600" dirty="0">
                <a:latin typeface="Times New Roman" panose="02020603050405020304" pitchFamily="18" charset="0"/>
                <a:cs typeface="Times New Roman" panose="02020603050405020304" pitchFamily="18" charset="0"/>
              </a:rPr>
              <a:t>Name and explain the three main parts of Central Processing Unit (ALU).</a:t>
            </a:r>
          </a:p>
          <a:p>
            <a:pPr marL="742950" lvl="0" indent="-742950">
              <a:buFont typeface="+mj-lt"/>
              <a:buAutoNum type="arabicPeriod"/>
            </a:pPr>
            <a:r>
              <a:rPr lang="en-US" sz="3600" dirty="0">
                <a:latin typeface="Times New Roman" panose="02020603050405020304" pitchFamily="18" charset="0"/>
                <a:cs typeface="Times New Roman" panose="02020603050405020304" pitchFamily="18" charset="0"/>
              </a:rPr>
              <a:t>Name two (2) internal types of memory.</a:t>
            </a:r>
          </a:p>
          <a:p>
            <a:pPr marL="742950" lvl="0" indent="-742950">
              <a:buFont typeface="+mj-lt"/>
              <a:buAutoNum type="arabicPeriod"/>
            </a:pPr>
            <a:r>
              <a:rPr lang="en-US" sz="3600" dirty="0">
                <a:latin typeface="Times New Roman" panose="02020603050405020304" pitchFamily="18" charset="0"/>
                <a:cs typeface="Times New Roman" panose="02020603050405020304" pitchFamily="18" charset="0"/>
              </a:rPr>
              <a:t>Provide three (3) characteristics each for two (2) internal types of memory in Question 4.</a:t>
            </a:r>
          </a:p>
          <a:p>
            <a:pPr marL="742950" lvl="0" indent="-742950">
              <a:buFont typeface="+mj-lt"/>
              <a:buAutoNum type="arabicPeriod"/>
            </a:pPr>
            <a:r>
              <a:rPr lang="en-US" sz="3600" dirty="0">
                <a:latin typeface="Times New Roman" panose="02020603050405020304" pitchFamily="18" charset="0"/>
                <a:cs typeface="Times New Roman" panose="02020603050405020304" pitchFamily="18" charset="0"/>
              </a:rPr>
              <a:t>Explain Input device and give three examples.</a:t>
            </a:r>
          </a:p>
          <a:p>
            <a:pPr marL="742950" lvl="0" indent="-742950">
              <a:buFont typeface="+mj-lt"/>
              <a:buAutoNum type="arabicPeriod"/>
            </a:pPr>
            <a:r>
              <a:rPr lang="en-US" sz="3600" dirty="0">
                <a:latin typeface="Times New Roman" panose="02020603050405020304" pitchFamily="18" charset="0"/>
                <a:cs typeface="Times New Roman" panose="02020603050405020304" pitchFamily="18" charset="0"/>
              </a:rPr>
              <a:t>Explain Output device and give three examples.</a:t>
            </a:r>
          </a:p>
          <a:p>
            <a:pPr marL="742950" lvl="0" indent="-742950">
              <a:buFont typeface="+mj-lt"/>
              <a:buAutoNum type="arabicPeriod"/>
            </a:pPr>
            <a:r>
              <a:rPr lang="en-US" sz="3600" dirty="0">
                <a:latin typeface="Times New Roman" panose="02020603050405020304" pitchFamily="18" charset="0"/>
                <a:cs typeface="Times New Roman" panose="02020603050405020304" pitchFamily="18" charset="0"/>
              </a:rPr>
              <a:t>Explain software.</a:t>
            </a:r>
          </a:p>
          <a:p>
            <a:pPr marL="742950" lvl="0" indent="-742950">
              <a:buFont typeface="+mj-lt"/>
              <a:buAutoNum type="arabicPeriod"/>
            </a:pPr>
            <a:r>
              <a:rPr lang="en-US" sz="3600" dirty="0">
                <a:latin typeface="Times New Roman" panose="02020603050405020304" pitchFamily="18" charset="0"/>
                <a:cs typeface="Times New Roman" panose="02020603050405020304" pitchFamily="18" charset="0"/>
              </a:rPr>
              <a:t>Provide explanation for System Software and give an example.</a:t>
            </a:r>
          </a:p>
          <a:p>
            <a:pPr marL="742950" lvl="0" indent="-742950">
              <a:buFont typeface="+mj-lt"/>
              <a:buAutoNum type="arabicPeriod"/>
            </a:pPr>
            <a:r>
              <a:rPr lang="en-US" sz="3600" dirty="0">
                <a:latin typeface="Times New Roman" panose="02020603050405020304" pitchFamily="18" charset="0"/>
                <a:cs typeface="Times New Roman" panose="02020603050405020304" pitchFamily="18" charset="0"/>
              </a:rPr>
              <a:t>What is the difference between operating system and application software?</a:t>
            </a:r>
          </a:p>
          <a:p>
            <a:pPr marL="742950" indent="-742950">
              <a:buFont typeface="+mj-lt"/>
              <a:buAutoNum type="arabicPeriod"/>
            </a:pPr>
            <a:r>
              <a:rPr lang="en-US" sz="3600" dirty="0">
                <a:latin typeface="Times New Roman" panose="02020603050405020304" pitchFamily="18" charset="0"/>
                <a:cs typeface="Times New Roman" panose="02020603050405020304" pitchFamily="18" charset="0"/>
              </a:rPr>
              <a:t>Provide two (2) examples each.</a:t>
            </a:r>
          </a:p>
          <a:p>
            <a:pPr marL="0" indent="0">
              <a:buNone/>
            </a:pPr>
            <a:endParaRPr lang="en-US" sz="3600" dirty="0">
              <a:latin typeface="Times New Roman" panose="02020603050405020304" pitchFamily="18" charset="0"/>
              <a:cs typeface="Times New Roman" panose="02020603050405020304" pitchFamily="18" charset="0"/>
            </a:endParaRPr>
          </a:p>
          <a:p>
            <a:pPr marL="0" indent="0">
              <a:buNone/>
            </a:pPr>
            <a:endParaRPr lang="en-US" sz="36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Tree>
    <p:extLst>
      <p:ext uri="{BB962C8B-B14F-4D97-AF65-F5344CB8AC3E}">
        <p14:creationId xmlns:p14="http://schemas.microsoft.com/office/powerpoint/2010/main" val="291521862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6000" dirty="0" smtClean="0">
                <a:latin typeface="French Script MT" panose="03020402040607040605" pitchFamily="66" charset="0"/>
              </a:rPr>
              <a:t>      </a:t>
            </a:r>
          </a:p>
          <a:p>
            <a:pPr marL="0" indent="0">
              <a:buNone/>
            </a:pPr>
            <a:endParaRPr lang="en-US" sz="6000" dirty="0">
              <a:latin typeface="French Script MT" panose="03020402040607040605" pitchFamily="66" charset="0"/>
            </a:endParaRPr>
          </a:p>
          <a:p>
            <a:pPr marL="0" indent="0">
              <a:buNone/>
            </a:pPr>
            <a:r>
              <a:rPr lang="en-US" sz="8000" dirty="0" smtClean="0">
                <a:latin typeface="French Script MT" panose="03020402040607040605" pitchFamily="66" charset="0"/>
              </a:rPr>
              <a:t>                 Thank you !!</a:t>
            </a:r>
            <a:endParaRPr lang="en-US" sz="8000" dirty="0">
              <a:latin typeface="French Script MT" panose="03020402040607040605" pitchFamily="66" charset="0"/>
            </a:endParaRPr>
          </a:p>
        </p:txBody>
      </p:sp>
      <p:sp>
        <p:nvSpPr>
          <p:cNvPr id="4" name="Footer Placeholder 3"/>
          <p:cNvSpPr>
            <a:spLocks noGrp="1"/>
          </p:cNvSpPr>
          <p:nvPr>
            <p:ph type="ftr" sz="quarter" idx="11"/>
          </p:nvPr>
        </p:nvSpPr>
        <p:spPr>
          <a:xfrm>
            <a:off x="-1101812" y="6587010"/>
            <a:ext cx="4114800" cy="365125"/>
          </a:xfrm>
        </p:spPr>
        <p:txBody>
          <a:bodyPr/>
          <a:lstStyle/>
          <a:p>
            <a:r>
              <a:rPr lang="en-US" sz="600" smtClean="0">
                <a:latin typeface="Comic Sans MS" panose="030F0702030302020204" pitchFamily="66" charset="0"/>
              </a:rPr>
              <a:t>Prepared: by:  MS Odilia Tita</a:t>
            </a:r>
            <a:endParaRPr lang="en-AU" sz="600" dirty="0">
              <a:latin typeface="Comic Sans MS" panose="030F0702030302020204" pitchFamily="66" charset="0"/>
            </a:endParaRPr>
          </a:p>
        </p:txBody>
      </p:sp>
    </p:spTree>
    <p:extLst>
      <p:ext uri="{BB962C8B-B14F-4D97-AF65-F5344CB8AC3E}">
        <p14:creationId xmlns:p14="http://schemas.microsoft.com/office/powerpoint/2010/main" val="3110934581"/>
      </p:ext>
    </p:extLst>
  </p:cSld>
  <p:clrMapOvr>
    <a:masterClrMapping/>
  </p:clrMapOvr>
  <p:timing>
    <p:tnLst>
      <p:par>
        <p:cTn id="1" dur="indefinite" restart="never" nodeType="tmRoot"/>
      </p:par>
    </p:tnLst>
  </p:timing>
</p:sld>
</file>

<file path=ppt/theme/theme1.xml><?xml version="1.0" encoding="utf-8"?>
<a:theme xmlns:a="http://schemas.openxmlformats.org/drawingml/2006/main" name="MyDefaultTheme_O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yDefaultTheme_OT" id="{A1DEA3AA-A025-45F4-9648-B44B7A75B5E1}" vid="{A0818E3B-E25B-4294-BE3F-438B523D40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MyDefaultTheme_OT</Template>
  <TotalTime>1851</TotalTime>
  <Words>3113</Words>
  <Application>Microsoft Office PowerPoint</Application>
  <PresentationFormat>Widescreen</PresentationFormat>
  <Paragraphs>219</Paragraphs>
  <Slides>29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Calibri</vt:lpstr>
      <vt:lpstr>Calibri Light</vt:lpstr>
      <vt:lpstr>Comic Sans MS</vt:lpstr>
      <vt:lpstr>French Script MT</vt:lpstr>
      <vt:lpstr>Times New Roman</vt:lpstr>
      <vt:lpstr>Wingdings</vt:lpstr>
      <vt:lpstr>MyDefaultTheme_OT</vt:lpstr>
      <vt:lpstr>Computer Components System</vt:lpstr>
      <vt:lpstr>LEARNING OUTCOMES</vt:lpstr>
      <vt:lpstr>INTRODUCTION</vt:lpstr>
      <vt:lpstr>1.Central Processing Unit (CPU)</vt:lpstr>
      <vt:lpstr>Three (3) main Components of the CPU</vt:lpstr>
      <vt:lpstr>Inside the CPU</vt:lpstr>
      <vt:lpstr>2.Memory</vt:lpstr>
      <vt:lpstr>PowerPoint Presentation</vt:lpstr>
      <vt:lpstr>Memory Types</vt:lpstr>
      <vt:lpstr>PowerPoint Presentation</vt:lpstr>
      <vt:lpstr>PowerPoint Presentation</vt:lpstr>
      <vt:lpstr>Secondary Memory</vt:lpstr>
      <vt:lpstr>Storage Types</vt:lpstr>
      <vt:lpstr>3.Input Devices</vt:lpstr>
      <vt:lpstr>PowerPoint Presentation</vt:lpstr>
      <vt:lpstr>4.Output Devices</vt:lpstr>
      <vt:lpstr>5.Software</vt:lpstr>
      <vt:lpstr>System Software</vt:lpstr>
      <vt:lpstr>Operating System (OS)</vt:lpstr>
      <vt:lpstr>Different types of Operating Systems (OS)</vt:lpstr>
      <vt:lpstr>Drivers Software</vt:lpstr>
      <vt:lpstr>Application Software</vt:lpstr>
      <vt:lpstr>Other Software</vt:lpstr>
      <vt:lpstr>6. Users</vt:lpstr>
      <vt:lpstr>Summary </vt:lpstr>
      <vt:lpstr>PowerPoint Presentation</vt:lpstr>
      <vt:lpstr>PowerPoint Presentation</vt:lpstr>
      <vt:lpstr>Review Activities: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EXPLORE MICROSOFT WORD 2013</dc:title>
  <dc:creator>varvaralucy@gmail.com</dc:creator>
  <cp:lastModifiedBy>Odilia Tita</cp:lastModifiedBy>
  <cp:revision>281</cp:revision>
  <dcterms:created xsi:type="dcterms:W3CDTF">2025-02-22T07:55:09Z</dcterms:created>
  <dcterms:modified xsi:type="dcterms:W3CDTF">2026-02-11T00:00:48Z</dcterms:modified>
</cp:coreProperties>
</file>
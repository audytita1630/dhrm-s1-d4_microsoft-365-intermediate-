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2" r:id="rId1"/>
  </p:sldMasterIdLst>
  <p:notesMasterIdLst>
    <p:notesMasterId r:id="rId34"/>
  </p:notesMasterIdLst>
  <p:sldIdLst>
    <p:sldId id="256" r:id="rId2"/>
    <p:sldId id="257" r:id="rId3"/>
    <p:sldId id="260" r:id="rId4"/>
    <p:sldId id="320" r:id="rId5"/>
    <p:sldId id="286" r:id="rId6"/>
    <p:sldId id="337" r:id="rId7"/>
    <p:sldId id="338" r:id="rId8"/>
    <p:sldId id="339" r:id="rId9"/>
    <p:sldId id="321" r:id="rId10"/>
    <p:sldId id="327" r:id="rId11"/>
    <p:sldId id="329" r:id="rId12"/>
    <p:sldId id="328" r:id="rId13"/>
    <p:sldId id="330" r:id="rId14"/>
    <p:sldId id="331" r:id="rId15"/>
    <p:sldId id="333" r:id="rId16"/>
    <p:sldId id="332" r:id="rId17"/>
    <p:sldId id="334" r:id="rId18"/>
    <p:sldId id="335" r:id="rId19"/>
    <p:sldId id="336" r:id="rId20"/>
    <p:sldId id="322" r:id="rId21"/>
    <p:sldId id="340" r:id="rId22"/>
    <p:sldId id="341" r:id="rId23"/>
    <p:sldId id="342" r:id="rId24"/>
    <p:sldId id="323" r:id="rId25"/>
    <p:sldId id="324" r:id="rId26"/>
    <p:sldId id="326" r:id="rId27"/>
    <p:sldId id="311" r:id="rId28"/>
    <p:sldId id="314" r:id="rId29"/>
    <p:sldId id="312" r:id="rId30"/>
    <p:sldId id="343" r:id="rId31"/>
    <p:sldId id="344" r:id="rId32"/>
    <p:sldId id="28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113" d="100"/>
          <a:sy n="113" d="100"/>
        </p:scale>
        <p:origin x="43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C435A0-05A6-4E3D-A695-69D15BC0F411}" type="datetimeFigureOut">
              <a:rPr lang="en-US" smtClean="0"/>
              <a:t>2/11/2026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D7D4A-EB5D-4399-81B0-DAC8D15ECA56}" type="slidenum">
              <a:rPr lang="en-US" smtClean="0"/>
              <a:t>‹#›</a:t>
            </a:fld>
            <a:endParaRPr lang="en-US"/>
          </a:p>
        </p:txBody>
      </p:sp>
    </p:spTree>
    <p:extLst>
      <p:ext uri="{BB962C8B-B14F-4D97-AF65-F5344CB8AC3E}">
        <p14:creationId xmlns:p14="http://schemas.microsoft.com/office/powerpoint/2010/main" val="1596301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DD7D4A-EB5D-4399-81B0-DAC8D15ECA56}" type="slidenum">
              <a:rPr lang="en-US" smtClean="0"/>
              <a:t>3</a:t>
            </a:fld>
            <a:endParaRPr lang="en-US"/>
          </a:p>
        </p:txBody>
      </p:sp>
    </p:spTree>
    <p:extLst>
      <p:ext uri="{BB962C8B-B14F-4D97-AF65-F5344CB8AC3E}">
        <p14:creationId xmlns:p14="http://schemas.microsoft.com/office/powerpoint/2010/main" val="2613348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DD7D4A-EB5D-4399-81B0-DAC8D15ECA56}" type="slidenum">
              <a:rPr lang="en-US" smtClean="0"/>
              <a:t>4</a:t>
            </a:fld>
            <a:endParaRPr lang="en-US"/>
          </a:p>
        </p:txBody>
      </p:sp>
    </p:spTree>
    <p:extLst>
      <p:ext uri="{BB962C8B-B14F-4D97-AF65-F5344CB8AC3E}">
        <p14:creationId xmlns:p14="http://schemas.microsoft.com/office/powerpoint/2010/main" val="1041532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DD7D4A-EB5D-4399-81B0-DAC8D15ECA56}" type="slidenum">
              <a:rPr lang="en-US" smtClean="0"/>
              <a:t>29</a:t>
            </a:fld>
            <a:endParaRPr lang="en-US"/>
          </a:p>
        </p:txBody>
      </p:sp>
    </p:spTree>
    <p:extLst>
      <p:ext uri="{BB962C8B-B14F-4D97-AF65-F5344CB8AC3E}">
        <p14:creationId xmlns:p14="http://schemas.microsoft.com/office/powerpoint/2010/main" val="486331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DD7D4A-EB5D-4399-81B0-DAC8D15ECA56}" type="slidenum">
              <a:rPr lang="en-US" smtClean="0"/>
              <a:t>30</a:t>
            </a:fld>
            <a:endParaRPr lang="en-US"/>
          </a:p>
        </p:txBody>
      </p:sp>
    </p:spTree>
    <p:extLst>
      <p:ext uri="{BB962C8B-B14F-4D97-AF65-F5344CB8AC3E}">
        <p14:creationId xmlns:p14="http://schemas.microsoft.com/office/powerpoint/2010/main" val="2176855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5E4670-AD95-46B7-9A52-596AE1E331A2}"/>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a:extLst>
              <a:ext uri="{FF2B5EF4-FFF2-40B4-BE49-F238E27FC236}">
                <a16:creationId xmlns="" xmlns:a16="http://schemas.microsoft.com/office/drawing/2014/main" id="{D2B17232-6D27-4880-BB26-A246053722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a:extLst>
              <a:ext uri="{FF2B5EF4-FFF2-40B4-BE49-F238E27FC236}">
                <a16:creationId xmlns="" xmlns:a16="http://schemas.microsoft.com/office/drawing/2014/main" id="{3330B3D7-6C5F-4C20-B82C-0E0E8A9718ED}"/>
              </a:ext>
            </a:extLst>
          </p:cNvPr>
          <p:cNvSpPr>
            <a:spLocks noGrp="1"/>
          </p:cNvSpPr>
          <p:nvPr>
            <p:ph type="dt" sz="half" idx="10"/>
          </p:nvPr>
        </p:nvSpPr>
        <p:spPr/>
        <p:txBody>
          <a:bodyPr/>
          <a:lstStyle/>
          <a:p>
            <a:fld id="{7837D738-231B-4137-AFBB-E208830310AD}" type="datetime1">
              <a:rPr lang="en-AU" smtClean="0"/>
              <a:t>11/02/2026</a:t>
            </a:fld>
            <a:endParaRPr lang="en-AU" dirty="0"/>
          </a:p>
        </p:txBody>
      </p:sp>
      <p:sp>
        <p:nvSpPr>
          <p:cNvPr id="5" name="Footer Placeholder 4">
            <a:extLst>
              <a:ext uri="{FF2B5EF4-FFF2-40B4-BE49-F238E27FC236}">
                <a16:creationId xmlns="" xmlns:a16="http://schemas.microsoft.com/office/drawing/2014/main" id="{A4F30039-619F-4A9B-A120-B763218CD7B7}"/>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C111A03D-DB6F-4B4F-BF5C-065580485CA1}"/>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955438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E382C6-B5C9-487E-B837-D93B0F6EB575}"/>
              </a:ext>
            </a:extLst>
          </p:cNvPr>
          <p:cNvSpPr>
            <a:spLocks noGrp="1"/>
          </p:cNvSpPr>
          <p:nvPr>
            <p:ph type="title"/>
          </p:nvPr>
        </p:nvSpPr>
        <p:spPr/>
        <p:txBody>
          <a:bodyPr/>
          <a:lstStyle/>
          <a:p>
            <a:r>
              <a:rPr lang="en-US" smtClean="0"/>
              <a:t>Click to edit Master title style</a:t>
            </a:r>
            <a:endParaRPr lang="en-AU"/>
          </a:p>
        </p:txBody>
      </p:sp>
      <p:sp>
        <p:nvSpPr>
          <p:cNvPr id="3" name="Content Placeholder 2">
            <a:extLst>
              <a:ext uri="{FF2B5EF4-FFF2-40B4-BE49-F238E27FC236}">
                <a16:creationId xmlns="" xmlns:a16="http://schemas.microsoft.com/office/drawing/2014/main" id="{C20132B7-B07F-4951-B5F0-42EBA8BA9FCE}"/>
              </a:ext>
            </a:extLst>
          </p:cNvPr>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 xmlns:a16="http://schemas.microsoft.com/office/drawing/2014/main" id="{6E28A284-B674-4D73-89A1-51C986E3E124}"/>
              </a:ext>
            </a:extLst>
          </p:cNvPr>
          <p:cNvSpPr>
            <a:spLocks noGrp="1"/>
          </p:cNvSpPr>
          <p:nvPr>
            <p:ph type="dt" sz="half" idx="10"/>
          </p:nvPr>
        </p:nvSpPr>
        <p:spPr/>
        <p:txBody>
          <a:bodyPr/>
          <a:lstStyle/>
          <a:p>
            <a:fld id="{A15E7899-C063-4FFB-98FA-5C6CDDB84651}" type="datetime1">
              <a:rPr lang="en-AU" smtClean="0"/>
              <a:t>11/02/2026</a:t>
            </a:fld>
            <a:endParaRPr lang="en-AU" dirty="0"/>
          </a:p>
        </p:txBody>
      </p:sp>
      <p:sp>
        <p:nvSpPr>
          <p:cNvPr id="5" name="Footer Placeholder 4">
            <a:extLst>
              <a:ext uri="{FF2B5EF4-FFF2-40B4-BE49-F238E27FC236}">
                <a16:creationId xmlns="" xmlns:a16="http://schemas.microsoft.com/office/drawing/2014/main" id="{744BE9FB-B69B-4606-A768-CF39C62CC529}"/>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99D61227-F6A6-490E-8D00-8D8E37BB697E}"/>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2788751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DAADB6A-FE4D-44EB-9C13-40FA216F8BBD}"/>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a:extLst>
              <a:ext uri="{FF2B5EF4-FFF2-40B4-BE49-F238E27FC236}">
                <a16:creationId xmlns="" xmlns:a16="http://schemas.microsoft.com/office/drawing/2014/main" id="{5E3C6F31-AE4A-4712-AD26-2D9DF670EC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a:extLst>
              <a:ext uri="{FF2B5EF4-FFF2-40B4-BE49-F238E27FC236}">
                <a16:creationId xmlns="" xmlns:a16="http://schemas.microsoft.com/office/drawing/2014/main" id="{446C299C-933F-4603-BFD4-2E56C373E40E}"/>
              </a:ext>
            </a:extLst>
          </p:cNvPr>
          <p:cNvSpPr>
            <a:spLocks noGrp="1"/>
          </p:cNvSpPr>
          <p:nvPr>
            <p:ph type="dt" sz="half" idx="10"/>
          </p:nvPr>
        </p:nvSpPr>
        <p:spPr/>
        <p:txBody>
          <a:bodyPr/>
          <a:lstStyle/>
          <a:p>
            <a:fld id="{1E776595-8423-4E3F-8D9F-E972C5096BEF}" type="datetime1">
              <a:rPr lang="en-AU" smtClean="0"/>
              <a:t>11/02/2026</a:t>
            </a:fld>
            <a:endParaRPr lang="en-AU" dirty="0"/>
          </a:p>
        </p:txBody>
      </p:sp>
      <p:sp>
        <p:nvSpPr>
          <p:cNvPr id="5" name="Footer Placeholder 4">
            <a:extLst>
              <a:ext uri="{FF2B5EF4-FFF2-40B4-BE49-F238E27FC236}">
                <a16:creationId xmlns="" xmlns:a16="http://schemas.microsoft.com/office/drawing/2014/main" id="{AECE724F-8A4E-499C-8DE2-B2AA4E93F370}"/>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77AAFE4A-F239-41B1-BB8F-7D15CC0469E8}"/>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900961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CC352C-A92F-459E-8295-42C9F909458A}"/>
              </a:ext>
            </a:extLst>
          </p:cNvPr>
          <p:cNvSpPr>
            <a:spLocks noGrp="1"/>
          </p:cNvSpPr>
          <p:nvPr>
            <p:ph type="title"/>
          </p:nvPr>
        </p:nvSpPr>
        <p:spPr/>
        <p:txBody>
          <a:bodyPr/>
          <a:lstStyle/>
          <a:p>
            <a:r>
              <a:rPr lang="en-US" smtClean="0"/>
              <a:t>Click to edit Master title style</a:t>
            </a:r>
            <a:endParaRPr lang="en-AU"/>
          </a:p>
        </p:txBody>
      </p:sp>
      <p:sp>
        <p:nvSpPr>
          <p:cNvPr id="3" name="Content Placeholder 2">
            <a:extLst>
              <a:ext uri="{FF2B5EF4-FFF2-40B4-BE49-F238E27FC236}">
                <a16:creationId xmlns="" xmlns:a16="http://schemas.microsoft.com/office/drawing/2014/main" id="{104CAD08-C80E-4DC4-8BF1-484EFCB95492}"/>
              </a:ext>
            </a:extLst>
          </p:cNvPr>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a:extLst>
              <a:ext uri="{FF2B5EF4-FFF2-40B4-BE49-F238E27FC236}">
                <a16:creationId xmlns="" xmlns:a16="http://schemas.microsoft.com/office/drawing/2014/main" id="{BABE14A2-7777-43C2-866C-C59E7D78E3A8}"/>
              </a:ext>
            </a:extLst>
          </p:cNvPr>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a:extLst>
              <a:ext uri="{FF2B5EF4-FFF2-40B4-BE49-F238E27FC236}">
                <a16:creationId xmlns="" xmlns:a16="http://schemas.microsoft.com/office/drawing/2014/main" id="{225B84CF-92BA-4600-BB97-0E67F8C4B28F}"/>
              </a:ext>
            </a:extLst>
          </p:cNvPr>
          <p:cNvSpPr>
            <a:spLocks noGrp="1"/>
          </p:cNvSpPr>
          <p:nvPr>
            <p:ph type="dt" sz="half" idx="10"/>
          </p:nvPr>
        </p:nvSpPr>
        <p:spPr/>
        <p:txBody>
          <a:bodyPr/>
          <a:lstStyle/>
          <a:p>
            <a:fld id="{453646E8-EA7F-49D7-A1AE-52344025FD1D}" type="datetime1">
              <a:rPr lang="en-AU" smtClean="0"/>
              <a:t>11/02/2026</a:t>
            </a:fld>
            <a:endParaRPr lang="en-AU" dirty="0"/>
          </a:p>
        </p:txBody>
      </p:sp>
      <p:sp>
        <p:nvSpPr>
          <p:cNvPr id="6" name="Footer Placeholder 5">
            <a:extLst>
              <a:ext uri="{FF2B5EF4-FFF2-40B4-BE49-F238E27FC236}">
                <a16:creationId xmlns="" xmlns:a16="http://schemas.microsoft.com/office/drawing/2014/main" id="{8206C079-8FD5-48B3-9592-FB66A327DE82}"/>
              </a:ext>
            </a:extLst>
          </p:cNvPr>
          <p:cNvSpPr>
            <a:spLocks noGrp="1"/>
          </p:cNvSpPr>
          <p:nvPr>
            <p:ph type="ftr" sz="quarter" idx="11"/>
          </p:nvPr>
        </p:nvSpPr>
        <p:spPr/>
        <p:txBody>
          <a:bodyPr/>
          <a:lstStyle/>
          <a:p>
            <a:r>
              <a:rPr lang="en-US" smtClean="0"/>
              <a:t>Prepared: by:  MS Odilia Tita</a:t>
            </a:r>
            <a:endParaRPr lang="en-AU" dirty="0"/>
          </a:p>
        </p:txBody>
      </p:sp>
      <p:sp>
        <p:nvSpPr>
          <p:cNvPr id="7" name="Slide Number Placeholder 6">
            <a:extLst>
              <a:ext uri="{FF2B5EF4-FFF2-40B4-BE49-F238E27FC236}">
                <a16:creationId xmlns="" xmlns:a16="http://schemas.microsoft.com/office/drawing/2014/main" id="{6BA13483-38F4-419D-880C-5A48E831CE10}"/>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139740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6AE3D4-E4F8-41CB-9937-F58F39C021AC}"/>
              </a:ext>
            </a:extLst>
          </p:cNvPr>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a:extLst>
              <a:ext uri="{FF2B5EF4-FFF2-40B4-BE49-F238E27FC236}">
                <a16:creationId xmlns="" xmlns:a16="http://schemas.microsoft.com/office/drawing/2014/main" id="{62691A98-FFD5-459F-9A51-BCD0BA177B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a:extLst>
              <a:ext uri="{FF2B5EF4-FFF2-40B4-BE49-F238E27FC236}">
                <a16:creationId xmlns="" xmlns:a16="http://schemas.microsoft.com/office/drawing/2014/main" id="{8953A882-8991-4857-8D00-05762422191A}"/>
              </a:ext>
            </a:extLst>
          </p:cNvPr>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a:extLst>
              <a:ext uri="{FF2B5EF4-FFF2-40B4-BE49-F238E27FC236}">
                <a16:creationId xmlns="" xmlns:a16="http://schemas.microsoft.com/office/drawing/2014/main" id="{B81E7EAF-8E32-4FEB-B408-58B11868A5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a:extLst>
              <a:ext uri="{FF2B5EF4-FFF2-40B4-BE49-F238E27FC236}">
                <a16:creationId xmlns="" xmlns:a16="http://schemas.microsoft.com/office/drawing/2014/main" id="{86293D60-712D-43B4-8841-D8F0B7EDDB85}"/>
              </a:ext>
            </a:extLst>
          </p:cNvPr>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a:extLst>
              <a:ext uri="{FF2B5EF4-FFF2-40B4-BE49-F238E27FC236}">
                <a16:creationId xmlns="" xmlns:a16="http://schemas.microsoft.com/office/drawing/2014/main" id="{B33F8219-C996-47C5-B59F-D4A02ED5C07F}"/>
              </a:ext>
            </a:extLst>
          </p:cNvPr>
          <p:cNvSpPr>
            <a:spLocks noGrp="1"/>
          </p:cNvSpPr>
          <p:nvPr>
            <p:ph type="dt" sz="half" idx="10"/>
          </p:nvPr>
        </p:nvSpPr>
        <p:spPr/>
        <p:txBody>
          <a:bodyPr/>
          <a:lstStyle/>
          <a:p>
            <a:fld id="{249A4B24-AD6E-4B47-9872-8FFA29E2CC48}" type="datetime1">
              <a:rPr lang="en-AU" smtClean="0"/>
              <a:t>11/02/2026</a:t>
            </a:fld>
            <a:endParaRPr lang="en-AU" dirty="0"/>
          </a:p>
        </p:txBody>
      </p:sp>
      <p:sp>
        <p:nvSpPr>
          <p:cNvPr id="8" name="Footer Placeholder 7">
            <a:extLst>
              <a:ext uri="{FF2B5EF4-FFF2-40B4-BE49-F238E27FC236}">
                <a16:creationId xmlns="" xmlns:a16="http://schemas.microsoft.com/office/drawing/2014/main" id="{A919DD82-B2A3-4778-A953-650075C747FA}"/>
              </a:ext>
            </a:extLst>
          </p:cNvPr>
          <p:cNvSpPr>
            <a:spLocks noGrp="1"/>
          </p:cNvSpPr>
          <p:nvPr>
            <p:ph type="ftr" sz="quarter" idx="11"/>
          </p:nvPr>
        </p:nvSpPr>
        <p:spPr/>
        <p:txBody>
          <a:bodyPr/>
          <a:lstStyle/>
          <a:p>
            <a:r>
              <a:rPr lang="en-US" smtClean="0"/>
              <a:t>Prepared: by:  MS Odilia Tita</a:t>
            </a:r>
            <a:endParaRPr lang="en-AU" dirty="0"/>
          </a:p>
        </p:txBody>
      </p:sp>
      <p:sp>
        <p:nvSpPr>
          <p:cNvPr id="9" name="Slide Number Placeholder 8">
            <a:extLst>
              <a:ext uri="{FF2B5EF4-FFF2-40B4-BE49-F238E27FC236}">
                <a16:creationId xmlns="" xmlns:a16="http://schemas.microsoft.com/office/drawing/2014/main" id="{6BB01E8D-DA65-4F3E-9AA7-7FA8BA648324}"/>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303295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4E9AB93-0BFE-4F5E-8F94-194268897F5E}"/>
              </a:ext>
            </a:extLst>
          </p:cNvPr>
          <p:cNvSpPr>
            <a:spLocks noGrp="1"/>
          </p:cNvSpPr>
          <p:nvPr>
            <p:ph type="title"/>
          </p:nvPr>
        </p:nvSpPr>
        <p:spPr/>
        <p:txBody>
          <a:bodyPr/>
          <a:lstStyle/>
          <a:p>
            <a:r>
              <a:rPr lang="en-US" smtClean="0"/>
              <a:t>Click to edit Master title style</a:t>
            </a:r>
            <a:endParaRPr lang="en-AU"/>
          </a:p>
        </p:txBody>
      </p:sp>
      <p:sp>
        <p:nvSpPr>
          <p:cNvPr id="3" name="Date Placeholder 2">
            <a:extLst>
              <a:ext uri="{FF2B5EF4-FFF2-40B4-BE49-F238E27FC236}">
                <a16:creationId xmlns="" xmlns:a16="http://schemas.microsoft.com/office/drawing/2014/main" id="{E1EE3202-5147-45DC-B62C-6B22E34BFE2F}"/>
              </a:ext>
            </a:extLst>
          </p:cNvPr>
          <p:cNvSpPr>
            <a:spLocks noGrp="1"/>
          </p:cNvSpPr>
          <p:nvPr>
            <p:ph type="dt" sz="half" idx="10"/>
          </p:nvPr>
        </p:nvSpPr>
        <p:spPr/>
        <p:txBody>
          <a:bodyPr/>
          <a:lstStyle/>
          <a:p>
            <a:fld id="{C9CC42E4-77CA-4AD5-8EAD-A489F03C536B}" type="datetime1">
              <a:rPr lang="en-AU" smtClean="0"/>
              <a:t>11/02/2026</a:t>
            </a:fld>
            <a:endParaRPr lang="en-AU" dirty="0"/>
          </a:p>
        </p:txBody>
      </p:sp>
      <p:sp>
        <p:nvSpPr>
          <p:cNvPr id="4" name="Footer Placeholder 3">
            <a:extLst>
              <a:ext uri="{FF2B5EF4-FFF2-40B4-BE49-F238E27FC236}">
                <a16:creationId xmlns="" xmlns:a16="http://schemas.microsoft.com/office/drawing/2014/main" id="{5BAD23C6-6E37-4B73-B974-65238C9D3DF7}"/>
              </a:ext>
            </a:extLst>
          </p:cNvPr>
          <p:cNvSpPr>
            <a:spLocks noGrp="1"/>
          </p:cNvSpPr>
          <p:nvPr>
            <p:ph type="ftr" sz="quarter" idx="11"/>
          </p:nvPr>
        </p:nvSpPr>
        <p:spPr/>
        <p:txBody>
          <a:bodyPr/>
          <a:lstStyle/>
          <a:p>
            <a:r>
              <a:rPr lang="en-US" smtClean="0"/>
              <a:t>Prepared: by:  MS Odilia Tita</a:t>
            </a:r>
            <a:endParaRPr lang="en-AU" dirty="0"/>
          </a:p>
        </p:txBody>
      </p:sp>
      <p:sp>
        <p:nvSpPr>
          <p:cNvPr id="5" name="Slide Number Placeholder 4">
            <a:extLst>
              <a:ext uri="{FF2B5EF4-FFF2-40B4-BE49-F238E27FC236}">
                <a16:creationId xmlns="" xmlns:a16="http://schemas.microsoft.com/office/drawing/2014/main" id="{41C7D3D2-131C-4C01-A00D-199AD57938EC}"/>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204871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D609F64D-F916-4AD2-AA97-8526D6E8F6D1}"/>
              </a:ext>
            </a:extLst>
          </p:cNvPr>
          <p:cNvSpPr>
            <a:spLocks noGrp="1"/>
          </p:cNvSpPr>
          <p:nvPr>
            <p:ph type="dt" sz="half" idx="10"/>
          </p:nvPr>
        </p:nvSpPr>
        <p:spPr/>
        <p:txBody>
          <a:bodyPr/>
          <a:lstStyle/>
          <a:p>
            <a:fld id="{4604D1E3-56ED-46EF-AF58-E40027A4BE66}" type="datetime1">
              <a:rPr lang="en-AU" smtClean="0"/>
              <a:t>11/02/2026</a:t>
            </a:fld>
            <a:endParaRPr lang="en-AU" dirty="0"/>
          </a:p>
        </p:txBody>
      </p:sp>
      <p:sp>
        <p:nvSpPr>
          <p:cNvPr id="3" name="Footer Placeholder 2">
            <a:extLst>
              <a:ext uri="{FF2B5EF4-FFF2-40B4-BE49-F238E27FC236}">
                <a16:creationId xmlns="" xmlns:a16="http://schemas.microsoft.com/office/drawing/2014/main" id="{EA3A7BA7-B751-40E4-A753-41AFC914B576}"/>
              </a:ext>
            </a:extLst>
          </p:cNvPr>
          <p:cNvSpPr>
            <a:spLocks noGrp="1"/>
          </p:cNvSpPr>
          <p:nvPr>
            <p:ph type="ftr" sz="quarter" idx="11"/>
          </p:nvPr>
        </p:nvSpPr>
        <p:spPr/>
        <p:txBody>
          <a:bodyPr/>
          <a:lstStyle/>
          <a:p>
            <a:r>
              <a:rPr lang="en-US" smtClean="0"/>
              <a:t>Prepared: by:  MS Odilia Tita</a:t>
            </a:r>
            <a:endParaRPr lang="en-AU" dirty="0"/>
          </a:p>
        </p:txBody>
      </p:sp>
      <p:sp>
        <p:nvSpPr>
          <p:cNvPr id="4" name="Slide Number Placeholder 3">
            <a:extLst>
              <a:ext uri="{FF2B5EF4-FFF2-40B4-BE49-F238E27FC236}">
                <a16:creationId xmlns="" xmlns:a16="http://schemas.microsoft.com/office/drawing/2014/main" id="{3350BE4C-6B89-4E18-82BA-EACF7C147E54}"/>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1939572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9912755-7036-4DA8-B325-FF8B9D708C93}"/>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a:extLst>
              <a:ext uri="{FF2B5EF4-FFF2-40B4-BE49-F238E27FC236}">
                <a16:creationId xmlns="" xmlns:a16="http://schemas.microsoft.com/office/drawing/2014/main" id="{0D6FDA57-29DF-4353-8B29-E6BF3925CB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a:extLst>
              <a:ext uri="{FF2B5EF4-FFF2-40B4-BE49-F238E27FC236}">
                <a16:creationId xmlns="" xmlns:a16="http://schemas.microsoft.com/office/drawing/2014/main" id="{6F711719-3649-4BC7-9563-ED86A4811F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a:extLst>
              <a:ext uri="{FF2B5EF4-FFF2-40B4-BE49-F238E27FC236}">
                <a16:creationId xmlns="" xmlns:a16="http://schemas.microsoft.com/office/drawing/2014/main" id="{913CABE3-7792-4B8E-B452-C70D54148074}"/>
              </a:ext>
            </a:extLst>
          </p:cNvPr>
          <p:cNvSpPr>
            <a:spLocks noGrp="1"/>
          </p:cNvSpPr>
          <p:nvPr>
            <p:ph type="dt" sz="half" idx="10"/>
          </p:nvPr>
        </p:nvSpPr>
        <p:spPr/>
        <p:txBody>
          <a:bodyPr/>
          <a:lstStyle/>
          <a:p>
            <a:fld id="{E605D6C3-87DC-46E2-8A6A-C4E9B5BE6A35}" type="datetime1">
              <a:rPr lang="en-AU" smtClean="0"/>
              <a:t>11/02/2026</a:t>
            </a:fld>
            <a:endParaRPr lang="en-AU" dirty="0"/>
          </a:p>
        </p:txBody>
      </p:sp>
      <p:sp>
        <p:nvSpPr>
          <p:cNvPr id="6" name="Footer Placeholder 5">
            <a:extLst>
              <a:ext uri="{FF2B5EF4-FFF2-40B4-BE49-F238E27FC236}">
                <a16:creationId xmlns="" xmlns:a16="http://schemas.microsoft.com/office/drawing/2014/main" id="{8B07BDFD-2D70-41A3-A103-74A4B4581EC2}"/>
              </a:ext>
            </a:extLst>
          </p:cNvPr>
          <p:cNvSpPr>
            <a:spLocks noGrp="1"/>
          </p:cNvSpPr>
          <p:nvPr>
            <p:ph type="ftr" sz="quarter" idx="11"/>
          </p:nvPr>
        </p:nvSpPr>
        <p:spPr/>
        <p:txBody>
          <a:bodyPr/>
          <a:lstStyle/>
          <a:p>
            <a:r>
              <a:rPr lang="en-US" smtClean="0"/>
              <a:t>Prepared: by:  MS Odilia Tita</a:t>
            </a:r>
            <a:endParaRPr lang="en-AU" dirty="0"/>
          </a:p>
        </p:txBody>
      </p:sp>
      <p:sp>
        <p:nvSpPr>
          <p:cNvPr id="7" name="Slide Number Placeholder 6">
            <a:extLst>
              <a:ext uri="{FF2B5EF4-FFF2-40B4-BE49-F238E27FC236}">
                <a16:creationId xmlns="" xmlns:a16="http://schemas.microsoft.com/office/drawing/2014/main" id="{0A2F4A47-C532-4754-B1C9-E7BC4718F1E8}"/>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1849634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C7900A-4D67-470B-9904-9CE42350F052}"/>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a:extLst>
              <a:ext uri="{FF2B5EF4-FFF2-40B4-BE49-F238E27FC236}">
                <a16:creationId xmlns="" xmlns:a16="http://schemas.microsoft.com/office/drawing/2014/main" id="{0D818930-0BE7-4C91-A666-438B65F29D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AU" dirty="0"/>
          </a:p>
        </p:txBody>
      </p:sp>
      <p:sp>
        <p:nvSpPr>
          <p:cNvPr id="4" name="Text Placeholder 3">
            <a:extLst>
              <a:ext uri="{FF2B5EF4-FFF2-40B4-BE49-F238E27FC236}">
                <a16:creationId xmlns="" xmlns:a16="http://schemas.microsoft.com/office/drawing/2014/main" id="{8DB7C0B8-B5B0-4343-9DB0-25BDA6E947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a:extLst>
              <a:ext uri="{FF2B5EF4-FFF2-40B4-BE49-F238E27FC236}">
                <a16:creationId xmlns="" xmlns:a16="http://schemas.microsoft.com/office/drawing/2014/main" id="{AB7057FE-F08B-4694-8A9E-FEDAB6D8E962}"/>
              </a:ext>
            </a:extLst>
          </p:cNvPr>
          <p:cNvSpPr>
            <a:spLocks noGrp="1"/>
          </p:cNvSpPr>
          <p:nvPr>
            <p:ph type="dt" sz="half" idx="10"/>
          </p:nvPr>
        </p:nvSpPr>
        <p:spPr/>
        <p:txBody>
          <a:bodyPr/>
          <a:lstStyle/>
          <a:p>
            <a:fld id="{681B6472-9C52-4A1E-878C-6E299B92CF53}" type="datetime1">
              <a:rPr lang="en-AU" smtClean="0"/>
              <a:t>11/02/2026</a:t>
            </a:fld>
            <a:endParaRPr lang="en-AU" dirty="0"/>
          </a:p>
        </p:txBody>
      </p:sp>
      <p:sp>
        <p:nvSpPr>
          <p:cNvPr id="6" name="Footer Placeholder 5">
            <a:extLst>
              <a:ext uri="{FF2B5EF4-FFF2-40B4-BE49-F238E27FC236}">
                <a16:creationId xmlns="" xmlns:a16="http://schemas.microsoft.com/office/drawing/2014/main" id="{B34A8BFC-745D-4BBC-BFD0-AF0492B6A35E}"/>
              </a:ext>
            </a:extLst>
          </p:cNvPr>
          <p:cNvSpPr>
            <a:spLocks noGrp="1"/>
          </p:cNvSpPr>
          <p:nvPr>
            <p:ph type="ftr" sz="quarter" idx="11"/>
          </p:nvPr>
        </p:nvSpPr>
        <p:spPr/>
        <p:txBody>
          <a:bodyPr/>
          <a:lstStyle/>
          <a:p>
            <a:r>
              <a:rPr lang="en-US" smtClean="0"/>
              <a:t>Prepared: by:  MS Odilia Tita</a:t>
            </a:r>
            <a:endParaRPr lang="en-AU" dirty="0"/>
          </a:p>
        </p:txBody>
      </p:sp>
      <p:sp>
        <p:nvSpPr>
          <p:cNvPr id="7" name="Slide Number Placeholder 6">
            <a:extLst>
              <a:ext uri="{FF2B5EF4-FFF2-40B4-BE49-F238E27FC236}">
                <a16:creationId xmlns="" xmlns:a16="http://schemas.microsoft.com/office/drawing/2014/main" id="{7F25914E-DE0C-4D6B-96A4-A8B2E3BE80A4}"/>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2092717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2C3DC4-E527-428B-94DA-FBB960B02E54}"/>
              </a:ext>
            </a:extLst>
          </p:cNvPr>
          <p:cNvSpPr>
            <a:spLocks noGrp="1"/>
          </p:cNvSpPr>
          <p:nvPr>
            <p:ph type="title"/>
          </p:nvPr>
        </p:nvSpPr>
        <p:spPr/>
        <p:txBody>
          <a:bodyPr/>
          <a:lstStyle/>
          <a:p>
            <a:r>
              <a:rPr lang="en-US" smtClean="0"/>
              <a:t>Click to edit Master title style</a:t>
            </a:r>
            <a:endParaRPr lang="en-AU"/>
          </a:p>
        </p:txBody>
      </p:sp>
      <p:sp>
        <p:nvSpPr>
          <p:cNvPr id="3" name="Vertical Text Placeholder 2">
            <a:extLst>
              <a:ext uri="{FF2B5EF4-FFF2-40B4-BE49-F238E27FC236}">
                <a16:creationId xmlns="" xmlns:a16="http://schemas.microsoft.com/office/drawing/2014/main" id="{23C1C0BB-30BB-45D4-A05D-5C8DDC147295}"/>
              </a:ext>
            </a:extLst>
          </p:cNvPr>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 xmlns:a16="http://schemas.microsoft.com/office/drawing/2014/main" id="{9D6A4DF1-DA3C-42E6-A9D1-B807F92884FB}"/>
              </a:ext>
            </a:extLst>
          </p:cNvPr>
          <p:cNvSpPr>
            <a:spLocks noGrp="1"/>
          </p:cNvSpPr>
          <p:nvPr>
            <p:ph type="dt" sz="half" idx="10"/>
          </p:nvPr>
        </p:nvSpPr>
        <p:spPr/>
        <p:txBody>
          <a:bodyPr/>
          <a:lstStyle/>
          <a:p>
            <a:fld id="{E263AF87-99E9-4E1C-B445-3EAD1561C7E0}" type="datetime1">
              <a:rPr lang="en-AU" smtClean="0"/>
              <a:t>11/02/2026</a:t>
            </a:fld>
            <a:endParaRPr lang="en-AU" dirty="0"/>
          </a:p>
        </p:txBody>
      </p:sp>
      <p:sp>
        <p:nvSpPr>
          <p:cNvPr id="5" name="Footer Placeholder 4">
            <a:extLst>
              <a:ext uri="{FF2B5EF4-FFF2-40B4-BE49-F238E27FC236}">
                <a16:creationId xmlns="" xmlns:a16="http://schemas.microsoft.com/office/drawing/2014/main" id="{F4B03447-FA4D-4FB3-8EA8-92EEBA64371A}"/>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41FA8BCD-CB8B-41BC-BA09-43A58BF8A0A9}"/>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4200964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D1B170A-0C49-44E5-9CEB-E34D00479D39}"/>
              </a:ext>
            </a:extLst>
          </p:cNvPr>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a:extLst>
              <a:ext uri="{FF2B5EF4-FFF2-40B4-BE49-F238E27FC236}">
                <a16:creationId xmlns="" xmlns:a16="http://schemas.microsoft.com/office/drawing/2014/main" id="{D2E26345-EA95-466A-A868-AF358482D2F3}"/>
              </a:ext>
            </a:extLst>
          </p:cNvPr>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 xmlns:a16="http://schemas.microsoft.com/office/drawing/2014/main" id="{23E50751-9A0A-4D85-BD89-F58E2DD2D4FC}"/>
              </a:ext>
            </a:extLst>
          </p:cNvPr>
          <p:cNvSpPr>
            <a:spLocks noGrp="1"/>
          </p:cNvSpPr>
          <p:nvPr>
            <p:ph type="dt" sz="half" idx="10"/>
          </p:nvPr>
        </p:nvSpPr>
        <p:spPr/>
        <p:txBody>
          <a:bodyPr/>
          <a:lstStyle/>
          <a:p>
            <a:fld id="{96E86B3E-45E0-40C0-BF95-DC501396704F}" type="datetime1">
              <a:rPr lang="en-AU" smtClean="0"/>
              <a:t>11/02/2026</a:t>
            </a:fld>
            <a:endParaRPr lang="en-AU" dirty="0"/>
          </a:p>
        </p:txBody>
      </p:sp>
      <p:sp>
        <p:nvSpPr>
          <p:cNvPr id="5" name="Footer Placeholder 4">
            <a:extLst>
              <a:ext uri="{FF2B5EF4-FFF2-40B4-BE49-F238E27FC236}">
                <a16:creationId xmlns="" xmlns:a16="http://schemas.microsoft.com/office/drawing/2014/main" id="{78C3466A-B481-472F-8349-31301AC32BBC}"/>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156164D8-60A4-4D6D-AC8E-944A64FB9CD1}"/>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4090599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CC5A2D3B-E2B1-45B1-A87B-9CE3565AE2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a:extLst>
              <a:ext uri="{FF2B5EF4-FFF2-40B4-BE49-F238E27FC236}">
                <a16:creationId xmlns="" xmlns:a16="http://schemas.microsoft.com/office/drawing/2014/main" id="{E8E1F910-679B-400B-90F8-3B7796EEB4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 xmlns:a16="http://schemas.microsoft.com/office/drawing/2014/main" id="{CD5CAEE6-87D8-4240-9F2E-BBBDC9B1F9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B17D19-1DFF-42E6-9FD7-87CE3960DADB}" type="datetime1">
              <a:rPr lang="en-AU" smtClean="0"/>
              <a:t>11/02/2026</a:t>
            </a:fld>
            <a:endParaRPr lang="en-AU" dirty="0"/>
          </a:p>
        </p:txBody>
      </p:sp>
      <p:sp>
        <p:nvSpPr>
          <p:cNvPr id="5" name="Footer Placeholder 4">
            <a:extLst>
              <a:ext uri="{FF2B5EF4-FFF2-40B4-BE49-F238E27FC236}">
                <a16:creationId xmlns="" xmlns:a16="http://schemas.microsoft.com/office/drawing/2014/main" id="{D1526242-9AC5-4511-B7FD-67946AD66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1BA7FC3C-7E7A-4752-B68D-DFDC7CFCF3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7D08D6-F5B7-4643-8830-2AE1BDB50066}" type="slidenum">
              <a:rPr lang="en-AU" smtClean="0"/>
              <a:t>‹#›</a:t>
            </a:fld>
            <a:endParaRPr lang="en-AU" dirty="0"/>
          </a:p>
        </p:txBody>
      </p:sp>
    </p:spTree>
    <p:extLst>
      <p:ext uri="{BB962C8B-B14F-4D97-AF65-F5344CB8AC3E}">
        <p14:creationId xmlns:p14="http://schemas.microsoft.com/office/powerpoint/2010/main" val="2869902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tmp"/><Relationship Id="rId5" Type="http://schemas.openxmlformats.org/officeDocument/2006/relationships/image" Target="../media/image6.pn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support.microsoft.com/en-us/office/get-creative-with-3d-models-ec5feb79-b0af-47f6-a885-151fcc88ac0a" TargetMode="Externa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hyperlink" Target="https://support.microsoft.com/en-us/office/change-the-look-and-feel-of-office-63e65e1c-08d4-4dea-820e-335f54672310"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tx2">
                <a:lumMod val="40000"/>
                <a:lumOff val="60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43EFF1-6301-420A-9461-B3704C2C13E8}"/>
              </a:ext>
            </a:extLst>
          </p:cNvPr>
          <p:cNvSpPr>
            <a:spLocks noGrp="1"/>
          </p:cNvSpPr>
          <p:nvPr>
            <p:ph type="ctrTitle"/>
          </p:nvPr>
        </p:nvSpPr>
        <p:spPr>
          <a:xfrm>
            <a:off x="1524000" y="1854201"/>
            <a:ext cx="9144000" cy="1655762"/>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Introduction to Microsoft and Microsoft 365</a:t>
            </a:r>
            <a:endParaRPr lang="en-AU"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xmlns="" id="{AD1FF088-C8BD-4AF1-93D2-BDB7D2018F9D}"/>
              </a:ext>
            </a:extLst>
          </p:cNvPr>
          <p:cNvSpPr>
            <a:spLocks noGrp="1"/>
          </p:cNvSpPr>
          <p:nvPr>
            <p:ph type="subTitle" idx="1"/>
          </p:nvPr>
        </p:nvSpPr>
        <p:spPr/>
        <p:txBody>
          <a:bodyPr>
            <a:normAutofit/>
          </a:bodyPr>
          <a:lstStyle/>
          <a:p>
            <a:r>
              <a:rPr lang="en-US" sz="9600" dirty="0">
                <a:latin typeface="French Script MT" panose="03020402040607040605" pitchFamily="66" charset="0"/>
              </a:rPr>
              <a:t>Chapter 3</a:t>
            </a:r>
            <a:endParaRPr lang="en-AU" sz="9600" dirty="0">
              <a:latin typeface="French Script MT" panose="03020402040607040605" pitchFamily="66" charset="0"/>
            </a:endParaRPr>
          </a:p>
        </p:txBody>
      </p:sp>
      <p:sp>
        <p:nvSpPr>
          <p:cNvPr id="9" name="Footer Placeholder 8"/>
          <p:cNvSpPr>
            <a:spLocks noGrp="1"/>
          </p:cNvSpPr>
          <p:nvPr>
            <p:ph type="ftr" sz="quarter" idx="11"/>
          </p:nvPr>
        </p:nvSpPr>
        <p:spPr>
          <a:xfrm>
            <a:off x="9338171" y="6492875"/>
            <a:ext cx="4114800" cy="365125"/>
          </a:xfrm>
        </p:spPr>
        <p:txBody>
          <a:bodyPr/>
          <a:lstStyle/>
          <a:p>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5" name="Picture 4">
            <a:extLst>
              <a:ext uri="{FF2B5EF4-FFF2-40B4-BE49-F238E27FC236}">
                <a16:creationId xmlns:a16="http://schemas.microsoft.com/office/drawing/2014/main" xmlns="" id="{EF1AEE37-577D-4DD9-AFF4-83BF60AAF5AB}"/>
              </a:ext>
            </a:extLst>
          </p:cNvPr>
          <p:cNvPicPr/>
          <p:nvPr/>
        </p:nvPicPr>
        <p:blipFill>
          <a:blip r:embed="rId2"/>
          <a:stretch>
            <a:fillRect/>
          </a:stretch>
        </p:blipFill>
        <p:spPr>
          <a:xfrm>
            <a:off x="10823275" y="129414"/>
            <a:ext cx="1285875" cy="1485952"/>
          </a:xfrm>
          <a:prstGeom prst="rect">
            <a:avLst/>
          </a:prstGeom>
        </p:spPr>
      </p:pic>
      <p:pic>
        <p:nvPicPr>
          <p:cNvPr id="2052" name="Picture 4" descr="Microsoft 365 (M365) - Information Technolog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629" y="129414"/>
            <a:ext cx="2106688" cy="1632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59439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203809" y="24967"/>
            <a:ext cx="7439025" cy="1325563"/>
          </a:xfrm>
        </p:spPr>
        <p:txBody>
          <a:bodyPr/>
          <a:lstStyle/>
          <a:p>
            <a:r>
              <a:rPr lang="en-US" b="1" dirty="0">
                <a:latin typeface="Times New Roman" panose="02020603050405020304" pitchFamily="18" charset="0"/>
                <a:cs typeface="Times New Roman" panose="02020603050405020304" pitchFamily="18" charset="0"/>
              </a:rPr>
              <a:t>LEARNING OUTCOMES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165340" y="1414643"/>
            <a:ext cx="10515600" cy="4351338"/>
          </a:xfrm>
        </p:spPr>
        <p:txBody>
          <a:bodyPr/>
          <a:lstStyle/>
          <a:p>
            <a:pPr marL="0" indent="0">
              <a:buNone/>
            </a:pPr>
            <a:r>
              <a:rPr lang="en-US" sz="3600" dirty="0">
                <a:latin typeface="Times New Roman" panose="02020603050405020304" pitchFamily="18" charset="0"/>
                <a:cs typeface="Times New Roman" panose="02020603050405020304" pitchFamily="18" charset="0"/>
              </a:rPr>
              <a:t>By the end of this session, students should be able to;</a:t>
            </a:r>
          </a:p>
          <a:p>
            <a:pPr marL="971550" lvl="1" indent="-514350">
              <a:buFont typeface="+mj-lt"/>
              <a:buAutoNum type="arabicPeriod"/>
            </a:pPr>
            <a:r>
              <a:rPr lang="en-US" sz="3200" dirty="0" smtClean="0">
                <a:latin typeface="Times New Roman" panose="02020603050405020304" pitchFamily="18" charset="0"/>
                <a:cs typeface="Times New Roman" panose="02020603050405020304" pitchFamily="18" charset="0"/>
              </a:rPr>
              <a:t>Microsoft 365</a:t>
            </a:r>
          </a:p>
          <a:p>
            <a:pPr marL="971550" lvl="1" indent="-514350">
              <a:buFont typeface="+mj-lt"/>
              <a:buAutoNum type="arabicPeriod"/>
            </a:pPr>
            <a:r>
              <a:rPr lang="en-US" sz="3200" dirty="0" smtClean="0">
                <a:latin typeface="Times New Roman" panose="02020603050405020304" pitchFamily="18" charset="0"/>
                <a:cs typeface="Times New Roman" panose="02020603050405020304" pitchFamily="18" charset="0"/>
              </a:rPr>
              <a:t>Word</a:t>
            </a:r>
          </a:p>
          <a:p>
            <a:pPr marL="971550" lvl="1" indent="-514350">
              <a:buFont typeface="+mj-lt"/>
              <a:buAutoNum type="arabicPeriod"/>
            </a:pPr>
            <a:r>
              <a:rPr lang="en-US" sz="3200" dirty="0" smtClean="0">
                <a:latin typeface="Times New Roman" panose="02020603050405020304" pitchFamily="18" charset="0"/>
                <a:cs typeface="Times New Roman" panose="02020603050405020304" pitchFamily="18" charset="0"/>
              </a:rPr>
              <a:t>Excel</a:t>
            </a:r>
          </a:p>
          <a:p>
            <a:pPr marL="971550" lvl="1" indent="-514350">
              <a:buFont typeface="+mj-lt"/>
              <a:buAutoNum type="arabicPeriod"/>
            </a:pPr>
            <a:r>
              <a:rPr lang="en-US" sz="3200" dirty="0" smtClean="0">
                <a:latin typeface="Times New Roman" panose="02020603050405020304" pitchFamily="18" charset="0"/>
                <a:cs typeface="Times New Roman" panose="02020603050405020304" pitchFamily="18" charset="0"/>
              </a:rPr>
              <a:t>PowerPoint</a:t>
            </a:r>
          </a:p>
          <a:p>
            <a:pPr marL="971550" lvl="1" indent="-514350">
              <a:buFont typeface="+mj-lt"/>
              <a:buAutoNum type="arabicPeriod"/>
            </a:pPr>
            <a:r>
              <a:rPr lang="en-US" sz="3200" dirty="0" smtClean="0">
                <a:latin typeface="Times New Roman" panose="02020603050405020304" pitchFamily="18" charset="0"/>
                <a:cs typeface="Times New Roman" panose="02020603050405020304" pitchFamily="18" charset="0"/>
              </a:rPr>
              <a:t>Outlook</a:t>
            </a:r>
          </a:p>
        </p:txBody>
      </p:sp>
      <p:sp>
        <p:nvSpPr>
          <p:cNvPr id="9" name="Footer Placeholder 8"/>
          <p:cNvSpPr>
            <a:spLocks noGrp="1"/>
          </p:cNvSpPr>
          <p:nvPr>
            <p:ph type="ftr" sz="quarter" idx="11"/>
          </p:nvPr>
        </p:nvSpPr>
        <p:spPr>
          <a:xfrm>
            <a:off x="8077200"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10"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7969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821DF0-3940-490D-A245-0C1997FAE7DD}"/>
              </a:ext>
            </a:extLst>
          </p:cNvPr>
          <p:cNvSpPr>
            <a:spLocks noGrp="1"/>
          </p:cNvSpPr>
          <p:nvPr>
            <p:ph type="title"/>
          </p:nvPr>
        </p:nvSpPr>
        <p:spPr>
          <a:xfrm>
            <a:off x="1544127" y="1"/>
            <a:ext cx="10532853" cy="1466849"/>
          </a:xfrm>
        </p:spPr>
        <p:txBody>
          <a:bodyPr>
            <a:normAutofit/>
          </a:bodyPr>
          <a:lstStyle/>
          <a:p>
            <a:pPr algn="ctr"/>
            <a:r>
              <a:rPr lang="en-US" b="1" dirty="0" smtClean="0">
                <a:latin typeface="Times New Roman" panose="02020603050405020304" pitchFamily="18" charset="0"/>
                <a:cs typeface="Times New Roman" panose="02020603050405020304" pitchFamily="18" charset="0"/>
              </a:rPr>
              <a:t>INTRODUCTION</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B96C51A3-EDB6-48E4-A301-975952B11D9B}"/>
              </a:ext>
            </a:extLst>
          </p:cNvPr>
          <p:cNvSpPr>
            <a:spLocks noGrp="1"/>
          </p:cNvSpPr>
          <p:nvPr>
            <p:ph idx="1"/>
          </p:nvPr>
        </p:nvSpPr>
        <p:spPr>
          <a:xfrm>
            <a:off x="672860" y="1552755"/>
            <a:ext cx="11628678" cy="4917056"/>
          </a:xfrm>
        </p:spPr>
        <p:txBody>
          <a:bodyPr>
            <a:normAutofit/>
          </a:bodyPr>
          <a:lstStyle/>
          <a:p>
            <a:pPr marL="0" indent="0">
              <a:buNone/>
            </a:pPr>
            <a:r>
              <a:rPr lang="en-US" dirty="0" smtClean="0">
                <a:latin typeface="Times New Roman" panose="02020603050405020304" pitchFamily="18" charset="0"/>
                <a:cs typeface="Times New Roman" panose="02020603050405020304" pitchFamily="18" charset="0"/>
              </a:rPr>
              <a:t>For decades, the name Microsoft Office has been synonymous  with productivity software, representing the essential desktop applications( Word, Excel, PowerPoint and Outlook that became the global standard for document creation, data analysis, presentation and email. This traditional office suite model, centered on a one time purchase for a static version of the software has evolved into Microsoft 365.Microsoft 365 is a comprehensive cloud powered  subscription service while retaining the familiar core applications and always transforms them into always updated, collaborative tools integrated with cloud storage, advanced security and a suite connected services, marking a fundamental shift from standalone software to a dynamic, intelligent platform for modern work.</a:t>
            </a:r>
            <a:endParaRPr lang="en-US" dirty="0">
              <a:latin typeface="Times New Roman" panose="02020603050405020304" pitchFamily="18" charset="0"/>
              <a:cs typeface="Times New Roman" panose="02020603050405020304" pitchFamily="18" charset="0"/>
            </a:endParaRPr>
          </a:p>
        </p:txBody>
      </p:sp>
      <p:sp>
        <p:nvSpPr>
          <p:cNvPr id="12" name="Footer Placeholder 11"/>
          <p:cNvSpPr>
            <a:spLocks noGrp="1"/>
          </p:cNvSpPr>
          <p:nvPr>
            <p:ph type="ftr" sz="quarter" idx="11"/>
          </p:nvPr>
        </p:nvSpPr>
        <p:spPr>
          <a:xfrm>
            <a:off x="9349256" y="6535738"/>
            <a:ext cx="4114800" cy="365125"/>
          </a:xfrm>
        </p:spPr>
        <p:txBody>
          <a:bodyPr/>
          <a:lstStyle/>
          <a:p>
            <a:r>
              <a:rPr lang="en-US" sz="900" smtClean="0">
                <a:latin typeface="Comic Sans MS" panose="030F0702030302020204" pitchFamily="66" charset="0"/>
              </a:rPr>
              <a:t>Prepared: by:  MS Odilia Tita</a:t>
            </a:r>
            <a:endParaRPr lang="en-AU" sz="9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9276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821DF0-3940-490D-A245-0C1997FAE7DD}"/>
              </a:ext>
            </a:extLst>
          </p:cNvPr>
          <p:cNvSpPr>
            <a:spLocks noGrp="1"/>
          </p:cNvSpPr>
          <p:nvPr>
            <p:ph type="title"/>
          </p:nvPr>
        </p:nvSpPr>
        <p:spPr>
          <a:xfrm>
            <a:off x="1544127" y="1"/>
            <a:ext cx="10532853" cy="1466849"/>
          </a:xfrm>
        </p:spPr>
        <p:txBody>
          <a:bodyPr>
            <a:normAutofit/>
          </a:bodyPr>
          <a:lstStyle/>
          <a:p>
            <a:pPr marL="742950" indent="-742950">
              <a:buFont typeface="+mj-lt"/>
              <a:buAutoNum type="alphaLcPeriod"/>
            </a:pPr>
            <a:r>
              <a:rPr lang="en-US" b="1" dirty="0" smtClean="0">
                <a:latin typeface="Times New Roman" panose="02020603050405020304" pitchFamily="18" charset="0"/>
                <a:cs typeface="Times New Roman" panose="02020603050405020304" pitchFamily="18" charset="0"/>
              </a:rPr>
              <a:t>Microsoft 365</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B96C51A3-EDB6-48E4-A301-975952B11D9B}"/>
              </a:ext>
            </a:extLst>
          </p:cNvPr>
          <p:cNvSpPr>
            <a:spLocks noGrp="1"/>
          </p:cNvSpPr>
          <p:nvPr>
            <p:ph idx="1"/>
          </p:nvPr>
        </p:nvSpPr>
        <p:spPr>
          <a:xfrm>
            <a:off x="672860" y="1552755"/>
            <a:ext cx="11628678" cy="4917056"/>
          </a:xfrm>
        </p:spPr>
        <p:txBody>
          <a:bodyPr>
            <a:normAutofit fontScale="92500" lnSpcReduction="20000"/>
          </a:bodyPr>
          <a:lstStyle/>
          <a:p>
            <a:r>
              <a:rPr lang="en-US" sz="3600" dirty="0">
                <a:latin typeface="Times New Roman" panose="02020603050405020304" pitchFamily="18" charset="0"/>
                <a:cs typeface="Times New Roman" panose="02020603050405020304" pitchFamily="18" charset="0"/>
              </a:rPr>
              <a:t>Microsoft 365 is a cloud-powered subscription service offering the latest Office apps. This office application consists of Word, Excel, PowerPoint, Outlook, Teams, etc., cloud storage known as </a:t>
            </a:r>
            <a:r>
              <a:rPr lang="en-US" sz="3600" dirty="0" err="1">
                <a:latin typeface="Times New Roman" panose="02020603050405020304" pitchFamily="18" charset="0"/>
                <a:cs typeface="Times New Roman" panose="02020603050405020304" pitchFamily="18" charset="0"/>
              </a:rPr>
              <a:t>OneDrive</a:t>
            </a:r>
            <a:r>
              <a:rPr lang="en-US" sz="3600" dirty="0">
                <a:latin typeface="Times New Roman" panose="02020603050405020304" pitchFamily="18" charset="0"/>
                <a:cs typeface="Times New Roman" panose="02020603050405020304" pitchFamily="18" charset="0"/>
              </a:rPr>
              <a:t>, security features, and AI tools (Copilot) for individuals, families, and businesses. Microsoft 365 provides ongoing updates and access across multiple devices (PCs, Macs, tablets, phones) as opposed to a one-time purchase. You will have to pay annual subscription fee via credit card, PayPal or Microsoft gift card to use Microsoft 365. We highly recommend using our ITI lab computers installed with Microsoft 365 to gain full experience and improve your computer skills and knowledge. Lastly, note that Other Office 2010, Office 2013, Office 2016 or Office 2019 are older versions or out-of-date versions of Office 365.</a:t>
            </a:r>
          </a:p>
          <a:p>
            <a:pPr marL="0" indent="0">
              <a:buNone/>
            </a:pPr>
            <a:endParaRPr lang="en-US" dirty="0">
              <a:latin typeface="Times New Roman" panose="02020603050405020304" pitchFamily="18" charset="0"/>
              <a:cs typeface="Times New Roman" panose="02020603050405020304" pitchFamily="18" charset="0"/>
            </a:endParaRPr>
          </a:p>
        </p:txBody>
      </p:sp>
      <p:sp>
        <p:nvSpPr>
          <p:cNvPr id="12" name="Footer Placeholder 11"/>
          <p:cNvSpPr>
            <a:spLocks noGrp="1"/>
          </p:cNvSpPr>
          <p:nvPr>
            <p:ph type="ftr" sz="quarter" idx="11"/>
          </p:nvPr>
        </p:nvSpPr>
        <p:spPr>
          <a:xfrm>
            <a:off x="9349256" y="6535738"/>
            <a:ext cx="4114800" cy="365125"/>
          </a:xfrm>
        </p:spPr>
        <p:txBody>
          <a:bodyPr/>
          <a:lstStyle/>
          <a:p>
            <a:r>
              <a:rPr lang="en-US" sz="900" smtClean="0">
                <a:latin typeface="Comic Sans MS" panose="030F0702030302020204" pitchFamily="66" charset="0"/>
              </a:rPr>
              <a:t>Prepared: by:  MS Odilia Tita</a:t>
            </a:r>
            <a:endParaRPr lang="en-AU" sz="9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81841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099733" y="94285"/>
            <a:ext cx="7962061" cy="661680"/>
          </a:xfrm>
        </p:spPr>
        <p:txBody>
          <a:bodyPr>
            <a:normAutofit fontScale="90000"/>
          </a:bodyPr>
          <a:lstStyle/>
          <a:p>
            <a:pPr marL="742950" indent="-742950">
              <a:buFont typeface="+mj-lt"/>
              <a:buAutoNum type="alphaLcPeriod" startAt="2"/>
            </a:pPr>
            <a:r>
              <a:rPr lang="en-US" b="1" dirty="0" smtClean="0">
                <a:latin typeface="Times New Roman" panose="02020603050405020304" pitchFamily="18" charset="0"/>
                <a:cs typeface="Times New Roman" panose="02020603050405020304" pitchFamily="18" charset="0"/>
              </a:rPr>
              <a:t>Word</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87866" y="970898"/>
            <a:ext cx="11778593" cy="5300132"/>
          </a:xfrm>
        </p:spPr>
        <p:txBody>
          <a:bodyPr>
            <a:normAutofit fontScale="85000" lnSpcReduction="10000"/>
          </a:bodyPr>
          <a:lstStyle/>
          <a:p>
            <a:r>
              <a:rPr lang="en-US" sz="3200" dirty="0">
                <a:latin typeface="Times New Roman" panose="02020603050405020304" pitchFamily="18" charset="0"/>
                <a:cs typeface="Times New Roman" panose="02020603050405020304" pitchFamily="18" charset="0"/>
              </a:rPr>
              <a:t>Microsoft Word 2019 is the latest version of the most popular word processing application developed by Microsoft Corporation. Other versions of Microsoft Office Applications used in the market are 2010, 2013 and 2016. Regardless of what versions you use, word processing program is widely used in personal and business activities. This course will show you many ways on how you can integrate Word processing 2019 into your everyday life. </a:t>
            </a:r>
          </a:p>
          <a:p>
            <a:r>
              <a:rPr lang="en-US" sz="3200" dirty="0">
                <a:latin typeface="Times New Roman" panose="02020603050405020304" pitchFamily="18" charset="0"/>
                <a:cs typeface="Times New Roman" panose="02020603050405020304" pitchFamily="18" charset="0"/>
              </a:rPr>
              <a:t>In this course, you are going to learn how to...</a:t>
            </a:r>
          </a:p>
          <a:p>
            <a:pPr lvl="0"/>
            <a:r>
              <a:rPr lang="en-US" sz="3200" dirty="0">
                <a:latin typeface="Times New Roman" panose="02020603050405020304" pitchFamily="18" charset="0"/>
                <a:cs typeface="Times New Roman" panose="02020603050405020304" pitchFamily="18" charset="0"/>
              </a:rPr>
              <a:t>Understand what Word Processing is</a:t>
            </a:r>
          </a:p>
          <a:p>
            <a:pPr lvl="0"/>
            <a:r>
              <a:rPr lang="en-US" sz="3200" dirty="0">
                <a:latin typeface="Times New Roman" panose="02020603050405020304" pitchFamily="18" charset="0"/>
                <a:cs typeface="Times New Roman" panose="02020603050405020304" pitchFamily="18" charset="0"/>
              </a:rPr>
              <a:t>Know Word Features</a:t>
            </a:r>
          </a:p>
          <a:p>
            <a:pPr lvl="0"/>
            <a:r>
              <a:rPr lang="en-US" sz="3200" dirty="0">
                <a:latin typeface="Times New Roman" panose="02020603050405020304" pitchFamily="18" charset="0"/>
                <a:cs typeface="Times New Roman" panose="02020603050405020304" pitchFamily="18" charset="0"/>
              </a:rPr>
              <a:t>Explore the Word</a:t>
            </a:r>
          </a:p>
          <a:p>
            <a:pPr lvl="0"/>
            <a:r>
              <a:rPr lang="en-US" sz="3200" dirty="0">
                <a:latin typeface="Times New Roman" panose="02020603050405020304" pitchFamily="18" charset="0"/>
                <a:cs typeface="Times New Roman" panose="02020603050405020304" pitchFamily="18" charset="0"/>
              </a:rPr>
              <a:t>Check Grammar</a:t>
            </a:r>
          </a:p>
          <a:p>
            <a:pPr lvl="0"/>
            <a:r>
              <a:rPr lang="en-US" sz="3200" dirty="0">
                <a:latin typeface="Times New Roman" panose="02020603050405020304" pitchFamily="18" charset="0"/>
                <a:cs typeface="Times New Roman" panose="02020603050405020304" pitchFamily="18" charset="0"/>
              </a:rPr>
              <a:t>Check Spelling</a:t>
            </a:r>
          </a:p>
          <a:p>
            <a:pPr lvl="0"/>
            <a:r>
              <a:rPr lang="en-US" sz="3200" dirty="0">
                <a:latin typeface="Times New Roman" panose="02020603050405020304" pitchFamily="18" charset="0"/>
                <a:cs typeface="Times New Roman" panose="02020603050405020304" pitchFamily="18" charset="0"/>
              </a:rPr>
              <a:t>Use Word Wrap</a:t>
            </a:r>
          </a:p>
          <a:p>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36005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066801" y="94285"/>
            <a:ext cx="8994994" cy="661680"/>
          </a:xfrm>
        </p:spPr>
        <p:txBody>
          <a:bodyPr>
            <a:normAutofit fontScale="90000"/>
          </a:bodyPr>
          <a:lstStyle/>
          <a:p>
            <a:r>
              <a:rPr lang="en-AU" b="1" dirty="0" smtClean="0">
                <a:latin typeface="Times New Roman" panose="02020603050405020304" pitchFamily="18" charset="0"/>
                <a:cs typeface="Times New Roman" panose="02020603050405020304" pitchFamily="18" charset="0"/>
              </a:rPr>
              <a:t>Some new features in Word 2019</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8917" y="3354827"/>
            <a:ext cx="5332242" cy="1662235"/>
          </a:xfrm>
        </p:spPr>
        <p:txBody>
          <a:bodyPr>
            <a:normAutofit fontScale="70000" lnSpcReduction="20000"/>
          </a:bodyPr>
          <a:lstStyle/>
          <a:p>
            <a:r>
              <a:rPr lang="en-US" sz="3200" dirty="0">
                <a:latin typeface="Times New Roman" panose="02020603050405020304" pitchFamily="18" charset="0"/>
                <a:cs typeface="Times New Roman" panose="02020603050405020304" pitchFamily="18" charset="0"/>
              </a:rPr>
              <a:t>For example, if you type Footer in Tell me what you to do in search for text box, Word 2019 will automatically activate Footer section thus allowing you to type in Footer text as shown in </a:t>
            </a:r>
            <a:r>
              <a:rPr lang="en-US" sz="3200" i="1" dirty="0">
                <a:latin typeface="Times New Roman" panose="02020603050405020304" pitchFamily="18" charset="0"/>
                <a:cs typeface="Times New Roman" panose="02020603050405020304" pitchFamily="18" charset="0"/>
              </a:rPr>
              <a:t>Fig 3.2 below</a:t>
            </a: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37225" y="6274756"/>
            <a:ext cx="3949702"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3.2 showing Footer section</a:t>
            </a:r>
            <a:endParaRPr lang="en-US" sz="1200" dirty="0">
              <a:latin typeface="Times New Roman" panose="02020603050405020304" pitchFamily="18" charset="0"/>
              <a:cs typeface="Times New Roman" panose="02020603050405020304" pitchFamily="18" charset="0"/>
            </a:endParaRPr>
          </a:p>
        </p:txBody>
      </p:sp>
      <p:pic>
        <p:nvPicPr>
          <p:cNvPr id="8" name="Picture 7"/>
          <p:cNvPicPr/>
          <p:nvPr/>
        </p:nvPicPr>
        <p:blipFill rotWithShape="1">
          <a:blip r:embed="rId3"/>
          <a:srcRect l="18109" t="64247" r="16666"/>
          <a:stretch/>
        </p:blipFill>
        <p:spPr bwMode="auto">
          <a:xfrm>
            <a:off x="137225" y="4672593"/>
            <a:ext cx="5236634" cy="1575807"/>
          </a:xfrm>
          <a:prstGeom prst="rect">
            <a:avLst/>
          </a:prstGeom>
          <a:ln>
            <a:noFill/>
          </a:ln>
          <a:extLst>
            <a:ext uri="{53640926-AAD7-44D8-BBD7-CCE9431645EC}">
              <a14:shadowObscured xmlns:a14="http://schemas.microsoft.com/office/drawing/2010/main"/>
            </a:ext>
          </a:extLst>
        </p:spPr>
      </p:pic>
      <p:sp>
        <p:nvSpPr>
          <p:cNvPr id="10" name="Content Placeholder 2">
            <a:extLst>
              <a:ext uri="{FF2B5EF4-FFF2-40B4-BE49-F238E27FC236}">
                <a16:creationId xmlns:a16="http://schemas.microsoft.com/office/drawing/2014/main" xmlns="" id="{FAF9274F-8429-43B0-B56E-864C01E876F5}"/>
              </a:ext>
            </a:extLst>
          </p:cNvPr>
          <p:cNvSpPr txBox="1">
            <a:spLocks/>
          </p:cNvSpPr>
          <p:nvPr/>
        </p:nvSpPr>
        <p:spPr>
          <a:xfrm>
            <a:off x="5469468" y="944455"/>
            <a:ext cx="6197600" cy="1662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smtClean="0">
                <a:latin typeface="Times New Roman" panose="02020603050405020304" pitchFamily="18" charset="0"/>
                <a:cs typeface="Times New Roman" panose="02020603050405020304" pitchFamily="18" charset="0"/>
              </a:rPr>
              <a:t>2. </a:t>
            </a:r>
            <a:r>
              <a:rPr lang="en-US" sz="2000" dirty="0" smtClean="0">
                <a:latin typeface="Times New Roman" panose="02020603050405020304" pitchFamily="18" charset="0"/>
                <a:cs typeface="Times New Roman" panose="02020603050405020304" pitchFamily="18" charset="0"/>
              </a:rPr>
              <a:t>Microsoft </a:t>
            </a:r>
            <a:r>
              <a:rPr lang="en-US" sz="2000" b="1" dirty="0">
                <a:latin typeface="Times New Roman" panose="02020603050405020304" pitchFamily="18" charset="0"/>
                <a:cs typeface="Times New Roman" panose="02020603050405020304" pitchFamily="18" charset="0"/>
              </a:rPr>
              <a:t>Translator</a:t>
            </a:r>
            <a:r>
              <a:rPr lang="en-US" sz="2000" dirty="0">
                <a:latin typeface="Times New Roman" panose="02020603050405020304" pitchFamily="18" charset="0"/>
                <a:cs typeface="Times New Roman" panose="02020603050405020304" pitchFamily="18" charset="0"/>
              </a:rPr>
              <a:t> is also a new feature added to Word, Excel and PowerPoint. To access it, open the Review tab in your document and then click the new Translate and Language buttons. From here, you’ll have the opportunity to translate the entire document or translate a selected portion of text.</a:t>
            </a:r>
          </a:p>
          <a:p>
            <a:r>
              <a:rPr lang="en-US" sz="2000" dirty="0">
                <a:latin typeface="Times New Roman" panose="02020603050405020304" pitchFamily="18" charset="0"/>
                <a:cs typeface="Times New Roman" panose="02020603050405020304" pitchFamily="18" charset="0"/>
              </a:rPr>
              <a:t>Microsoft Translator has been around for some time, but seeing it integrated into Office is excellent. Translation services like Microsoft Translator aren’t perfect, but over time they are becoming more accurate as shown below in </a:t>
            </a:r>
            <a:r>
              <a:rPr lang="en-US" sz="2000" i="1" dirty="0">
                <a:latin typeface="Times New Roman" panose="02020603050405020304" pitchFamily="18" charset="0"/>
                <a:cs typeface="Times New Roman" panose="02020603050405020304" pitchFamily="18" charset="0"/>
              </a:rPr>
              <a:t>Fig 3.3</a:t>
            </a:r>
            <a:r>
              <a:rPr lang="en-US" sz="2000" dirty="0">
                <a:latin typeface="Times New Roman" panose="02020603050405020304" pitchFamily="18" charset="0"/>
                <a:cs typeface="Times New Roman" panose="02020603050405020304" pitchFamily="18" charset="0"/>
              </a:rPr>
              <a:t>.</a:t>
            </a:r>
          </a:p>
        </p:txBody>
      </p:sp>
      <p:pic>
        <p:nvPicPr>
          <p:cNvPr id="11" name="Picture 10"/>
          <p:cNvPicPr/>
          <p:nvPr/>
        </p:nvPicPr>
        <p:blipFill>
          <a:blip r:embed="rId4">
            <a:extLst>
              <a:ext uri="{28A0092B-C50C-407E-A947-70E740481C1C}">
                <a14:useLocalDpi xmlns:a14="http://schemas.microsoft.com/office/drawing/2010/main" val="0"/>
              </a:ext>
            </a:extLst>
          </a:blip>
          <a:srcRect/>
          <a:stretch>
            <a:fillRect/>
          </a:stretch>
        </p:blipFill>
        <p:spPr bwMode="auto">
          <a:xfrm>
            <a:off x="5824934" y="4152893"/>
            <a:ext cx="2514733" cy="2095507"/>
          </a:xfrm>
          <a:prstGeom prst="rect">
            <a:avLst/>
          </a:prstGeom>
          <a:noFill/>
          <a:ln>
            <a:noFill/>
          </a:ln>
        </p:spPr>
      </p:pic>
      <p:pic>
        <p:nvPicPr>
          <p:cNvPr id="12" name="Picture 11"/>
          <p:cNvPicPr/>
          <p:nvPr/>
        </p:nvPicPr>
        <p:blipFill rotWithShape="1">
          <a:blip r:embed="rId5"/>
          <a:srcRect l="73720" b="13741"/>
          <a:stretch/>
        </p:blipFill>
        <p:spPr bwMode="auto">
          <a:xfrm>
            <a:off x="8737335" y="4310837"/>
            <a:ext cx="1532997" cy="1480079"/>
          </a:xfrm>
          <a:prstGeom prst="rect">
            <a:avLst/>
          </a:prstGeom>
          <a:ln>
            <a:noFill/>
          </a:ln>
          <a:extLst>
            <a:ext uri="{53640926-AAD7-44D8-BBD7-CCE9431645EC}">
              <a14:shadowObscured xmlns:a14="http://schemas.microsoft.com/office/drawing/2010/main"/>
            </a:ext>
          </a:extLst>
        </p:spPr>
      </p:pic>
      <p:sp>
        <p:nvSpPr>
          <p:cNvPr id="13" name="TextBox 12"/>
          <p:cNvSpPr txBox="1"/>
          <p:nvPr/>
        </p:nvSpPr>
        <p:spPr>
          <a:xfrm>
            <a:off x="5901267" y="6289295"/>
            <a:ext cx="5444065" cy="646331"/>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3.3 showing Translate command from Review </a:t>
            </a:r>
            <a:r>
              <a:rPr lang="en-US" sz="1200" b="1" i="1" dirty="0" smtClean="0">
                <a:latin typeface="Times New Roman" panose="02020603050405020304" pitchFamily="18" charset="0"/>
                <a:cs typeface="Times New Roman" panose="02020603050405020304" pitchFamily="18" charset="0"/>
              </a:rPr>
              <a:t>Tab.</a:t>
            </a:r>
          </a:p>
          <a:p>
            <a:r>
              <a:rPr lang="en-US" sz="1200" dirty="0">
                <a:latin typeface="Times New Roman" panose="02020603050405020304" pitchFamily="18" charset="0"/>
                <a:cs typeface="Times New Roman" panose="02020603050405020304" pitchFamily="18" charset="0"/>
              </a:rPr>
              <a:t>For example, the word </a:t>
            </a:r>
            <a:r>
              <a:rPr lang="en-US" sz="1200" b="1" i="1" dirty="0">
                <a:latin typeface="Times New Roman" panose="02020603050405020304" pitchFamily="18" charset="0"/>
                <a:cs typeface="Times New Roman" panose="02020603050405020304" pitchFamily="18" charset="0"/>
              </a:rPr>
              <a:t>Hello</a:t>
            </a:r>
            <a:r>
              <a:rPr lang="en-US" sz="1200" dirty="0">
                <a:latin typeface="Times New Roman" panose="02020603050405020304" pitchFamily="18" charset="0"/>
                <a:cs typeface="Times New Roman" panose="02020603050405020304" pitchFamily="18" charset="0"/>
              </a:rPr>
              <a:t> in English is translated to </a:t>
            </a:r>
            <a:r>
              <a:rPr lang="en-US" sz="1200" b="1" i="1" dirty="0" err="1">
                <a:latin typeface="Times New Roman" panose="02020603050405020304" pitchFamily="18" charset="0"/>
                <a:cs typeface="Times New Roman" panose="02020603050405020304" pitchFamily="18" charset="0"/>
              </a:rPr>
              <a:t>Bula</a:t>
            </a:r>
            <a:r>
              <a:rPr lang="en-US" sz="1200" dirty="0">
                <a:latin typeface="Times New Roman" panose="02020603050405020304" pitchFamily="18" charset="0"/>
                <a:cs typeface="Times New Roman" panose="02020603050405020304" pitchFamily="18" charset="0"/>
              </a:rPr>
              <a:t> in Fiji.</a:t>
            </a:r>
          </a:p>
          <a:p>
            <a:endParaRPr lang="en-US" sz="12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83818" y="944455"/>
            <a:ext cx="5290041" cy="1785104"/>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Some new features in Word 2019</a:t>
            </a:r>
          </a:p>
          <a:p>
            <a:r>
              <a:rPr lang="en-US" sz="2200" b="1" dirty="0" smtClean="0">
                <a:latin typeface="Times New Roman" panose="02020603050405020304" pitchFamily="18" charset="0"/>
                <a:cs typeface="Times New Roman" panose="02020603050405020304" pitchFamily="18" charset="0"/>
              </a:rPr>
              <a:t>1. Tell </a:t>
            </a:r>
            <a:r>
              <a:rPr lang="en-US" sz="2200" b="1" dirty="0">
                <a:latin typeface="Times New Roman" panose="02020603050405020304" pitchFamily="18" charset="0"/>
                <a:cs typeface="Times New Roman" panose="02020603050405020304" pitchFamily="18" charset="0"/>
              </a:rPr>
              <a:t>Me</a:t>
            </a:r>
            <a:r>
              <a:rPr lang="en-US" sz="2200" dirty="0">
                <a:latin typeface="Times New Roman" panose="02020603050405020304" pitchFamily="18" charset="0"/>
                <a:cs typeface="Times New Roman" panose="02020603050405020304" pitchFamily="18" charset="0"/>
              </a:rPr>
              <a:t> is a new feature which ask your o to type a command to access it instantly </a:t>
            </a:r>
            <a:r>
              <a:rPr lang="en-US" sz="2200" b="1" dirty="0">
                <a:latin typeface="Times New Roman" panose="02020603050405020304" pitchFamily="18" charset="0"/>
                <a:cs typeface="Times New Roman" panose="02020603050405020304" pitchFamily="18" charset="0"/>
              </a:rPr>
              <a:t>as show below in </a:t>
            </a:r>
            <a:r>
              <a:rPr lang="en-US" sz="2200" b="1" i="1" dirty="0">
                <a:latin typeface="Times New Roman" panose="02020603050405020304" pitchFamily="18" charset="0"/>
                <a:cs typeface="Times New Roman" panose="02020603050405020304" pitchFamily="18" charset="0"/>
              </a:rPr>
              <a:t>Fig 3.1</a:t>
            </a:r>
            <a:r>
              <a:rPr lang="en-US" sz="2200" b="1" dirty="0">
                <a:latin typeface="Times New Roman" panose="02020603050405020304" pitchFamily="18" charset="0"/>
                <a:cs typeface="Times New Roman" panose="02020603050405020304" pitchFamily="18" charset="0"/>
              </a:rPr>
              <a:t>.</a:t>
            </a:r>
          </a:p>
          <a:p>
            <a:endParaRPr lang="en-US" sz="2200" dirty="0"/>
          </a:p>
        </p:txBody>
      </p:sp>
      <p:pic>
        <p:nvPicPr>
          <p:cNvPr id="14" name="Picture 13"/>
          <p:cNvPicPr/>
          <p:nvPr/>
        </p:nvPicPr>
        <p:blipFill>
          <a:blip r:embed="rId6">
            <a:extLst>
              <a:ext uri="{28A0092B-C50C-407E-A947-70E740481C1C}">
                <a14:useLocalDpi xmlns:a14="http://schemas.microsoft.com/office/drawing/2010/main" val="0"/>
              </a:ext>
            </a:extLst>
          </a:blip>
          <a:stretch>
            <a:fillRect/>
          </a:stretch>
        </p:blipFill>
        <p:spPr>
          <a:xfrm>
            <a:off x="137225" y="2345907"/>
            <a:ext cx="3418775" cy="601264"/>
          </a:xfrm>
          <a:prstGeom prst="rect">
            <a:avLst/>
          </a:prstGeom>
        </p:spPr>
      </p:pic>
      <p:sp>
        <p:nvSpPr>
          <p:cNvPr id="16" name="TextBox 15"/>
          <p:cNvSpPr txBox="1"/>
          <p:nvPr/>
        </p:nvSpPr>
        <p:spPr>
          <a:xfrm>
            <a:off x="83818" y="2918014"/>
            <a:ext cx="3949702" cy="461665"/>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3.1 showing Tell Me command from Home Tab</a:t>
            </a: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0685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099733" y="94285"/>
            <a:ext cx="7962061" cy="661680"/>
          </a:xfrm>
        </p:spPr>
        <p:txBody>
          <a:bodyPr>
            <a:normAutofit fontScale="90000"/>
          </a:bodyPr>
          <a:lstStyle/>
          <a:p>
            <a:r>
              <a:rPr lang="en-AU" b="1" dirty="0">
                <a:latin typeface="Times New Roman" panose="02020603050405020304" pitchFamily="18" charset="0"/>
                <a:cs typeface="Times New Roman" panose="02020603050405020304" pitchFamily="18" charset="0"/>
              </a:rPr>
              <a:t>Exploring Microsoft Word</a:t>
            </a: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0" y="799514"/>
            <a:ext cx="5332242" cy="1662235"/>
          </a:xfrm>
        </p:spPr>
        <p:txBody>
          <a:bodyPr>
            <a:normAutofit/>
          </a:bodyPr>
          <a:lstStyle/>
          <a:p>
            <a:r>
              <a:rPr lang="en-US" sz="1600" dirty="0">
                <a:latin typeface="Times New Roman" panose="02020603050405020304" pitchFamily="18" charset="0"/>
                <a:cs typeface="Times New Roman" panose="02020603050405020304" pitchFamily="18" charset="0"/>
              </a:rPr>
              <a:t>View a page at a time, </a:t>
            </a:r>
            <a:r>
              <a:rPr lang="en-US" sz="1600" b="1" dirty="0">
                <a:latin typeface="Times New Roman" panose="02020603050405020304" pitchFamily="18" charset="0"/>
                <a:cs typeface="Times New Roman" panose="02020603050405020304" pitchFamily="18" charset="0"/>
              </a:rPr>
              <a:t>side by side</a:t>
            </a:r>
            <a:r>
              <a:rPr lang="en-US" sz="1600" dirty="0">
                <a:latin typeface="Times New Roman" panose="02020603050405020304" pitchFamily="18" charset="0"/>
                <a:cs typeface="Times New Roman" panose="02020603050405020304" pitchFamily="18" charset="0"/>
              </a:rPr>
              <a:t> </a:t>
            </a:r>
          </a:p>
          <a:p>
            <a:pPr marL="0" indent="0">
              <a:buNone/>
            </a:pPr>
            <a:r>
              <a:rPr lang="en-US" sz="1600" dirty="0">
                <a:latin typeface="Times New Roman" panose="02020603050405020304" pitchFamily="18" charset="0"/>
                <a:cs typeface="Times New Roman" panose="02020603050405020304" pitchFamily="18" charset="0"/>
              </a:rPr>
              <a:t>Instead of scrolling continuously, flip through pages like a book with Side to Side view. On a touch screen, you use your finger to page through your document. The horizontal scroll bar—or your mouse wheel—gives you book-style navigation as shown below in </a:t>
            </a:r>
            <a:r>
              <a:rPr lang="en-US" sz="1600" i="1" dirty="0">
                <a:latin typeface="Times New Roman" panose="02020603050405020304" pitchFamily="18" charset="0"/>
                <a:cs typeface="Times New Roman" panose="02020603050405020304" pitchFamily="18" charset="0"/>
              </a:rPr>
              <a:t>Fig 3.4.</a:t>
            </a:r>
            <a:endParaRPr lang="en-US" sz="16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24882" y="3650004"/>
            <a:ext cx="3949702"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3.4 showing Side to Side command from View Tab</a:t>
            </a:r>
            <a:endParaRPr lang="en-US" sz="1200" dirty="0">
              <a:latin typeface="Times New Roman" panose="02020603050405020304" pitchFamily="18"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xmlns="" id="{FAF9274F-8429-43B0-B56E-864C01E876F5}"/>
              </a:ext>
            </a:extLst>
          </p:cNvPr>
          <p:cNvSpPr txBox="1">
            <a:spLocks/>
          </p:cNvSpPr>
          <p:nvPr/>
        </p:nvSpPr>
        <p:spPr>
          <a:xfrm>
            <a:off x="5469468" y="944456"/>
            <a:ext cx="6197600" cy="12230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latin typeface="Times New Roman" panose="02020603050405020304" pitchFamily="18" charset="0"/>
                <a:cs typeface="Times New Roman" panose="02020603050405020304" pitchFamily="18" charset="0"/>
              </a:rPr>
              <a:t>For practice, ensure two documents are opened. On one of the documents, click </a:t>
            </a:r>
            <a:r>
              <a:rPr lang="en-US" sz="1600" i="1" dirty="0">
                <a:latin typeface="Times New Roman" panose="02020603050405020304" pitchFamily="18" charset="0"/>
                <a:cs typeface="Times New Roman" panose="02020603050405020304" pitchFamily="18" charset="0"/>
              </a:rPr>
              <a:t>View </a:t>
            </a:r>
            <a:r>
              <a:rPr lang="en-US" sz="1600" dirty="0">
                <a:latin typeface="Times New Roman" panose="02020603050405020304" pitchFamily="18" charset="0"/>
                <a:cs typeface="Times New Roman" panose="02020603050405020304" pitchFamily="18" charset="0"/>
              </a:rPr>
              <a:t>tab, on </a:t>
            </a:r>
            <a:r>
              <a:rPr lang="en-US" sz="1600" i="1" dirty="0">
                <a:latin typeface="Times New Roman" panose="02020603050405020304" pitchFamily="18" charset="0"/>
                <a:cs typeface="Times New Roman" panose="02020603050405020304" pitchFamily="18" charset="0"/>
              </a:rPr>
              <a:t>Window</a:t>
            </a:r>
            <a:r>
              <a:rPr lang="en-US" sz="1600" dirty="0">
                <a:latin typeface="Times New Roman" panose="02020603050405020304" pitchFamily="18" charset="0"/>
                <a:cs typeface="Times New Roman" panose="02020603050405020304" pitchFamily="18" charset="0"/>
              </a:rPr>
              <a:t> group, Click </a:t>
            </a:r>
            <a:r>
              <a:rPr lang="en-US" sz="1600" i="1" dirty="0">
                <a:latin typeface="Times New Roman" panose="02020603050405020304" pitchFamily="18" charset="0"/>
                <a:cs typeface="Times New Roman" panose="02020603050405020304" pitchFamily="18" charset="0"/>
              </a:rPr>
              <a:t>View Side by Side.</a:t>
            </a:r>
            <a:r>
              <a:rPr lang="en-US" sz="1600" dirty="0">
                <a:latin typeface="Times New Roman" panose="02020603050405020304" pitchFamily="18" charset="0"/>
                <a:cs typeface="Times New Roman" panose="02020603050405020304" pitchFamily="18" charset="0"/>
              </a:rPr>
              <a:t> Two documents will be visible in Side by Side View as shown in </a:t>
            </a:r>
            <a:r>
              <a:rPr lang="en-US" sz="1600" dirty="0" err="1" smtClean="0">
                <a:latin typeface="Times New Roman" panose="02020603050405020304" pitchFamily="18" charset="0"/>
                <a:cs typeface="Times New Roman" panose="02020603050405020304" pitchFamily="18" charset="0"/>
              </a:rPr>
              <a:t>FigMicrosoft</a:t>
            </a:r>
            <a:endParaRPr lang="en-US" sz="1600"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5872688" y="6256635"/>
            <a:ext cx="5444065" cy="461665"/>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3.5 showing Side to Side from two documents.</a:t>
            </a: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p:txBody>
      </p:sp>
      <p:pic>
        <p:nvPicPr>
          <p:cNvPr id="14" name="Picture 13" descr="Side to Side"/>
          <p:cNvPicPr/>
          <p:nvPr/>
        </p:nvPicPr>
        <p:blipFill>
          <a:blip r:embed="rId3">
            <a:extLst>
              <a:ext uri="{28A0092B-C50C-407E-A947-70E740481C1C}">
                <a14:useLocalDpi xmlns:a14="http://schemas.microsoft.com/office/drawing/2010/main" val="0"/>
              </a:ext>
            </a:extLst>
          </a:blip>
          <a:srcRect/>
          <a:stretch>
            <a:fillRect/>
          </a:stretch>
        </p:blipFill>
        <p:spPr bwMode="auto">
          <a:xfrm>
            <a:off x="124882" y="2345079"/>
            <a:ext cx="4143375" cy="1304925"/>
          </a:xfrm>
          <a:prstGeom prst="rect">
            <a:avLst/>
          </a:prstGeom>
          <a:noFill/>
          <a:ln>
            <a:noFill/>
          </a:ln>
        </p:spPr>
      </p:pic>
      <p:pic>
        <p:nvPicPr>
          <p:cNvPr id="15" name="Picture 14"/>
          <p:cNvPicPr/>
          <p:nvPr/>
        </p:nvPicPr>
        <p:blipFill rotWithShape="1">
          <a:blip r:embed="rId4">
            <a:extLst>
              <a:ext uri="{28A0092B-C50C-407E-A947-70E740481C1C}">
                <a14:useLocalDpi xmlns:a14="http://schemas.microsoft.com/office/drawing/2010/main" val="0"/>
              </a:ext>
            </a:extLst>
          </a:blip>
          <a:srcRect l="22717" t="22800" r="20949" b="3933"/>
          <a:stretch/>
        </p:blipFill>
        <p:spPr bwMode="auto">
          <a:xfrm>
            <a:off x="5803186" y="1932376"/>
            <a:ext cx="6388814" cy="4324259"/>
          </a:xfrm>
          <a:prstGeom prst="rect">
            <a:avLst/>
          </a:prstGeom>
          <a:ln>
            <a:noFill/>
          </a:ln>
          <a:extLst>
            <a:ext uri="{53640926-AAD7-44D8-BBD7-CCE9431645EC}">
              <a14:shadowObscured xmlns:a14="http://schemas.microsoft.com/office/drawing/2010/main"/>
            </a:ext>
          </a:extLst>
        </p:spPr>
      </p:pic>
      <p:sp>
        <p:nvSpPr>
          <p:cNvPr id="17" name="Content Placeholder 2">
            <a:extLst>
              <a:ext uri="{FF2B5EF4-FFF2-40B4-BE49-F238E27FC236}">
                <a16:creationId xmlns:a16="http://schemas.microsoft.com/office/drawing/2014/main" xmlns="" id="{FAF9274F-8429-43B0-B56E-864C01E876F5}"/>
              </a:ext>
            </a:extLst>
          </p:cNvPr>
          <p:cNvSpPr txBox="1">
            <a:spLocks/>
          </p:cNvSpPr>
          <p:nvPr/>
        </p:nvSpPr>
        <p:spPr>
          <a:xfrm>
            <a:off x="-93134" y="3900239"/>
            <a:ext cx="5332242" cy="16622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latin typeface="Times New Roman" panose="02020603050405020304" pitchFamily="18" charset="0"/>
                <a:cs typeface="Times New Roman" panose="02020603050405020304" pitchFamily="18" charset="0"/>
              </a:rPr>
              <a:t> If there are more than two documents opened, then a dialog box will appear as shown below in </a:t>
            </a:r>
            <a:r>
              <a:rPr lang="en-US" sz="1600" i="1" dirty="0">
                <a:latin typeface="Times New Roman" panose="02020603050405020304" pitchFamily="18" charset="0"/>
                <a:cs typeface="Times New Roman" panose="02020603050405020304" pitchFamily="18" charset="0"/>
              </a:rPr>
              <a:t>Fig 3.6. </a:t>
            </a:r>
            <a:r>
              <a:rPr lang="en-US" sz="1600" dirty="0">
                <a:latin typeface="Times New Roman" panose="02020603050405020304" pitchFamily="18" charset="0"/>
                <a:cs typeface="Times New Roman" panose="02020603050405020304" pitchFamily="18" charset="0"/>
              </a:rPr>
              <a:t>Select the document you prefer to view side by side</a:t>
            </a:r>
            <a:r>
              <a:rPr lang="en-US" sz="1600" dirty="0" smtClean="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Then, click OK. Both documents will be visible in Side by Side View.</a:t>
            </a:r>
          </a:p>
          <a:p>
            <a:endParaRPr lang="en-US" sz="1600" dirty="0">
              <a:latin typeface="Times New Roman" panose="02020603050405020304" pitchFamily="18" charset="0"/>
              <a:cs typeface="Times New Roman" panose="02020603050405020304" pitchFamily="18" charset="0"/>
            </a:endParaRPr>
          </a:p>
        </p:txBody>
      </p:sp>
      <p:pic>
        <p:nvPicPr>
          <p:cNvPr id="18" name="Picture 17"/>
          <p:cNvPicPr/>
          <p:nvPr/>
        </p:nvPicPr>
        <p:blipFill>
          <a:blip r:embed="rId5"/>
          <a:stretch>
            <a:fillRect/>
          </a:stretch>
        </p:blipFill>
        <p:spPr>
          <a:xfrm>
            <a:off x="210607" y="4809895"/>
            <a:ext cx="2524125" cy="1725843"/>
          </a:xfrm>
          <a:prstGeom prst="rect">
            <a:avLst/>
          </a:prstGeom>
        </p:spPr>
      </p:pic>
      <p:sp>
        <p:nvSpPr>
          <p:cNvPr id="19" name="TextBox 18"/>
          <p:cNvSpPr txBox="1"/>
          <p:nvPr/>
        </p:nvSpPr>
        <p:spPr>
          <a:xfrm>
            <a:off x="124882" y="6563445"/>
            <a:ext cx="5444065" cy="461665"/>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3.6 showing Side to Side dialog box </a:t>
            </a: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15036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099733" y="94285"/>
            <a:ext cx="7962061" cy="661680"/>
          </a:xfrm>
        </p:spPr>
        <p:txBody>
          <a:bodyPr>
            <a:normAutofit fontScale="90000"/>
          </a:bodyPr>
          <a:lstStyle/>
          <a:p>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87866" y="970898"/>
            <a:ext cx="11778593" cy="5300132"/>
          </a:xfrm>
        </p:spPr>
        <p:txBody>
          <a:bodyPr>
            <a:normAutofit/>
          </a:bodyPr>
          <a:lstStyle/>
          <a:p>
            <a:r>
              <a:rPr lang="en-US" sz="2000" dirty="0">
                <a:latin typeface="Times New Roman" panose="02020603050405020304" pitchFamily="18" charset="0"/>
                <a:cs typeface="Times New Roman" panose="02020603050405020304" pitchFamily="18" charset="0"/>
              </a:rPr>
              <a:t>Use </a:t>
            </a:r>
            <a:r>
              <a:rPr lang="en-US" sz="2000" b="1" dirty="0" err="1">
                <a:latin typeface="Times New Roman" panose="02020603050405020304" pitchFamily="18" charset="0"/>
                <a:cs typeface="Times New Roman" panose="02020603050405020304" pitchFamily="18" charset="0"/>
              </a:rPr>
              <a:t>LaTeX</a:t>
            </a:r>
            <a:r>
              <a:rPr lang="en-US" sz="2000" dirty="0">
                <a:latin typeface="Times New Roman" panose="02020603050405020304" pitchFamily="18" charset="0"/>
                <a:cs typeface="Times New Roman" panose="02020603050405020304" pitchFamily="18" charset="0"/>
              </a:rPr>
              <a:t> in your equations </a:t>
            </a:r>
          </a:p>
          <a:p>
            <a:r>
              <a:rPr lang="en-US" sz="2000" dirty="0">
                <a:latin typeface="Times New Roman" panose="02020603050405020304" pitchFamily="18" charset="0"/>
                <a:cs typeface="Times New Roman" panose="02020603050405020304" pitchFamily="18" charset="0"/>
              </a:rPr>
              <a:t>Word now supports </a:t>
            </a:r>
            <a:r>
              <a:rPr lang="en-US" sz="2000" dirty="0" err="1">
                <a:latin typeface="Times New Roman" panose="02020603050405020304" pitchFamily="18" charset="0"/>
                <a:cs typeface="Times New Roman" panose="02020603050405020304" pitchFamily="18" charset="0"/>
              </a:rPr>
              <a:t>LaTeX</a:t>
            </a:r>
            <a:r>
              <a:rPr lang="en-US" sz="2000" dirty="0">
                <a:latin typeface="Times New Roman" panose="02020603050405020304" pitchFamily="18" charset="0"/>
                <a:cs typeface="Times New Roman" panose="02020603050405020304" pitchFamily="18" charset="0"/>
              </a:rPr>
              <a:t> math syntax to create and edit math equations from equations using Insert tab as shown below in </a:t>
            </a:r>
            <a:r>
              <a:rPr lang="en-US" sz="2000" i="1" dirty="0">
                <a:latin typeface="Times New Roman" panose="02020603050405020304" pitchFamily="18" charset="0"/>
                <a:cs typeface="Times New Roman" panose="02020603050405020304" pitchFamily="18" charset="0"/>
              </a:rPr>
              <a:t>Fig 3.7</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22765" y="3908129"/>
            <a:ext cx="5008035"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3.7 showing </a:t>
            </a:r>
            <a:r>
              <a:rPr lang="en-US" sz="1200" b="1" i="1" dirty="0" err="1">
                <a:latin typeface="Times New Roman" panose="02020603050405020304" pitchFamily="18" charset="0"/>
                <a:cs typeface="Times New Roman" panose="02020603050405020304" pitchFamily="18" charset="0"/>
              </a:rPr>
              <a:t>LaTeX</a:t>
            </a:r>
            <a:r>
              <a:rPr lang="en-US" sz="1200" b="1" i="1" dirty="0">
                <a:latin typeface="Times New Roman" panose="02020603050405020304" pitchFamily="18" charset="0"/>
                <a:cs typeface="Times New Roman" panose="02020603050405020304" pitchFamily="18" charset="0"/>
              </a:rPr>
              <a:t> command from Equation from Insert Tab</a:t>
            </a:r>
            <a:endParaRPr lang="en-US" sz="1200" dirty="0">
              <a:latin typeface="Times New Roman" panose="02020603050405020304" pitchFamily="18" charset="0"/>
              <a:cs typeface="Times New Roman" panose="02020603050405020304" pitchFamily="18" charset="0"/>
            </a:endParaRPr>
          </a:p>
        </p:txBody>
      </p:sp>
      <p:pic>
        <p:nvPicPr>
          <p:cNvPr id="8" name="Picture 7" descr="LaTeX format"/>
          <p:cNvPicPr/>
          <p:nvPr/>
        </p:nvPicPr>
        <p:blipFill>
          <a:blip r:embed="rId3">
            <a:extLst>
              <a:ext uri="{28A0092B-C50C-407E-A947-70E740481C1C}">
                <a14:useLocalDpi xmlns:a14="http://schemas.microsoft.com/office/drawing/2010/main" val="0"/>
              </a:ext>
            </a:extLst>
          </a:blip>
          <a:srcRect/>
          <a:stretch>
            <a:fillRect/>
          </a:stretch>
        </p:blipFill>
        <p:spPr bwMode="auto">
          <a:xfrm>
            <a:off x="584728" y="2167467"/>
            <a:ext cx="2352675" cy="1664229"/>
          </a:xfrm>
          <a:prstGeom prst="rect">
            <a:avLst/>
          </a:prstGeom>
          <a:noFill/>
          <a:ln>
            <a:noFill/>
          </a:ln>
        </p:spPr>
      </p:pic>
    </p:spTree>
    <p:extLst>
      <p:ext uri="{BB962C8B-B14F-4D97-AF65-F5344CB8AC3E}">
        <p14:creationId xmlns:p14="http://schemas.microsoft.com/office/powerpoint/2010/main" val="10102415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099731" y="1"/>
            <a:ext cx="7962061" cy="661680"/>
          </a:xfrm>
        </p:spPr>
        <p:txBody>
          <a:bodyPr>
            <a:normAutofit fontScale="90000"/>
          </a:bodyPr>
          <a:lstStyle/>
          <a:p>
            <a:pPr marL="742950" indent="-742950">
              <a:buFont typeface="+mj-lt"/>
              <a:buAutoNum type="alphaLcPeriod" startAt="3"/>
            </a:pPr>
            <a:r>
              <a:rPr lang="en-US" b="1" dirty="0" smtClean="0">
                <a:latin typeface="Times New Roman" panose="02020603050405020304" pitchFamily="18" charset="0"/>
                <a:cs typeface="Times New Roman" panose="02020603050405020304" pitchFamily="18" charset="0"/>
              </a:rPr>
              <a:t>Excel</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436033" y="831015"/>
            <a:ext cx="11778593" cy="5300132"/>
          </a:xfrm>
        </p:spPr>
        <p:txBody>
          <a:bodyPr>
            <a:noAutofit/>
          </a:bodyPr>
          <a:lstStyle/>
          <a:p>
            <a:r>
              <a:rPr lang="en-US" sz="2400" dirty="0">
                <a:latin typeface="Times New Roman" panose="02020603050405020304" pitchFamily="18" charset="0"/>
                <a:cs typeface="Times New Roman" panose="02020603050405020304" pitchFamily="18" charset="0"/>
              </a:rPr>
              <a:t>Microsoft Excel 2019 is the latest version of popular spreadsheet software developed by Microsoft Corporation. Older versions are 2010, 2013 and 2016. </a:t>
            </a:r>
          </a:p>
          <a:p>
            <a:r>
              <a:rPr lang="en-US" sz="2400" dirty="0">
                <a:latin typeface="Times New Roman" panose="02020603050405020304" pitchFamily="18" charset="0"/>
                <a:cs typeface="Times New Roman" panose="02020603050405020304" pitchFamily="18" charset="0"/>
              </a:rPr>
              <a:t>Microsoft Excel allows users to create spreadsheet to store data, organize, sort, calculate and create charts using data. It is important to know its features first before using the spreadsheet.</a:t>
            </a:r>
          </a:p>
          <a:p>
            <a:r>
              <a:rPr lang="en-US" sz="2400" dirty="0">
                <a:latin typeface="Times New Roman" panose="02020603050405020304" pitchFamily="18" charset="0"/>
                <a:cs typeface="Times New Roman" panose="02020603050405020304" pitchFamily="18" charset="0"/>
              </a:rPr>
              <a:t>In this course, you are going to learn how to...</a:t>
            </a:r>
          </a:p>
          <a:p>
            <a:pPr marL="449263" lvl="0" indent="-271463">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Define electronic spreadsheet</a:t>
            </a:r>
          </a:p>
          <a:p>
            <a:pPr marL="449263" lvl="0" indent="-271463">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Know excel</a:t>
            </a:r>
          </a:p>
          <a:p>
            <a:pPr marL="449263" lvl="0" indent="-271463">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Explore the Excel Window</a:t>
            </a:r>
          </a:p>
          <a:p>
            <a:pPr marL="449263" lvl="0" indent="-271463">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Explore Workbook Window</a:t>
            </a:r>
          </a:p>
          <a:p>
            <a:pPr marL="449263" lvl="0" indent="-271463">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Move around the worksheet</a:t>
            </a:r>
          </a:p>
          <a:p>
            <a:pPr marL="449263" lvl="0" indent="-271463">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Enter formulas and functions</a:t>
            </a:r>
          </a:p>
          <a:p>
            <a:endParaRPr lang="en-US" sz="24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12972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099731" y="1"/>
            <a:ext cx="7962061" cy="661680"/>
          </a:xfrm>
        </p:spPr>
        <p:txBody>
          <a:bodyPr>
            <a:normAutofit fontScale="90000"/>
          </a:bodyPr>
          <a:lstStyle/>
          <a:p>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436033" y="661681"/>
            <a:ext cx="11778593" cy="5300132"/>
          </a:xfrm>
        </p:spPr>
        <p:txBody>
          <a:bodyPr>
            <a:noAutofit/>
          </a:bodyPr>
          <a:lstStyle/>
          <a:p>
            <a:pPr marL="520700" lvl="0" indent="-342900">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Format </a:t>
            </a:r>
            <a:r>
              <a:rPr lang="en-US" sz="2400" dirty="0">
                <a:latin typeface="Times New Roman" panose="02020603050405020304" pitchFamily="18" charset="0"/>
                <a:cs typeface="Times New Roman" panose="02020603050405020304" pitchFamily="18" charset="0"/>
              </a:rPr>
              <a:t>Worksheet</a:t>
            </a:r>
          </a:p>
          <a:p>
            <a:pPr marL="449263" lvl="0" indent="-271463">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Charting Worksheet</a:t>
            </a:r>
          </a:p>
          <a:p>
            <a:pPr marL="449263" lvl="0" indent="-271463">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Working with Charts</a:t>
            </a:r>
          </a:p>
          <a:p>
            <a:pPr marL="449263" lvl="0" indent="-271463">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Managing and Analyzing Workbook</a:t>
            </a:r>
          </a:p>
          <a:p>
            <a:pPr marL="449263" lvl="0" indent="-271463">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Working with Sheets</a:t>
            </a:r>
          </a:p>
          <a:p>
            <a:pPr marL="449263" lvl="0" indent="-271463">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Sharing and Copying between applications </a:t>
            </a:r>
            <a:endParaRPr lang="en-US" sz="2400" dirty="0" smtClean="0">
              <a:latin typeface="Times New Roman" panose="02020603050405020304" pitchFamily="18" charset="0"/>
              <a:cs typeface="Times New Roman" panose="02020603050405020304" pitchFamily="18" charset="0"/>
            </a:endParaRPr>
          </a:p>
          <a:p>
            <a:pPr marL="177800" lv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Some </a:t>
            </a:r>
            <a:r>
              <a:rPr lang="en-US" sz="2400" dirty="0">
                <a:latin typeface="Times New Roman" panose="02020603050405020304" pitchFamily="18" charset="0"/>
                <a:cs typeface="Times New Roman" panose="02020603050405020304" pitchFamily="18" charset="0"/>
              </a:rPr>
              <a:t>new features in Excel 2019</a:t>
            </a:r>
          </a:p>
          <a:p>
            <a:pPr marL="0" indent="0">
              <a:buNone/>
            </a:pPr>
            <a:r>
              <a:rPr lang="en-US" sz="2400" b="1" dirty="0">
                <a:latin typeface="Times New Roman" panose="02020603050405020304" pitchFamily="18" charset="0"/>
                <a:cs typeface="Times New Roman" panose="02020603050405020304" pitchFamily="18" charset="0"/>
              </a:rPr>
              <a:t>New Functions </a:t>
            </a:r>
          </a:p>
          <a:p>
            <a:pPr marL="692150" lvl="0" indent="-514350">
              <a:buFont typeface="+mj-lt"/>
              <a:buAutoNum type="romanLcPeriod"/>
            </a:pPr>
            <a:r>
              <a:rPr lang="en-US" sz="2400" dirty="0">
                <a:latin typeface="Times New Roman" panose="02020603050405020304" pitchFamily="18" charset="0"/>
                <a:cs typeface="Times New Roman" panose="02020603050405020304" pitchFamily="18" charset="0"/>
              </a:rPr>
              <a:t>CONCAT</a:t>
            </a:r>
          </a:p>
          <a:p>
            <a:pPr marL="692150" lvl="0" indent="-514350">
              <a:buFont typeface="+mj-lt"/>
              <a:buAutoNum type="romanLcPeriod"/>
            </a:pPr>
            <a:r>
              <a:rPr lang="en-US" sz="2400" dirty="0">
                <a:latin typeface="Times New Roman" panose="02020603050405020304" pitchFamily="18" charset="0"/>
                <a:cs typeface="Times New Roman" panose="02020603050405020304" pitchFamily="18" charset="0"/>
              </a:rPr>
              <a:t>IFS</a:t>
            </a:r>
          </a:p>
          <a:p>
            <a:pPr marL="692150" lvl="0" indent="-514350">
              <a:buFont typeface="+mj-lt"/>
              <a:buAutoNum type="romanLcPeriod"/>
            </a:pPr>
            <a:r>
              <a:rPr lang="en-US" sz="2400" dirty="0">
                <a:latin typeface="Times New Roman" panose="02020603050405020304" pitchFamily="18" charset="0"/>
                <a:cs typeface="Times New Roman" panose="02020603050405020304" pitchFamily="18" charset="0"/>
              </a:rPr>
              <a:t>MAXIFS</a:t>
            </a:r>
          </a:p>
          <a:p>
            <a:pPr marL="692150" lvl="0" indent="-514350">
              <a:buFont typeface="+mj-lt"/>
              <a:buAutoNum type="romanLcPeriod"/>
            </a:pPr>
            <a:r>
              <a:rPr lang="en-US" sz="2400" dirty="0" smtClean="0">
                <a:latin typeface="Times New Roman" panose="02020603050405020304" pitchFamily="18" charset="0"/>
                <a:cs typeface="Times New Roman" panose="02020603050405020304" pitchFamily="18" charset="0"/>
              </a:rPr>
              <a:t>MINIFS</a:t>
            </a:r>
          </a:p>
          <a:p>
            <a:pPr marL="541338" lvl="0" indent="-363538">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p>
          <a:p>
            <a:pPr marL="177800" lv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40841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857250" indent="-857250">
              <a:buFont typeface="+mj-lt"/>
              <a:buAutoNum type="romanLcPeriod"/>
            </a:pPr>
            <a:r>
              <a:rPr lang="en-US" b="1" dirty="0" smtClean="0">
                <a:latin typeface="Times New Roman" panose="02020603050405020304" pitchFamily="18" charset="0"/>
                <a:cs typeface="Times New Roman" panose="02020603050405020304" pitchFamily="18" charset="0"/>
              </a:rPr>
              <a:t>CONCAT FUNCTION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b="1" dirty="0"/>
              <a:t>CONCAT</a:t>
            </a:r>
            <a:r>
              <a:rPr lang="en-US" dirty="0"/>
              <a:t> is similar to CONCATENATE, but it now supports range references, not just individual cell references.</a:t>
            </a:r>
          </a:p>
          <a:p>
            <a:pPr marL="0" indent="0">
              <a:buNone/>
            </a:pPr>
            <a:r>
              <a:rPr lang="en-US" dirty="0"/>
              <a:t>For example: To concatenate the values in A1, B1, and C1, you can use a range like this: = CONCAT (A1:C1)</a:t>
            </a:r>
          </a:p>
          <a:p>
            <a:pPr marL="0" indent="0">
              <a:buNone/>
            </a:pPr>
            <a:r>
              <a:rPr lang="en-US" dirty="0"/>
              <a:t>This present the values in cell A1, B1 and C1 as 201020.</a:t>
            </a:r>
          </a:p>
          <a:p>
            <a:endParaRPr lang="en-US" dirty="0"/>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pic>
        <p:nvPicPr>
          <p:cNvPr id="5" name="Picture 4">
            <a:extLst>
              <a:ext uri="{FF2B5EF4-FFF2-40B4-BE49-F238E27FC236}">
                <a16:creationId xmlns:lc="http://schemas.openxmlformats.org/drawingml/2006/lockedCanvas"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id="{3958A1DE-769F-461D-AD01-FA1373317E51}"/>
              </a:ext>
            </a:extLst>
          </p:cNvPr>
          <p:cNvPicPr/>
          <p:nvPr/>
        </p:nvPicPr>
        <p:blipFill>
          <a:blip r:embed="rId2">
            <a:extLst>
              <a:ext uri="{28A0092B-C50C-407E-A947-70E740481C1C}">
                <a14:useLocalDpi xmlns:a14="http://schemas.microsoft.com/office/drawing/2010/main" val="0"/>
              </a:ext>
            </a:extLst>
          </a:blip>
          <a:stretch>
            <a:fillRect/>
          </a:stretch>
        </p:blipFill>
        <p:spPr>
          <a:xfrm>
            <a:off x="965200" y="4516438"/>
            <a:ext cx="5943600" cy="1660525"/>
          </a:xfrm>
          <a:prstGeom prst="rect">
            <a:avLst/>
          </a:prstGeom>
        </p:spPr>
      </p:pic>
    </p:spTree>
    <p:extLst>
      <p:ext uri="{BB962C8B-B14F-4D97-AF65-F5344CB8AC3E}">
        <p14:creationId xmlns:p14="http://schemas.microsoft.com/office/powerpoint/2010/main" val="2723451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666" y="60325"/>
            <a:ext cx="11700933" cy="1325563"/>
          </a:xfrm>
        </p:spPr>
        <p:txBody>
          <a:bodyPr/>
          <a:lstStyle/>
          <a:p>
            <a:pPr marL="857250" indent="-857250">
              <a:buFont typeface="+mj-lt"/>
              <a:buAutoNum type="romanLcPeriod" startAt="2"/>
            </a:pPr>
            <a:r>
              <a:rPr lang="en-US" b="1" dirty="0" smtClean="0">
                <a:latin typeface="Times New Roman" panose="02020603050405020304" pitchFamily="18" charset="0"/>
                <a:cs typeface="Times New Roman" panose="02020603050405020304" pitchFamily="18" charset="0"/>
              </a:rPr>
              <a:t>IFS FUNCTION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45534" y="1594380"/>
            <a:ext cx="11700932" cy="4351338"/>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IFS </a:t>
            </a:r>
            <a:r>
              <a:rPr lang="en-US" sz="2000" dirty="0">
                <a:latin typeface="Times New Roman" panose="02020603050405020304" pitchFamily="18" charset="0"/>
                <a:cs typeface="Times New Roman" panose="02020603050405020304" pitchFamily="18" charset="0"/>
              </a:rPr>
              <a:t>function, conditions are tested in the order that you specify. If passed, the result is returned. The IFS function checks whether one or more conditions are met, and returns a value that corresponds to the first TRUE condition. IFS can take the place of multiple nested IF statements, and is much easier to read with multiple conditions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0" lvl="0" indent="0">
              <a:buNone/>
            </a:pPr>
            <a:r>
              <a:rPr lang="en-US" sz="2000" dirty="0">
                <a:latin typeface="Times New Roman" panose="02020603050405020304" pitchFamily="18" charset="0"/>
                <a:cs typeface="Times New Roman" panose="02020603050405020304" pitchFamily="18" charset="0"/>
              </a:rPr>
              <a:t>For example:  To calculate the Grade for the students. Instead of using multiple nested IF statements, IFS function is used</a:t>
            </a:r>
            <a:r>
              <a:rPr lang="en-US" sz="2000" dirty="0" smtClean="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Those with “F” grade doesn’t meet the prior conditions.</a:t>
            </a:r>
          </a:p>
          <a:p>
            <a:r>
              <a:rPr lang="en-US" sz="2000" dirty="0">
                <a:latin typeface="Times New Roman" panose="02020603050405020304" pitchFamily="18" charset="0"/>
                <a:cs typeface="Times New Roman" panose="02020603050405020304" pitchFamily="18" charset="0"/>
              </a:rPr>
              <a:t>“TRUE” and its corresponding value “F” provide a default value because other conditions aren’t met.</a:t>
            </a:r>
          </a:p>
          <a:p>
            <a:r>
              <a:rPr lang="en-US" sz="2000" dirty="0">
                <a:latin typeface="Times New Roman" panose="02020603050405020304" pitchFamily="18" charset="0"/>
                <a:cs typeface="Times New Roman" panose="02020603050405020304" pitchFamily="18" charset="0"/>
              </a:rPr>
              <a:t>The formula for cells A2:A9 is:</a:t>
            </a:r>
          </a:p>
          <a:p>
            <a:r>
              <a:rPr lang="en-US" sz="2000" dirty="0">
                <a:latin typeface="Times New Roman" panose="02020603050405020304" pitchFamily="18" charset="0"/>
                <a:cs typeface="Times New Roman" panose="02020603050405020304" pitchFamily="18" charset="0"/>
              </a:rPr>
              <a:t>=IFS(A2&gt;=80,"A”, A2&gt;=70,"B”, A2&gt;=60,"C”, A2&gt;=50,"D”, TRUE,"F")</a:t>
            </a:r>
          </a:p>
          <a:p>
            <a:r>
              <a:rPr lang="en-US" sz="2000" dirty="0">
                <a:latin typeface="Times New Roman" panose="02020603050405020304" pitchFamily="18" charset="0"/>
                <a:cs typeface="Times New Roman" panose="02020603050405020304" pitchFamily="18" charset="0"/>
              </a:rPr>
              <a:t>Which says </a:t>
            </a:r>
            <a:r>
              <a:rPr lang="en-US" sz="2000" i="1" dirty="0">
                <a:latin typeface="Times New Roman" panose="02020603050405020304" pitchFamily="18" charset="0"/>
                <a:cs typeface="Times New Roman" panose="02020603050405020304" pitchFamily="18" charset="0"/>
              </a:rPr>
              <a:t>IF (A2 is Greater Than OR Equal to 80, then return a "A", IF A2 is Greater Than or Equal 70, then return a "B", and so on and for all other values less than 50, return an "F").</a:t>
            </a:r>
            <a:endParaRPr lang="en-US" sz="2000" dirty="0">
              <a:latin typeface="Times New Roman" panose="02020603050405020304" pitchFamily="18" charset="0"/>
              <a:cs typeface="Times New Roman" panose="02020603050405020304" pitchFamily="18" charset="0"/>
            </a:endParaRPr>
          </a:p>
          <a:p>
            <a:pPr marL="0" lvl="0" indent="0">
              <a:buNone/>
            </a:pPr>
            <a:endParaRPr lang="en-US" sz="2000" dirty="0" smtClean="0">
              <a:latin typeface="Times New Roman" panose="02020603050405020304" pitchFamily="18" charset="0"/>
              <a:cs typeface="Times New Roman" panose="02020603050405020304" pitchFamily="18" charset="0"/>
            </a:endParaRPr>
          </a:p>
          <a:p>
            <a:pPr marL="0" lv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Tree>
    <p:extLst>
      <p:ext uri="{BB962C8B-B14F-4D97-AF65-F5344CB8AC3E}">
        <p14:creationId xmlns:p14="http://schemas.microsoft.com/office/powerpoint/2010/main" val="3638463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666" y="60325"/>
            <a:ext cx="11700933" cy="1325563"/>
          </a:xfrm>
        </p:spPr>
        <p:txBody>
          <a:bodyPr/>
          <a:lstStyle/>
          <a:p>
            <a:endParaRPr lang="en-US" dirty="0"/>
          </a:p>
        </p:txBody>
      </p:sp>
      <p:sp>
        <p:nvSpPr>
          <p:cNvPr id="3" name="Content Placeholder 2"/>
          <p:cNvSpPr>
            <a:spLocks noGrp="1"/>
          </p:cNvSpPr>
          <p:nvPr>
            <p:ph idx="1"/>
          </p:nvPr>
        </p:nvSpPr>
        <p:spPr>
          <a:xfrm>
            <a:off x="177799" y="1535113"/>
            <a:ext cx="11700932" cy="4351338"/>
          </a:xfrm>
        </p:spPr>
        <p:txBody>
          <a:bodyPr>
            <a:normAutofit/>
          </a:bodyPr>
          <a:lstStyle/>
          <a:p>
            <a:pPr marL="0" lvl="0" indent="0">
              <a:buNone/>
            </a:pPr>
            <a:endParaRPr lang="en-US" sz="2000" dirty="0" smtClean="0">
              <a:latin typeface="Times New Roman" panose="02020603050405020304" pitchFamily="18" charset="0"/>
              <a:cs typeface="Times New Roman" panose="02020603050405020304" pitchFamily="18" charset="0"/>
            </a:endParaRPr>
          </a:p>
          <a:p>
            <a:pPr marL="0" lv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pic>
        <p:nvPicPr>
          <p:cNvPr id="6" name="Picture 5">
            <a:extLst>
              <a:ext uri="{FF2B5EF4-FFF2-40B4-BE49-F238E27FC236}">
                <a16:creationId xmlns:lc="http://schemas.openxmlformats.org/drawingml/2006/lockedCanvas"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id="{7ADFA217-332D-4CBD-B0A6-FE844C106A8C}"/>
              </a:ext>
            </a:extLst>
          </p:cNvPr>
          <p:cNvPicPr/>
          <p:nvPr/>
        </p:nvPicPr>
        <p:blipFill>
          <a:blip r:embed="rId2">
            <a:extLst>
              <a:ext uri="{28A0092B-C50C-407E-A947-70E740481C1C}">
                <a14:useLocalDpi xmlns:a14="http://schemas.microsoft.com/office/drawing/2010/main" val="0"/>
              </a:ext>
            </a:extLst>
          </a:blip>
          <a:stretch>
            <a:fillRect/>
          </a:stretch>
        </p:blipFill>
        <p:spPr>
          <a:xfrm>
            <a:off x="1092200" y="1855787"/>
            <a:ext cx="9203266" cy="3373438"/>
          </a:xfrm>
          <a:prstGeom prst="rect">
            <a:avLst/>
          </a:prstGeom>
        </p:spPr>
      </p:pic>
    </p:spTree>
    <p:extLst>
      <p:ext uri="{BB962C8B-B14F-4D97-AF65-F5344CB8AC3E}">
        <p14:creationId xmlns:p14="http://schemas.microsoft.com/office/powerpoint/2010/main" val="1741164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800" y="0"/>
            <a:ext cx="10515600" cy="1325563"/>
          </a:xfrm>
        </p:spPr>
        <p:txBody>
          <a:bodyPr/>
          <a:lstStyle/>
          <a:p>
            <a:pPr marL="857250" indent="-857250">
              <a:buFont typeface="+mj-lt"/>
              <a:buAutoNum type="romanLcPeriod" startAt="3"/>
            </a:pPr>
            <a:r>
              <a:rPr lang="en-US" b="1" dirty="0" smtClean="0">
                <a:latin typeface="Times New Roman" panose="02020603050405020304" pitchFamily="18" charset="0"/>
                <a:cs typeface="Times New Roman" panose="02020603050405020304" pitchFamily="18" charset="0"/>
              </a:rPr>
              <a:t>MAXIFS FUNCTION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82033" y="1063625"/>
            <a:ext cx="11827933" cy="4913842"/>
          </a:xfrm>
        </p:spPr>
        <p:txBody>
          <a:bodyPr>
            <a:normAutofit fontScale="92500" lnSpcReduction="20000"/>
          </a:bodyPr>
          <a:lstStyle/>
          <a:p>
            <a:r>
              <a:rPr lang="en-US" sz="2000" b="1" dirty="0">
                <a:latin typeface="Times New Roman" panose="02020603050405020304" pitchFamily="18" charset="0"/>
                <a:cs typeface="Times New Roman" panose="02020603050405020304" pitchFamily="18" charset="0"/>
              </a:rPr>
              <a:t>MAXIFS</a:t>
            </a:r>
            <a:r>
              <a:rPr lang="en-US" sz="2000" dirty="0">
                <a:latin typeface="Times New Roman" panose="02020603050405020304" pitchFamily="18" charset="0"/>
                <a:cs typeface="Times New Roman" panose="02020603050405020304" pitchFamily="18" charset="0"/>
              </a:rPr>
              <a:t> can be used to return the largest number in a range – you can also set the returned result to only be a number that meets certain criteria. MINIFS is the same, but it will return the smallest number.</a:t>
            </a:r>
          </a:p>
          <a:p>
            <a:r>
              <a:rPr lang="en-US" sz="2000" dirty="0">
                <a:latin typeface="Times New Roman" panose="02020603050405020304" pitchFamily="18" charset="0"/>
                <a:cs typeface="Times New Roman" panose="02020603050405020304" pitchFamily="18" charset="0"/>
              </a:rPr>
              <a:t>The syntax of the MAXIFS function is as follows:</a:t>
            </a:r>
          </a:p>
          <a:p>
            <a:r>
              <a:rPr lang="en-US" sz="2000" dirty="0">
                <a:latin typeface="Times New Roman" panose="02020603050405020304" pitchFamily="18" charset="0"/>
                <a:cs typeface="Times New Roman" panose="02020603050405020304" pitchFamily="18" charset="0"/>
              </a:rPr>
              <a:t>MAXIFS (</a:t>
            </a:r>
            <a:r>
              <a:rPr lang="en-US" sz="2000" dirty="0" err="1">
                <a:latin typeface="Times New Roman" panose="02020603050405020304" pitchFamily="18" charset="0"/>
                <a:cs typeface="Times New Roman" panose="02020603050405020304" pitchFamily="18" charset="0"/>
              </a:rPr>
              <a:t>max_range</a:t>
            </a:r>
            <a:r>
              <a:rPr lang="en-US" sz="2000" dirty="0">
                <a:latin typeface="Times New Roman" panose="02020603050405020304" pitchFamily="18" charset="0"/>
                <a:cs typeface="Times New Roman" panose="02020603050405020304" pitchFamily="18" charset="0"/>
              </a:rPr>
              <a:t>, criteria_range1, criteria1, [criteria_range2, criteria2], …)</a:t>
            </a:r>
          </a:p>
          <a:p>
            <a:r>
              <a:rPr lang="en-US" sz="2000" dirty="0">
                <a:latin typeface="Times New Roman" panose="02020603050405020304" pitchFamily="18" charset="0"/>
                <a:cs typeface="Times New Roman" panose="02020603050405020304" pitchFamily="18" charset="0"/>
              </a:rPr>
              <a:t>Where:</a:t>
            </a:r>
          </a:p>
          <a:p>
            <a:pPr lvl="0"/>
            <a:r>
              <a:rPr lang="en-US" sz="2000" b="1" dirty="0" err="1">
                <a:latin typeface="Times New Roman" panose="02020603050405020304" pitchFamily="18" charset="0"/>
                <a:cs typeface="Times New Roman" panose="02020603050405020304" pitchFamily="18" charset="0"/>
              </a:rPr>
              <a:t>Max_range</a:t>
            </a:r>
            <a:r>
              <a:rPr lang="en-US" sz="2000" dirty="0">
                <a:latin typeface="Times New Roman" panose="02020603050405020304" pitchFamily="18" charset="0"/>
                <a:cs typeface="Times New Roman" panose="02020603050405020304" pitchFamily="18" charset="0"/>
              </a:rPr>
              <a:t> (required) - the range of cells where you want to find the maximum value.</a:t>
            </a:r>
          </a:p>
          <a:p>
            <a:pPr lvl="0"/>
            <a:r>
              <a:rPr lang="en-US" sz="2000" b="1" dirty="0">
                <a:latin typeface="Times New Roman" panose="02020603050405020304" pitchFamily="18" charset="0"/>
                <a:cs typeface="Times New Roman" panose="02020603050405020304" pitchFamily="18" charset="0"/>
              </a:rPr>
              <a:t>Criteria_range1</a:t>
            </a:r>
            <a:r>
              <a:rPr lang="en-US" sz="2000" dirty="0">
                <a:latin typeface="Times New Roman" panose="02020603050405020304" pitchFamily="18" charset="0"/>
                <a:cs typeface="Times New Roman" panose="02020603050405020304" pitchFamily="18" charset="0"/>
              </a:rPr>
              <a:t> (required) - the first range to evaluate with </a:t>
            </a:r>
            <a:r>
              <a:rPr lang="en-US" sz="2000" i="1" dirty="0">
                <a:latin typeface="Times New Roman" panose="02020603050405020304" pitchFamily="18" charset="0"/>
                <a:cs typeface="Times New Roman" panose="02020603050405020304" pitchFamily="18" charset="0"/>
              </a:rPr>
              <a:t>criteria1</a:t>
            </a:r>
            <a:r>
              <a:rPr lang="en-US" sz="2000" dirty="0">
                <a:latin typeface="Times New Roman" panose="02020603050405020304" pitchFamily="18" charset="0"/>
                <a:cs typeface="Times New Roman" panose="02020603050405020304" pitchFamily="18" charset="0"/>
              </a:rPr>
              <a:t>.</a:t>
            </a:r>
          </a:p>
          <a:p>
            <a:pPr lvl="0"/>
            <a:r>
              <a:rPr lang="en-US" sz="2000" b="1" dirty="0">
                <a:latin typeface="Times New Roman" panose="02020603050405020304" pitchFamily="18" charset="0"/>
                <a:cs typeface="Times New Roman" panose="02020603050405020304" pitchFamily="18" charset="0"/>
              </a:rPr>
              <a:t>Criteria1</a:t>
            </a:r>
            <a:r>
              <a:rPr lang="en-US" sz="2000" dirty="0">
                <a:latin typeface="Times New Roman" panose="02020603050405020304" pitchFamily="18" charset="0"/>
                <a:cs typeface="Times New Roman" panose="02020603050405020304" pitchFamily="18" charset="0"/>
              </a:rPr>
              <a:t> - the condition to use on the first range. It can be represented by a number, text or expression.</a:t>
            </a:r>
          </a:p>
          <a:p>
            <a:pPr lvl="0"/>
            <a:r>
              <a:rPr lang="en-US" sz="2000" b="1" dirty="0">
                <a:latin typeface="Times New Roman" panose="02020603050405020304" pitchFamily="18" charset="0"/>
                <a:cs typeface="Times New Roman" panose="02020603050405020304" pitchFamily="18" charset="0"/>
              </a:rPr>
              <a:t>Criteria_range2</a:t>
            </a:r>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criteria2</a:t>
            </a:r>
            <a:r>
              <a:rPr lang="en-US" sz="2000" dirty="0">
                <a:latin typeface="Times New Roman" panose="02020603050405020304" pitchFamily="18" charset="0"/>
                <a:cs typeface="Times New Roman" panose="02020603050405020304" pitchFamily="18" charset="0"/>
              </a:rPr>
              <a:t>, …(optional) - additional ranges and their related criteria. Up to 126 range/criteria pairs are supported.</a:t>
            </a:r>
          </a:p>
          <a:p>
            <a:r>
              <a:rPr lang="en-US" sz="2000" dirty="0">
                <a:latin typeface="Times New Roman" panose="02020603050405020304" pitchFamily="18" charset="0"/>
                <a:cs typeface="Times New Roman" panose="02020603050405020304" pitchFamily="18" charset="0"/>
              </a:rPr>
              <a:t>Example: The Excel MAXIFS function returns the largest numeric value that meets one or more criteria in a range of values.</a:t>
            </a:r>
          </a:p>
          <a:p>
            <a:r>
              <a:rPr lang="en-US" sz="2000" dirty="0" err="1">
                <a:latin typeface="Times New Roman" panose="02020603050405020304" pitchFamily="18" charset="0"/>
                <a:cs typeface="Times New Roman" panose="02020603050405020304" pitchFamily="18" charset="0"/>
              </a:rPr>
              <a:t>Max_range</a:t>
            </a:r>
            <a:r>
              <a:rPr lang="en-US" sz="2000" dirty="0">
                <a:latin typeface="Times New Roman" panose="02020603050405020304" pitchFamily="18" charset="0"/>
                <a:cs typeface="Times New Roman" panose="02020603050405020304" pitchFamily="18" charset="0"/>
              </a:rPr>
              <a:t> (C2:C9)</a:t>
            </a:r>
          </a:p>
          <a:p>
            <a:r>
              <a:rPr lang="en-US" sz="2000" dirty="0" err="1">
                <a:latin typeface="Times New Roman" panose="02020603050405020304" pitchFamily="18" charset="0"/>
                <a:cs typeface="Times New Roman" panose="02020603050405020304" pitchFamily="18" charset="0"/>
              </a:rPr>
              <a:t>Criteria_range</a:t>
            </a:r>
            <a:r>
              <a:rPr lang="en-US" sz="2000" dirty="0">
                <a:latin typeface="Times New Roman" panose="02020603050405020304" pitchFamily="18" charset="0"/>
                <a:cs typeface="Times New Roman" panose="02020603050405020304" pitchFamily="18" charset="0"/>
              </a:rPr>
              <a:t> (B2:B9)</a:t>
            </a:r>
          </a:p>
          <a:p>
            <a:r>
              <a:rPr lang="en-US" sz="2000" dirty="0">
                <a:latin typeface="Times New Roman" panose="02020603050405020304" pitchFamily="18" charset="0"/>
                <a:cs typeface="Times New Roman" panose="02020603050405020304" pitchFamily="18" charset="0"/>
              </a:rPr>
              <a:t>The criteria used here is “Male” OR “Female” will give this formula</a:t>
            </a:r>
          </a:p>
          <a:p>
            <a:r>
              <a:rPr lang="en-US" sz="2000" dirty="0">
                <a:latin typeface="Times New Roman" panose="02020603050405020304" pitchFamily="18" charset="0"/>
                <a:cs typeface="Times New Roman" panose="02020603050405020304" pitchFamily="18" charset="0"/>
              </a:rPr>
              <a:t>=MAXIFS (C2:C9, B2:B9,” Male”)</a:t>
            </a:r>
          </a:p>
          <a:p>
            <a:pPr marL="0" lvl="0" indent="0">
              <a:buNone/>
            </a:pPr>
            <a:endParaRPr lang="en-US" sz="2000" dirty="0" smtClean="0">
              <a:latin typeface="Times New Roman" panose="02020603050405020304" pitchFamily="18" charset="0"/>
              <a:cs typeface="Times New Roman" panose="02020603050405020304" pitchFamily="18" charset="0"/>
            </a:endParaRPr>
          </a:p>
          <a:p>
            <a:pPr marL="0" lv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pic>
        <p:nvPicPr>
          <p:cNvPr id="7" name="Picture 6"/>
          <p:cNvPicPr>
            <a:picLocks noChangeAspect="1"/>
          </p:cNvPicPr>
          <p:nvPr/>
        </p:nvPicPr>
        <p:blipFill>
          <a:blip r:embed="rId2"/>
          <a:stretch>
            <a:fillRect/>
          </a:stretch>
        </p:blipFill>
        <p:spPr>
          <a:xfrm>
            <a:off x="7561262" y="4368800"/>
            <a:ext cx="4333875" cy="2352675"/>
          </a:xfrm>
          <a:prstGeom prst="rect">
            <a:avLst/>
          </a:prstGeom>
        </p:spPr>
      </p:pic>
    </p:spTree>
    <p:extLst>
      <p:ext uri="{BB962C8B-B14F-4D97-AF65-F5344CB8AC3E}">
        <p14:creationId xmlns:p14="http://schemas.microsoft.com/office/powerpoint/2010/main" val="1572704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800" y="0"/>
            <a:ext cx="10515600" cy="1325563"/>
          </a:xfrm>
        </p:spPr>
        <p:txBody>
          <a:bodyPr/>
          <a:lstStyle/>
          <a:p>
            <a:pPr marL="857250" indent="-857250">
              <a:buFont typeface="+mj-lt"/>
              <a:buAutoNum type="romanLcPeriod" startAt="4"/>
            </a:pPr>
            <a:r>
              <a:rPr lang="en-US" b="1" dirty="0" smtClean="0">
                <a:latin typeface="Times New Roman" panose="02020603050405020304" pitchFamily="18" charset="0"/>
                <a:cs typeface="Times New Roman" panose="02020603050405020304" pitchFamily="18" charset="0"/>
              </a:rPr>
              <a:t>MINIFS FUNCTION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7800" y="970491"/>
            <a:ext cx="11827933" cy="4913842"/>
          </a:xfrm>
        </p:spPr>
        <p:txBody>
          <a:bodyPr>
            <a:normAutofit fontScale="92500" lnSpcReduction="20000"/>
          </a:bodyPr>
          <a:lstStyle/>
          <a:p>
            <a:pPr marL="0" indent="0">
              <a:buNone/>
            </a:pPr>
            <a:r>
              <a:rPr lang="en-US" sz="2000" b="1" dirty="0" smtClean="0">
                <a:latin typeface="Times New Roman" panose="02020603050405020304" pitchFamily="18" charset="0"/>
                <a:cs typeface="Times New Roman" panose="02020603050405020304" pitchFamily="18" charset="0"/>
              </a:rPr>
              <a:t>MINIFS</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can be used to return the </a:t>
            </a:r>
            <a:r>
              <a:rPr lang="en-US" sz="2000" dirty="0" smtClean="0">
                <a:latin typeface="Times New Roman" panose="02020603050405020304" pitchFamily="18" charset="0"/>
                <a:cs typeface="Times New Roman" panose="02020603050405020304" pitchFamily="18" charset="0"/>
              </a:rPr>
              <a:t>smallest </a:t>
            </a:r>
            <a:r>
              <a:rPr lang="en-US" sz="2000" dirty="0">
                <a:latin typeface="Times New Roman" panose="02020603050405020304" pitchFamily="18" charset="0"/>
                <a:cs typeface="Times New Roman" panose="02020603050405020304" pitchFamily="18" charset="0"/>
              </a:rPr>
              <a:t>number in a range – you can also set the returned result to only be a number that meets certain criteria. MINIFS is the same, but it will return the smallest number.</a:t>
            </a:r>
          </a:p>
          <a:p>
            <a:pPr marL="0" indent="0">
              <a:buNone/>
            </a:pPr>
            <a:r>
              <a:rPr lang="en-US" sz="2000" dirty="0">
                <a:latin typeface="Times New Roman" panose="02020603050405020304" pitchFamily="18" charset="0"/>
                <a:cs typeface="Times New Roman" panose="02020603050405020304" pitchFamily="18" charset="0"/>
              </a:rPr>
              <a:t>The syntax of the </a:t>
            </a:r>
            <a:r>
              <a:rPr lang="en-US" sz="2000" dirty="0" smtClean="0">
                <a:latin typeface="Times New Roman" panose="02020603050405020304" pitchFamily="18" charset="0"/>
                <a:cs typeface="Times New Roman" panose="02020603050405020304" pitchFamily="18" charset="0"/>
              </a:rPr>
              <a:t>MINIFS </a:t>
            </a:r>
            <a:r>
              <a:rPr lang="en-US" sz="2000" dirty="0">
                <a:latin typeface="Times New Roman" panose="02020603050405020304" pitchFamily="18" charset="0"/>
                <a:cs typeface="Times New Roman" panose="02020603050405020304" pitchFamily="18" charset="0"/>
              </a:rPr>
              <a:t>function is as follows:</a:t>
            </a:r>
          </a:p>
          <a:p>
            <a:pPr marL="0" indent="0">
              <a:buNone/>
            </a:pPr>
            <a:r>
              <a:rPr lang="en-US" sz="2000" dirty="0" smtClean="0">
                <a:latin typeface="Times New Roman" panose="02020603050405020304" pitchFamily="18" charset="0"/>
                <a:cs typeface="Times New Roman" panose="02020603050405020304" pitchFamily="18" charset="0"/>
              </a:rPr>
              <a:t>MINIFS </a:t>
            </a:r>
            <a:r>
              <a:rPr lang="en-US" sz="2000" dirty="0">
                <a:latin typeface="Times New Roman" panose="02020603050405020304" pitchFamily="18" charset="0"/>
                <a:cs typeface="Times New Roman" panose="02020603050405020304" pitchFamily="18" charset="0"/>
              </a:rPr>
              <a:t>(</a:t>
            </a:r>
            <a:r>
              <a:rPr lang="en-US" sz="2000" dirty="0" err="1" smtClean="0">
                <a:latin typeface="Times New Roman" panose="02020603050405020304" pitchFamily="18" charset="0"/>
                <a:cs typeface="Times New Roman" panose="02020603050405020304" pitchFamily="18" charset="0"/>
              </a:rPr>
              <a:t>min_range</a:t>
            </a:r>
            <a:r>
              <a:rPr lang="en-US" sz="2000" dirty="0">
                <a:latin typeface="Times New Roman" panose="02020603050405020304" pitchFamily="18" charset="0"/>
                <a:cs typeface="Times New Roman" panose="02020603050405020304" pitchFamily="18" charset="0"/>
              </a:rPr>
              <a:t>, criteria_range1, criteria1, [criteria_range2, criteria2], …)</a:t>
            </a:r>
          </a:p>
          <a:p>
            <a:pPr marL="0" indent="0">
              <a:buNone/>
            </a:pPr>
            <a:r>
              <a:rPr lang="en-US" sz="2000" dirty="0">
                <a:latin typeface="Times New Roman" panose="02020603050405020304" pitchFamily="18" charset="0"/>
                <a:cs typeface="Times New Roman" panose="02020603050405020304" pitchFamily="18" charset="0"/>
              </a:rPr>
              <a:t>Where:</a:t>
            </a:r>
          </a:p>
          <a:p>
            <a:pPr marL="449263" lvl="0" indent="-271463">
              <a:buFont typeface="Wingdings" panose="05000000000000000000" pitchFamily="2" charset="2"/>
              <a:buChar char="§"/>
            </a:pPr>
            <a:r>
              <a:rPr lang="en-US" sz="2000" b="1" dirty="0" err="1" smtClean="0">
                <a:latin typeface="Times New Roman" panose="02020603050405020304" pitchFamily="18" charset="0"/>
                <a:cs typeface="Times New Roman" panose="02020603050405020304" pitchFamily="18" charset="0"/>
              </a:rPr>
              <a:t>Min_range</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(required) - the range of cells where you want to find the </a:t>
            </a:r>
            <a:r>
              <a:rPr lang="en-US" sz="2000" dirty="0" smtClean="0">
                <a:latin typeface="Times New Roman" panose="02020603050405020304" pitchFamily="18" charset="0"/>
                <a:cs typeface="Times New Roman" panose="02020603050405020304" pitchFamily="18" charset="0"/>
              </a:rPr>
              <a:t>minimum </a:t>
            </a:r>
            <a:r>
              <a:rPr lang="en-US" sz="2000" dirty="0">
                <a:latin typeface="Times New Roman" panose="02020603050405020304" pitchFamily="18" charset="0"/>
                <a:cs typeface="Times New Roman" panose="02020603050405020304" pitchFamily="18" charset="0"/>
              </a:rPr>
              <a:t>value.</a:t>
            </a:r>
          </a:p>
          <a:p>
            <a:pPr marL="449263" lvl="0" indent="-271463">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Criteria_range1</a:t>
            </a:r>
            <a:r>
              <a:rPr lang="en-US" sz="2000" dirty="0">
                <a:latin typeface="Times New Roman" panose="02020603050405020304" pitchFamily="18" charset="0"/>
                <a:cs typeface="Times New Roman" panose="02020603050405020304" pitchFamily="18" charset="0"/>
              </a:rPr>
              <a:t> (required) - the first range to evaluate with </a:t>
            </a:r>
            <a:r>
              <a:rPr lang="en-US" sz="2000" i="1" dirty="0">
                <a:latin typeface="Times New Roman" panose="02020603050405020304" pitchFamily="18" charset="0"/>
                <a:cs typeface="Times New Roman" panose="02020603050405020304" pitchFamily="18" charset="0"/>
              </a:rPr>
              <a:t>criteria1</a:t>
            </a:r>
            <a:r>
              <a:rPr lang="en-US" sz="2000" dirty="0">
                <a:latin typeface="Times New Roman" panose="02020603050405020304" pitchFamily="18" charset="0"/>
                <a:cs typeface="Times New Roman" panose="02020603050405020304" pitchFamily="18" charset="0"/>
              </a:rPr>
              <a:t>.</a:t>
            </a:r>
          </a:p>
          <a:p>
            <a:pPr marL="449263" lvl="0" indent="-271463">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Criteria1</a:t>
            </a:r>
            <a:r>
              <a:rPr lang="en-US" sz="2000" dirty="0">
                <a:latin typeface="Times New Roman" panose="02020603050405020304" pitchFamily="18" charset="0"/>
                <a:cs typeface="Times New Roman" panose="02020603050405020304" pitchFamily="18" charset="0"/>
              </a:rPr>
              <a:t> - the condition to use on the first range. It can be represented by a number, text or expression.</a:t>
            </a:r>
          </a:p>
          <a:p>
            <a:pPr marL="449263" lvl="0" indent="-271463">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Criteria_range2</a:t>
            </a:r>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criteria2</a:t>
            </a:r>
            <a:r>
              <a:rPr lang="en-US" sz="2000" dirty="0">
                <a:latin typeface="Times New Roman" panose="02020603050405020304" pitchFamily="18" charset="0"/>
                <a:cs typeface="Times New Roman" panose="02020603050405020304" pitchFamily="18" charset="0"/>
              </a:rPr>
              <a:t>, …(optional) - additional ranges and their related criteria. Up to 126 range/criteria pairs are supported.</a:t>
            </a:r>
          </a:p>
          <a:p>
            <a:pPr marL="0" indent="0">
              <a:buNone/>
            </a:pPr>
            <a:r>
              <a:rPr lang="en-US" sz="2000" dirty="0">
                <a:latin typeface="Times New Roman" panose="02020603050405020304" pitchFamily="18" charset="0"/>
                <a:cs typeface="Times New Roman" panose="02020603050405020304" pitchFamily="18" charset="0"/>
              </a:rPr>
              <a:t>Example: The Excel </a:t>
            </a:r>
            <a:r>
              <a:rPr lang="en-US" sz="2000" dirty="0" smtClean="0">
                <a:latin typeface="Times New Roman" panose="02020603050405020304" pitchFamily="18" charset="0"/>
                <a:cs typeface="Times New Roman" panose="02020603050405020304" pitchFamily="18" charset="0"/>
              </a:rPr>
              <a:t>MINIFS </a:t>
            </a:r>
            <a:r>
              <a:rPr lang="en-US" sz="2000" dirty="0">
                <a:latin typeface="Times New Roman" panose="02020603050405020304" pitchFamily="18" charset="0"/>
                <a:cs typeface="Times New Roman" panose="02020603050405020304" pitchFamily="18" charset="0"/>
              </a:rPr>
              <a:t>function returns the </a:t>
            </a:r>
            <a:r>
              <a:rPr lang="en-US" sz="2000" dirty="0" smtClean="0">
                <a:latin typeface="Times New Roman" panose="02020603050405020304" pitchFamily="18" charset="0"/>
                <a:cs typeface="Times New Roman" panose="02020603050405020304" pitchFamily="18" charset="0"/>
              </a:rPr>
              <a:t>smallest </a:t>
            </a:r>
            <a:r>
              <a:rPr lang="en-US" sz="2000" dirty="0">
                <a:latin typeface="Times New Roman" panose="02020603050405020304" pitchFamily="18" charset="0"/>
                <a:cs typeface="Times New Roman" panose="02020603050405020304" pitchFamily="18" charset="0"/>
              </a:rPr>
              <a:t>numeric value that meets one or more criteria in a range of values.</a:t>
            </a:r>
          </a:p>
          <a:p>
            <a:pPr marL="0" indent="0">
              <a:buNone/>
            </a:pPr>
            <a:r>
              <a:rPr lang="en-US" sz="2000" dirty="0" err="1" smtClean="0">
                <a:latin typeface="Times New Roman" panose="02020603050405020304" pitchFamily="18" charset="0"/>
                <a:cs typeface="Times New Roman" panose="02020603050405020304" pitchFamily="18" charset="0"/>
              </a:rPr>
              <a:t>Min_range</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(C2:C9)</a:t>
            </a:r>
          </a:p>
          <a:p>
            <a:pPr marL="0" indent="0">
              <a:buNone/>
            </a:pPr>
            <a:r>
              <a:rPr lang="en-US" sz="2000" dirty="0" err="1">
                <a:latin typeface="Times New Roman" panose="02020603050405020304" pitchFamily="18" charset="0"/>
                <a:cs typeface="Times New Roman" panose="02020603050405020304" pitchFamily="18" charset="0"/>
              </a:rPr>
              <a:t>Criteria_range</a:t>
            </a:r>
            <a:r>
              <a:rPr lang="en-US" sz="2000" dirty="0">
                <a:latin typeface="Times New Roman" panose="02020603050405020304" pitchFamily="18" charset="0"/>
                <a:cs typeface="Times New Roman" panose="02020603050405020304" pitchFamily="18" charset="0"/>
              </a:rPr>
              <a:t> (B2:B9)</a:t>
            </a:r>
          </a:p>
          <a:p>
            <a:pPr marL="0" indent="0">
              <a:buNone/>
            </a:pPr>
            <a:r>
              <a:rPr lang="en-US" sz="2000" dirty="0">
                <a:latin typeface="Times New Roman" panose="02020603050405020304" pitchFamily="18" charset="0"/>
                <a:cs typeface="Times New Roman" panose="02020603050405020304" pitchFamily="18" charset="0"/>
              </a:rPr>
              <a:t>The criteria used here is “Male” OR “Female” will give this formula</a:t>
            </a:r>
          </a:p>
          <a:p>
            <a:pPr marL="0" indent="0">
              <a:buNone/>
            </a:pPr>
            <a:r>
              <a:rPr lang="en-US" sz="2000" dirty="0">
                <a:latin typeface="Times New Roman" panose="02020603050405020304" pitchFamily="18" charset="0"/>
                <a:cs typeface="Times New Roman" panose="02020603050405020304" pitchFamily="18" charset="0"/>
              </a:rPr>
              <a:t>=</a:t>
            </a:r>
            <a:r>
              <a:rPr lang="en-US" sz="2000" dirty="0" smtClean="0">
                <a:latin typeface="Times New Roman" panose="02020603050405020304" pitchFamily="18" charset="0"/>
                <a:cs typeface="Times New Roman" panose="02020603050405020304" pitchFamily="18" charset="0"/>
              </a:rPr>
              <a:t>MINIFS </a:t>
            </a:r>
            <a:r>
              <a:rPr lang="en-US" sz="2000" dirty="0">
                <a:latin typeface="Times New Roman" panose="02020603050405020304" pitchFamily="18" charset="0"/>
                <a:cs typeface="Times New Roman" panose="02020603050405020304" pitchFamily="18" charset="0"/>
              </a:rPr>
              <a:t>(C2:C9, B2:B9,” Male”)</a:t>
            </a:r>
          </a:p>
          <a:p>
            <a:pPr marL="0" lvl="0" indent="0">
              <a:buNone/>
            </a:pPr>
            <a:endParaRPr lang="en-US" sz="2000" dirty="0" smtClean="0">
              <a:latin typeface="Times New Roman" panose="02020603050405020304" pitchFamily="18" charset="0"/>
              <a:cs typeface="Times New Roman" panose="02020603050405020304" pitchFamily="18" charset="0"/>
            </a:endParaRPr>
          </a:p>
          <a:p>
            <a:pPr marL="0" lv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pic>
        <p:nvPicPr>
          <p:cNvPr id="5" name="Picture 4"/>
          <p:cNvPicPr>
            <a:picLocks noChangeAspect="1"/>
          </p:cNvPicPr>
          <p:nvPr/>
        </p:nvPicPr>
        <p:blipFill>
          <a:blip r:embed="rId2"/>
          <a:stretch>
            <a:fillRect/>
          </a:stretch>
        </p:blipFill>
        <p:spPr>
          <a:xfrm>
            <a:off x="7543800" y="4359275"/>
            <a:ext cx="4267200" cy="2362200"/>
          </a:xfrm>
          <a:prstGeom prst="rect">
            <a:avLst/>
          </a:prstGeom>
        </p:spPr>
      </p:pic>
    </p:spTree>
    <p:extLst>
      <p:ext uri="{BB962C8B-B14F-4D97-AF65-F5344CB8AC3E}">
        <p14:creationId xmlns:p14="http://schemas.microsoft.com/office/powerpoint/2010/main" val="1120804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800" y="0"/>
            <a:ext cx="4775200" cy="1325563"/>
          </a:xfrm>
        </p:spPr>
        <p:txBody>
          <a:bodyPr/>
          <a:lstStyle/>
          <a:p>
            <a:endParaRPr lang="en-US" dirty="0"/>
          </a:p>
        </p:txBody>
      </p:sp>
      <p:sp>
        <p:nvSpPr>
          <p:cNvPr id="3" name="Content Placeholder 2"/>
          <p:cNvSpPr>
            <a:spLocks noGrp="1"/>
          </p:cNvSpPr>
          <p:nvPr>
            <p:ph idx="1"/>
          </p:nvPr>
        </p:nvSpPr>
        <p:spPr>
          <a:xfrm>
            <a:off x="177799" y="1537758"/>
            <a:ext cx="11827933" cy="4913842"/>
          </a:xfrm>
        </p:spPr>
        <p:txBody>
          <a:bodyPr>
            <a:normAutofit/>
          </a:bodyPr>
          <a:lstStyle/>
          <a:p>
            <a:pPr marL="0" lvl="0" indent="0">
              <a:buNone/>
            </a:pPr>
            <a:endParaRPr lang="en-US" sz="2000" dirty="0" smtClean="0">
              <a:latin typeface="Times New Roman" panose="02020603050405020304" pitchFamily="18" charset="0"/>
              <a:cs typeface="Times New Roman" panose="02020603050405020304" pitchFamily="18" charset="0"/>
            </a:endParaRPr>
          </a:p>
          <a:p>
            <a:pPr marL="0" lv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
        <p:nvSpPr>
          <p:cNvPr id="7" name="TextBox 6"/>
          <p:cNvSpPr txBox="1"/>
          <p:nvPr/>
        </p:nvSpPr>
        <p:spPr>
          <a:xfrm>
            <a:off x="254000" y="1448216"/>
            <a:ext cx="5181600" cy="175432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Insert </a:t>
            </a:r>
            <a:r>
              <a:rPr lang="en-US" u="sng" dirty="0">
                <a:latin typeface="Times New Roman" panose="02020603050405020304" pitchFamily="18" charset="0"/>
                <a:cs typeface="Times New Roman" panose="02020603050405020304" pitchFamily="18" charset="0"/>
              </a:rPr>
              <a:t>3D models </a:t>
            </a:r>
            <a:r>
              <a:rPr lang="en-US" dirty="0">
                <a:latin typeface="Times New Roman" panose="02020603050405020304" pitchFamily="18" charset="0"/>
                <a:cs typeface="Times New Roman" panose="02020603050405020304" pitchFamily="18" charset="0"/>
              </a:rPr>
              <a:t>in Excel allows you to see all the angles to increase the visual and creative impact of your workbooks. </a:t>
            </a:r>
            <a:r>
              <a:rPr lang="en-US" dirty="0">
                <a:latin typeface="Times New Roman" panose="02020603050405020304" pitchFamily="18" charset="0"/>
                <a:cs typeface="Times New Roman" panose="02020603050405020304" pitchFamily="18" charset="0"/>
                <a:hlinkClick r:id="rId2"/>
              </a:rPr>
              <a:t>Easily insert a 3D model</a:t>
            </a:r>
            <a:r>
              <a:rPr lang="en-US" dirty="0">
                <a:latin typeface="Times New Roman" panose="02020603050405020304" pitchFamily="18" charset="0"/>
                <a:cs typeface="Times New Roman" panose="02020603050405020304" pitchFamily="18" charset="0"/>
              </a:rPr>
              <a:t>, then you can rotate it through 360 degrees as shown below in </a:t>
            </a:r>
            <a:r>
              <a:rPr lang="en-US" i="1" dirty="0">
                <a:latin typeface="Times New Roman" panose="02020603050405020304" pitchFamily="18" charset="0"/>
                <a:cs typeface="Times New Roman" panose="02020603050405020304" pitchFamily="18" charset="0"/>
              </a:rPr>
              <a:t>Fig 3.5</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8" name="Picture 7" descr="3D model showing rotation handles"/>
          <p:cNvPicPr/>
          <p:nvPr/>
        </p:nvPicPr>
        <p:blipFill>
          <a:blip r:embed="rId3">
            <a:extLst>
              <a:ext uri="{28A0092B-C50C-407E-A947-70E740481C1C}">
                <a14:useLocalDpi xmlns:a14="http://schemas.microsoft.com/office/drawing/2010/main" val="0"/>
              </a:ext>
            </a:extLst>
          </a:blip>
          <a:srcRect/>
          <a:stretch>
            <a:fillRect/>
          </a:stretch>
        </p:blipFill>
        <p:spPr bwMode="auto">
          <a:xfrm>
            <a:off x="351365" y="2972329"/>
            <a:ext cx="2228850" cy="2657475"/>
          </a:xfrm>
          <a:prstGeom prst="rect">
            <a:avLst/>
          </a:prstGeom>
          <a:noFill/>
          <a:ln>
            <a:noFill/>
          </a:ln>
        </p:spPr>
      </p:pic>
      <p:sp>
        <p:nvSpPr>
          <p:cNvPr id="9" name="TextBox 8"/>
          <p:cNvSpPr txBox="1"/>
          <p:nvPr/>
        </p:nvSpPr>
        <p:spPr>
          <a:xfrm>
            <a:off x="5555192" y="3649769"/>
            <a:ext cx="5274733" cy="461665"/>
          </a:xfrm>
          <a:prstGeom prst="rect">
            <a:avLst/>
          </a:prstGeom>
          <a:noFill/>
        </p:spPr>
        <p:txBody>
          <a:bodyPr wrap="square" rtlCol="0">
            <a:spAutoFit/>
          </a:bodyPr>
          <a:lstStyle/>
          <a:p>
            <a:r>
              <a:rPr lang="en-US" sz="1200" b="1" i="1" dirty="0"/>
              <a:t>Figure 3.6 showing how to add superscript and subscript from </a:t>
            </a:r>
            <a:r>
              <a:rPr lang="en-US" sz="1200" b="1" i="1" dirty="0" smtClean="0"/>
              <a:t>File </a:t>
            </a:r>
            <a:r>
              <a:rPr lang="en-US" sz="1200" b="1" i="1" dirty="0"/>
              <a:t>tab.</a:t>
            </a:r>
            <a:endParaRPr lang="en-US" sz="1200" dirty="0"/>
          </a:p>
          <a:p>
            <a:endParaRPr lang="en-US" sz="12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5317067" y="1431661"/>
            <a:ext cx="5647266"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Quick access to superscript and subscript commands can be customized by adding them to the Ribbon or Quick Access Toolbar as shown below in </a:t>
            </a:r>
            <a:r>
              <a:rPr lang="en-US" i="1" dirty="0">
                <a:latin typeface="Times New Roman" panose="02020603050405020304" pitchFamily="18" charset="0"/>
                <a:cs typeface="Times New Roman" panose="02020603050405020304" pitchFamily="18" charset="0"/>
              </a:rPr>
              <a:t>Fig 3.6</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pic>
        <p:nvPicPr>
          <p:cNvPr id="11" name="Picture 10" descr="Quick Access Toolbar showing superscript and subscript commands"/>
          <p:cNvPicPr/>
          <p:nvPr/>
        </p:nvPicPr>
        <p:blipFill>
          <a:blip r:embed="rId4">
            <a:extLst>
              <a:ext uri="{28A0092B-C50C-407E-A947-70E740481C1C}">
                <a14:useLocalDpi xmlns:a14="http://schemas.microsoft.com/office/drawing/2010/main" val="0"/>
              </a:ext>
            </a:extLst>
          </a:blip>
          <a:srcRect/>
          <a:stretch>
            <a:fillRect/>
          </a:stretch>
        </p:blipFill>
        <p:spPr bwMode="auto">
          <a:xfrm>
            <a:off x="6591301" y="2329391"/>
            <a:ext cx="2571750" cy="1285875"/>
          </a:xfrm>
          <a:prstGeom prst="rect">
            <a:avLst/>
          </a:prstGeom>
          <a:noFill/>
          <a:ln>
            <a:noFill/>
          </a:ln>
        </p:spPr>
      </p:pic>
      <p:sp>
        <p:nvSpPr>
          <p:cNvPr id="12" name="TextBox 11"/>
          <p:cNvSpPr txBox="1"/>
          <p:nvPr/>
        </p:nvSpPr>
        <p:spPr>
          <a:xfrm>
            <a:off x="5540905" y="3994679"/>
            <a:ext cx="4672542" cy="276999"/>
          </a:xfrm>
          <a:prstGeom prst="rect">
            <a:avLst/>
          </a:prstGeom>
          <a:noFill/>
        </p:spPr>
        <p:txBody>
          <a:bodyPr wrap="square" rtlCol="0">
            <a:spAutoFit/>
          </a:bodyPr>
          <a:lstStyle/>
          <a:p>
            <a:r>
              <a:rPr lang="en-US" sz="1200" dirty="0"/>
              <a:t>Click File tab&gt;Options&gt;Customize Ribbon&gt;Select All </a:t>
            </a:r>
            <a:r>
              <a:rPr lang="en-US" sz="1200" dirty="0" smtClean="0"/>
              <a:t>Commands</a:t>
            </a:r>
            <a:endParaRPr lang="en-US" sz="12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lc="http://schemas.openxmlformats.org/drawingml/2006/lockedCanvas"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id="{21C54150-93AB-48F3-A37B-AA66AE3EF440}"/>
              </a:ext>
            </a:extLst>
          </p:cNvPr>
          <p:cNvPicPr/>
          <p:nvPr/>
        </p:nvPicPr>
        <p:blipFill rotWithShape="1">
          <a:blip r:embed="rId5">
            <a:extLst>
              <a:ext uri="{28A0092B-C50C-407E-A947-70E740481C1C}">
                <a14:useLocalDpi xmlns:a14="http://schemas.microsoft.com/office/drawing/2010/main" val="0"/>
              </a:ext>
            </a:extLst>
          </a:blip>
          <a:srcRect r="41058" b="73053"/>
          <a:stretch/>
        </p:blipFill>
        <p:spPr>
          <a:xfrm>
            <a:off x="5663142" y="4252888"/>
            <a:ext cx="5166783" cy="1376916"/>
          </a:xfrm>
          <a:prstGeom prst="rect">
            <a:avLst/>
          </a:prstGeom>
        </p:spPr>
      </p:pic>
      <p:sp>
        <p:nvSpPr>
          <p:cNvPr id="15" name="TextBox 14"/>
          <p:cNvSpPr txBox="1"/>
          <p:nvPr/>
        </p:nvSpPr>
        <p:spPr>
          <a:xfrm>
            <a:off x="6908800" y="115186"/>
            <a:ext cx="4174066" cy="369332"/>
          </a:xfrm>
          <a:prstGeom prst="rect">
            <a:avLst/>
          </a:prstGeom>
          <a:noFill/>
        </p:spPr>
        <p:txBody>
          <a:bodyPr wrap="square" rtlCol="0">
            <a:spAutoFit/>
          </a:bodyPr>
          <a:lstStyle/>
          <a:p>
            <a:r>
              <a:rPr lang="en-US" dirty="0" err="1" smtClean="0"/>
              <a:t>rrrrr</a:t>
            </a:r>
            <a:endParaRPr lang="en-US" dirty="0"/>
          </a:p>
        </p:txBody>
      </p:sp>
    </p:spTree>
    <p:extLst>
      <p:ext uri="{BB962C8B-B14F-4D97-AF65-F5344CB8AC3E}">
        <p14:creationId xmlns:p14="http://schemas.microsoft.com/office/powerpoint/2010/main" val="1043249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800" y="0"/>
            <a:ext cx="10515600" cy="1325563"/>
          </a:xfrm>
        </p:spPr>
        <p:txBody>
          <a:bodyPr/>
          <a:lstStyle/>
          <a:p>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7800" y="686329"/>
            <a:ext cx="11827933" cy="4913842"/>
          </a:xfrm>
        </p:spPr>
        <p:txBody>
          <a:bodyPr>
            <a:normAutofit/>
          </a:bodyPr>
          <a:lstStyle/>
          <a:p>
            <a:pPr marL="0" lvl="0" indent="0">
              <a:buNone/>
            </a:pPr>
            <a:endParaRPr lang="en-US" sz="2000" dirty="0" smtClean="0">
              <a:latin typeface="Times New Roman" panose="02020603050405020304" pitchFamily="18" charset="0"/>
              <a:cs typeface="Times New Roman" panose="02020603050405020304" pitchFamily="18" charset="0"/>
            </a:endParaRPr>
          </a:p>
          <a:p>
            <a:pPr marL="0" lv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smtClean="0">
                <a:latin typeface="Times New Roman" panose="02020603050405020304" pitchFamily="18" charset="0"/>
                <a:cs typeface="Times New Roman" panose="02020603050405020304" pitchFamily="18" charset="0"/>
              </a:rPr>
              <a:t>Scroll down </a:t>
            </a:r>
            <a:r>
              <a:rPr lang="en-US" sz="2000" dirty="0">
                <a:latin typeface="Times New Roman" panose="02020603050405020304" pitchFamily="18" charset="0"/>
                <a:cs typeface="Times New Roman" panose="02020603050405020304" pitchFamily="18" charset="0"/>
              </a:rPr>
              <a:t>and select Superscript and ADD to a new group. It will appear on the Ribbon and simply select it and add to </a:t>
            </a:r>
          </a:p>
          <a:p>
            <a:pPr marL="0" indent="0">
              <a:buNone/>
            </a:pPr>
            <a:r>
              <a:rPr lang="en-US" sz="2000" dirty="0">
                <a:latin typeface="Times New Roman" panose="02020603050405020304" pitchFamily="18" charset="0"/>
                <a:cs typeface="Times New Roman" panose="02020603050405020304" pitchFamily="18" charset="0"/>
              </a:rPr>
              <a:t>Quick Access Tool.</a:t>
            </a:r>
          </a:p>
          <a:p>
            <a:pPr marL="0" indent="0">
              <a:buNone/>
            </a:pPr>
            <a:r>
              <a:rPr lang="en-US" sz="2000" b="1" dirty="0">
                <a:latin typeface="Times New Roman" panose="02020603050405020304" pitchFamily="18" charset="0"/>
                <a:cs typeface="Times New Roman" panose="02020603050405020304" pitchFamily="18" charset="0"/>
              </a:rPr>
              <a:t>Quick access to superscript and subscript commands</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pic>
        <p:nvPicPr>
          <p:cNvPr id="9" name="Picture 8">
            <a:extLst>
              <a:ext uri="{FF2B5EF4-FFF2-40B4-BE49-F238E27FC236}">
                <a16:creationId xmlns:lc="http://schemas.openxmlformats.org/drawingml/2006/lockedCanvas"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id="{1EACC5D3-BC4B-4E26-BB7A-8B010A8B2889}"/>
              </a:ext>
            </a:extLst>
          </p:cNvPr>
          <p:cNvPicPr/>
          <p:nvPr/>
        </p:nvPicPr>
        <p:blipFill rotWithShape="1">
          <a:blip r:embed="rId2">
            <a:extLst>
              <a:ext uri="{28A0092B-C50C-407E-A947-70E740481C1C}">
                <a14:useLocalDpi xmlns:a14="http://schemas.microsoft.com/office/drawing/2010/main" val="0"/>
              </a:ext>
            </a:extLst>
          </a:blip>
          <a:srcRect l="20417" t="72828" r="66845" b="24852"/>
          <a:stretch/>
        </p:blipFill>
        <p:spPr bwMode="auto">
          <a:xfrm>
            <a:off x="5051424" y="1973052"/>
            <a:ext cx="1459442" cy="476250"/>
          </a:xfrm>
          <a:prstGeom prst="rect">
            <a:avLst/>
          </a:prstGeom>
          <a:ln>
            <a:noFill/>
          </a:ln>
          <a:extLst>
            <a:ext uri="{53640926-AAD7-44D8-BBD7-CCE9431645EC}">
              <a14:shadowObscured xmlns:a14="http://schemas.microsoft.com/office/drawing/2010/main"/>
            </a:ext>
          </a:extLst>
        </p:spPr>
      </p:pic>
      <p:pic>
        <p:nvPicPr>
          <p:cNvPr id="10" name="Picture 9">
            <a:extLst>
              <a:ext uri="{FF2B5EF4-FFF2-40B4-BE49-F238E27FC236}">
                <a16:creationId xmlns:lc="http://schemas.openxmlformats.org/drawingml/2006/lockedCanvas"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id="{8D1F7272-01C3-4074-ADB3-66CEBD09B0B2}"/>
              </a:ext>
            </a:extLst>
          </p:cNvPr>
          <p:cNvPicPr/>
          <p:nvPr/>
        </p:nvPicPr>
        <p:blipFill rotWithShape="1">
          <a:blip r:embed="rId3"/>
          <a:srcRect l="4187" t="25756" r="33206" b="16024"/>
          <a:stretch/>
        </p:blipFill>
        <p:spPr bwMode="auto">
          <a:xfrm>
            <a:off x="287867" y="3030591"/>
            <a:ext cx="5943600" cy="2947670"/>
          </a:xfrm>
          <a:prstGeom prst="rect">
            <a:avLst/>
          </a:prstGeom>
          <a:ln>
            <a:noFill/>
          </a:ln>
          <a:extLst>
            <a:ext uri="{53640926-AAD7-44D8-BBD7-CCE9431645EC}">
              <a14:shadowObscured xmlns:a14="http://schemas.microsoft.com/office/drawing/2010/main"/>
            </a:ext>
          </a:extLst>
        </p:spPr>
      </p:pic>
      <p:sp>
        <p:nvSpPr>
          <p:cNvPr id="11" name="TextBox 10"/>
          <p:cNvSpPr txBox="1"/>
          <p:nvPr/>
        </p:nvSpPr>
        <p:spPr>
          <a:xfrm>
            <a:off x="177800" y="6055667"/>
            <a:ext cx="5274733" cy="461665"/>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a:t>
            </a:r>
            <a:r>
              <a:rPr lang="en-US" sz="1200" b="1" i="1" dirty="0" smtClean="0">
                <a:latin typeface="Times New Roman" panose="02020603050405020304" pitchFamily="18" charset="0"/>
                <a:cs typeface="Times New Roman" panose="02020603050405020304" pitchFamily="18" charset="0"/>
              </a:rPr>
              <a:t>3.7 </a:t>
            </a:r>
            <a:r>
              <a:rPr lang="en-US" sz="1200" b="1" i="1" dirty="0">
                <a:latin typeface="Times New Roman" panose="02020603050405020304" pitchFamily="18" charset="0"/>
                <a:cs typeface="Times New Roman" panose="02020603050405020304" pitchFamily="18" charset="0"/>
              </a:rPr>
              <a:t>showing how to add superscript </a:t>
            </a:r>
            <a:r>
              <a:rPr lang="en-US" sz="1200" b="1" i="1" dirty="0" smtClean="0">
                <a:latin typeface="Times New Roman" panose="02020603050405020304" pitchFamily="18" charset="0"/>
                <a:cs typeface="Times New Roman" panose="02020603050405020304" pitchFamily="18" charset="0"/>
              </a:rPr>
              <a:t>from Customize Ribbon.</a:t>
            </a: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075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97932" y="159694"/>
            <a:ext cx="10295467" cy="1144174"/>
          </a:xfrm>
        </p:spPr>
        <p:txBody>
          <a:bodyPr/>
          <a:lstStyle/>
          <a:p>
            <a:endParaRPr lang="en-US" dirty="0"/>
          </a:p>
        </p:txBody>
      </p:sp>
      <p:sp>
        <p:nvSpPr>
          <p:cNvPr id="3" name="Content Placeholder 2"/>
          <p:cNvSpPr>
            <a:spLocks noGrp="1"/>
          </p:cNvSpPr>
          <p:nvPr>
            <p:ph idx="1"/>
          </p:nvPr>
        </p:nvSpPr>
        <p:spPr>
          <a:xfrm>
            <a:off x="397932" y="1376832"/>
            <a:ext cx="10515600" cy="1509800"/>
          </a:xfrm>
        </p:spPr>
        <p:txBody>
          <a:bodyPr>
            <a:normAutofit/>
          </a:bodyPr>
          <a:lstStyle/>
          <a:p>
            <a:r>
              <a:rPr lang="en-US" sz="2000" dirty="0"/>
              <a:t>Now you have added the Subscript and the Superscript features to the ribbon as </a:t>
            </a:r>
            <a:r>
              <a:rPr lang="en-US" sz="2000" i="1" dirty="0"/>
              <a:t>shown below in Figure 3.8 and 39.</a:t>
            </a:r>
            <a:endParaRPr lang="en-US" sz="2000" dirty="0"/>
          </a:p>
          <a:p>
            <a:r>
              <a:rPr lang="en-US" sz="2000" dirty="0"/>
              <a:t>From now on, you just need to select a character, and then, click on the Subscript or Superscript to make it work</a:t>
            </a: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
        <p:nvSpPr>
          <p:cNvPr id="11" name="TextBox 10"/>
          <p:cNvSpPr txBox="1"/>
          <p:nvPr/>
        </p:nvSpPr>
        <p:spPr>
          <a:xfrm>
            <a:off x="524935" y="3682265"/>
            <a:ext cx="5113866" cy="276999"/>
          </a:xfrm>
          <a:prstGeom prst="rect">
            <a:avLst/>
          </a:prstGeom>
          <a:noFill/>
        </p:spPr>
        <p:txBody>
          <a:bodyPr wrap="square" rtlCol="0">
            <a:spAutoFit/>
          </a:bodyPr>
          <a:lstStyle/>
          <a:p>
            <a:r>
              <a:rPr lang="en-US" sz="1200" b="1" i="1" dirty="0"/>
              <a:t>Figure 3.8 showing superscript and subscript added to Ribbon</a:t>
            </a:r>
            <a:r>
              <a:rPr lang="en-US" sz="1200" b="1" i="1" dirty="0" smtClean="0"/>
              <a:t>.</a:t>
            </a:r>
            <a:endParaRPr lang="en-US" sz="1200" dirty="0"/>
          </a:p>
        </p:txBody>
      </p:sp>
      <p:pic>
        <p:nvPicPr>
          <p:cNvPr id="12" name="Picture 11"/>
          <p:cNvPicPr/>
          <p:nvPr/>
        </p:nvPicPr>
        <p:blipFill>
          <a:blip r:embed="rId2">
            <a:extLst>
              <a:ext uri="{28A0092B-C50C-407E-A947-70E740481C1C}">
                <a14:useLocalDpi xmlns:a14="http://schemas.microsoft.com/office/drawing/2010/main" val="0"/>
              </a:ext>
            </a:extLst>
          </a:blip>
          <a:stretch>
            <a:fillRect/>
          </a:stretch>
        </p:blipFill>
        <p:spPr>
          <a:xfrm>
            <a:off x="613939" y="2698247"/>
            <a:ext cx="3818255" cy="952500"/>
          </a:xfrm>
          <a:prstGeom prst="rect">
            <a:avLst/>
          </a:prstGeom>
        </p:spPr>
      </p:pic>
      <p:sp>
        <p:nvSpPr>
          <p:cNvPr id="13" name="Content Placeholder 2"/>
          <p:cNvSpPr txBox="1">
            <a:spLocks/>
          </p:cNvSpPr>
          <p:nvPr/>
        </p:nvSpPr>
        <p:spPr>
          <a:xfrm>
            <a:off x="287865" y="3860182"/>
            <a:ext cx="10515600" cy="1509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p>
        </p:txBody>
      </p:sp>
      <p:sp>
        <p:nvSpPr>
          <p:cNvPr id="14" name="Content Placeholder 2"/>
          <p:cNvSpPr txBox="1">
            <a:spLocks/>
          </p:cNvSpPr>
          <p:nvPr/>
        </p:nvSpPr>
        <p:spPr>
          <a:xfrm>
            <a:off x="232831" y="3796603"/>
            <a:ext cx="5511802" cy="67784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dirty="0"/>
          </a:p>
          <a:p>
            <a:r>
              <a:rPr lang="en-US" sz="2000" dirty="0"/>
              <a:t>Superscript &amp; Subscript at Quick Access Toolbar </a:t>
            </a:r>
          </a:p>
          <a:p>
            <a:pPr marL="0" indent="0">
              <a:buNone/>
            </a:pPr>
            <a:endParaRPr lang="en-US" sz="2000" dirty="0"/>
          </a:p>
        </p:txBody>
      </p:sp>
      <p:pic>
        <p:nvPicPr>
          <p:cNvPr id="15" name="Picture 14"/>
          <p:cNvPicPr/>
          <p:nvPr/>
        </p:nvPicPr>
        <p:blipFill>
          <a:blip r:embed="rId3">
            <a:extLst>
              <a:ext uri="{28A0092B-C50C-407E-A947-70E740481C1C}">
                <a14:useLocalDpi xmlns:a14="http://schemas.microsoft.com/office/drawing/2010/main" val="0"/>
              </a:ext>
            </a:extLst>
          </a:blip>
          <a:stretch>
            <a:fillRect/>
          </a:stretch>
        </p:blipFill>
        <p:spPr>
          <a:xfrm>
            <a:off x="524934" y="4426492"/>
            <a:ext cx="3790315" cy="790575"/>
          </a:xfrm>
          <a:prstGeom prst="rect">
            <a:avLst/>
          </a:prstGeom>
        </p:spPr>
      </p:pic>
      <p:sp>
        <p:nvSpPr>
          <p:cNvPr id="16" name="TextBox 15"/>
          <p:cNvSpPr txBox="1"/>
          <p:nvPr/>
        </p:nvSpPr>
        <p:spPr>
          <a:xfrm>
            <a:off x="431798" y="5240867"/>
            <a:ext cx="5384801" cy="461665"/>
          </a:xfrm>
          <a:prstGeom prst="rect">
            <a:avLst/>
          </a:prstGeom>
          <a:noFill/>
        </p:spPr>
        <p:txBody>
          <a:bodyPr wrap="square" rtlCol="0">
            <a:spAutoFit/>
          </a:bodyPr>
          <a:lstStyle/>
          <a:p>
            <a:r>
              <a:rPr lang="en-US" sz="1200" b="1" i="1" dirty="0"/>
              <a:t>Figure 3.9 showing superscript and subscript added to Quick Access Toolbar.</a:t>
            </a:r>
            <a:endParaRPr lang="en-US" sz="1200" dirty="0"/>
          </a:p>
          <a:p>
            <a:r>
              <a:rPr lang="en-US" sz="1200" b="1" dirty="0"/>
              <a:t>Improved autocomplete </a:t>
            </a:r>
            <a:endParaRPr lang="en-US" sz="1200" dirty="0"/>
          </a:p>
        </p:txBody>
      </p:sp>
    </p:spTree>
    <p:extLst>
      <p:ext uri="{BB962C8B-B14F-4D97-AF65-F5344CB8AC3E}">
        <p14:creationId xmlns:p14="http://schemas.microsoft.com/office/powerpoint/2010/main" val="3753801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800" y="0"/>
            <a:ext cx="10515600" cy="1325563"/>
          </a:xfrm>
        </p:spPr>
        <p:txBody>
          <a:bodyPr/>
          <a:lstStyle/>
          <a:p>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7800" y="686329"/>
            <a:ext cx="5384800" cy="4913842"/>
          </a:xfrm>
        </p:spPr>
        <p:txBody>
          <a:bodyPr>
            <a:normAutofit/>
          </a:bodyPr>
          <a:lstStyle/>
          <a:p>
            <a:pPr marL="0" lvl="0" indent="0">
              <a:buNone/>
            </a:pPr>
            <a:endParaRPr lang="en-US" sz="2000" dirty="0" smtClean="0">
              <a:latin typeface="Times New Roman" panose="02020603050405020304" pitchFamily="18" charset="0"/>
              <a:cs typeface="Times New Roman" panose="02020603050405020304" pitchFamily="18" charset="0"/>
            </a:endParaRPr>
          </a:p>
          <a:p>
            <a:pPr marL="0" lv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Excel autocomplete isn't as picky as it was before. For example, let's say you want to use the NETWORKDAYS function, but you can't remember how it is spelled. If you just type =DAYS, the autocomplete menu will bring back all of the functions that contain "DAYS," including, NETWORKDAYS. Before, you had to spell the function name exactly. </a:t>
            </a:r>
            <a:r>
              <a:rPr lang="en-US" sz="2000" i="1" dirty="0">
                <a:latin typeface="Times New Roman" panose="02020603050405020304" pitchFamily="18" charset="0"/>
                <a:cs typeface="Times New Roman" panose="02020603050405020304" pitchFamily="18" charset="0"/>
              </a:rPr>
              <a:t>Refer to Fig 3.10 below.</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1888067" y="6439924"/>
            <a:ext cx="4114800" cy="365125"/>
          </a:xfrm>
        </p:spPr>
        <p:txBody>
          <a:bodyPr/>
          <a:lstStyle/>
          <a:p>
            <a:r>
              <a:rPr lang="en-US" dirty="0" smtClean="0"/>
              <a:t>Prepared: by:  MS Odilia Tita</a:t>
            </a:r>
            <a:endParaRPr lang="en-AU" dirty="0"/>
          </a:p>
        </p:txBody>
      </p:sp>
      <p:sp>
        <p:nvSpPr>
          <p:cNvPr id="11" name="TextBox 10"/>
          <p:cNvSpPr txBox="1"/>
          <p:nvPr/>
        </p:nvSpPr>
        <p:spPr>
          <a:xfrm>
            <a:off x="397933" y="5978259"/>
            <a:ext cx="5274733" cy="461665"/>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3.10 showing improved autocomplete feature in Excel 2019.</a:t>
            </a: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p:txBody>
      </p:sp>
      <p:pic>
        <p:nvPicPr>
          <p:cNvPr id="8" name="Picture 7"/>
          <p:cNvPicPr/>
          <p:nvPr/>
        </p:nvPicPr>
        <p:blipFill rotWithShape="1">
          <a:blip r:embed="rId2"/>
          <a:srcRect t="22605" r="60256" b="43487"/>
          <a:stretch/>
        </p:blipFill>
        <p:spPr bwMode="auto">
          <a:xfrm>
            <a:off x="458575" y="4025634"/>
            <a:ext cx="4247515" cy="1952625"/>
          </a:xfrm>
          <a:prstGeom prst="rect">
            <a:avLst/>
          </a:prstGeom>
          <a:ln>
            <a:noFill/>
          </a:ln>
          <a:extLst>
            <a:ext uri="{53640926-AAD7-44D8-BBD7-CCE9431645EC}">
              <a14:shadowObscured xmlns:a14="http://schemas.microsoft.com/office/drawing/2010/main"/>
            </a:ext>
          </a:extLst>
        </p:spPr>
      </p:pic>
      <p:sp>
        <p:nvSpPr>
          <p:cNvPr id="12" name="Content Placeholder 2"/>
          <p:cNvSpPr txBox="1">
            <a:spLocks/>
          </p:cNvSpPr>
          <p:nvPr/>
        </p:nvSpPr>
        <p:spPr>
          <a:xfrm>
            <a:off x="5562600" y="511182"/>
            <a:ext cx="6832600" cy="3106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dirty="0"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2000" dirty="0" smtClean="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New Themes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There are now three Office Themes that you can apply: Colorful, Dark Gray, and White. To access these themes, go to File &gt;Options &gt; General, and then click the drop-down menu next to Office Theme. Below is an example of </a:t>
            </a:r>
            <a:r>
              <a:rPr lang="en-US" sz="2000" i="1" dirty="0">
                <a:latin typeface="Times New Roman" panose="02020603050405020304" pitchFamily="18" charset="0"/>
                <a:cs typeface="Times New Roman" panose="02020603050405020304" pitchFamily="18" charset="0"/>
              </a:rPr>
              <a:t>Dark Gray theme.</a:t>
            </a:r>
            <a:endParaRPr lang="en-US" sz="20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2000" dirty="0">
              <a:latin typeface="Times New Roman" panose="02020603050405020304" pitchFamily="18" charset="0"/>
              <a:cs typeface="Times New Roman" panose="02020603050405020304" pitchFamily="18" charset="0"/>
            </a:endParaRPr>
          </a:p>
        </p:txBody>
      </p:sp>
      <p:pic>
        <p:nvPicPr>
          <p:cNvPr id="13" name="Picture 12"/>
          <p:cNvPicPr/>
          <p:nvPr/>
        </p:nvPicPr>
        <p:blipFill>
          <a:blip r:embed="rId3"/>
          <a:stretch>
            <a:fillRect/>
          </a:stretch>
        </p:blipFill>
        <p:spPr>
          <a:xfrm>
            <a:off x="7722975" y="2902776"/>
            <a:ext cx="3757826" cy="2297925"/>
          </a:xfrm>
          <a:prstGeom prst="rect">
            <a:avLst/>
          </a:prstGeom>
        </p:spPr>
      </p:pic>
      <p:sp>
        <p:nvSpPr>
          <p:cNvPr id="14" name="Content Placeholder 2"/>
          <p:cNvSpPr txBox="1">
            <a:spLocks/>
          </p:cNvSpPr>
          <p:nvPr/>
        </p:nvSpPr>
        <p:spPr>
          <a:xfrm>
            <a:off x="5435600" y="3964169"/>
            <a:ext cx="6756400" cy="1783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dirty="0" smtClean="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2000" dirty="0" smtClean="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Black Theme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The highest-contrast Office theme yet has arrived. To change your Office theme, go to File &gt; Account, and then click the drop-down menu next to Office Theme. The theme you choose will be applied across all your Office apps. To learn more about Office themes, see </a:t>
            </a:r>
            <a:r>
              <a:rPr lang="en-US" sz="1600" dirty="0">
                <a:latin typeface="Times New Roman" panose="02020603050405020304" pitchFamily="18" charset="0"/>
                <a:cs typeface="Times New Roman" panose="02020603050405020304" pitchFamily="18" charset="0"/>
                <a:hlinkClick r:id="rId4"/>
              </a:rPr>
              <a:t>Change the look and feel of Office for Windows with Office themes</a:t>
            </a:r>
            <a:r>
              <a:rPr lang="en-US" sz="2000" dirty="0">
                <a:latin typeface="Times New Roman" panose="02020603050405020304" pitchFamily="18" charset="0"/>
                <a:cs typeface="Times New Roman" panose="02020603050405020304" pitchFamily="18" charset="0"/>
              </a:rPr>
              <a:t>.</a:t>
            </a:r>
          </a:p>
          <a:p>
            <a:pPr marL="0" indent="0">
              <a:buFont typeface="Arial" panose="020B0604020202020204" pitchFamily="34" charse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1097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099733" y="94285"/>
            <a:ext cx="7962061" cy="661680"/>
          </a:xfrm>
        </p:spPr>
        <p:txBody>
          <a:bodyPr>
            <a:normAutofit fontScale="90000"/>
          </a:bodyPr>
          <a:lstStyle/>
          <a:p>
            <a:pPr marL="742950" indent="-742950">
              <a:buFont typeface="+mj-lt"/>
              <a:buAutoNum type="alphaLcPeriod" startAt="4"/>
            </a:pPr>
            <a:r>
              <a:rPr lang="en-US" b="1" dirty="0" smtClean="0">
                <a:latin typeface="Times New Roman" panose="02020603050405020304" pitchFamily="18" charset="0"/>
                <a:cs typeface="Times New Roman" panose="02020603050405020304" pitchFamily="18" charset="0"/>
              </a:rPr>
              <a:t>PowerPoint</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87866" y="970898"/>
            <a:ext cx="11778593" cy="5300132"/>
          </a:xfrm>
        </p:spPr>
        <p:txBody>
          <a:bodyPr>
            <a:normAutofit/>
          </a:bodyPr>
          <a:lstStyle/>
          <a:p>
            <a:r>
              <a:rPr lang="en-US" dirty="0">
                <a:latin typeface="Times New Roman" panose="02020603050405020304" pitchFamily="18" charset="0"/>
                <a:cs typeface="Times New Roman" panose="02020603050405020304" pitchFamily="18" charset="0"/>
              </a:rPr>
              <a:t>Microsoft PowerPoint 2019 is the latest version of Microsoft suite of office application developed by Microsoft Corporation. Older versions currently in use are 2010, 2013 and 2016. PowerPoint Presentation is easy to create as it does not need any prior knowledge to learn. This course will teach you basics so that you can develop dynamic and professional presentations.</a:t>
            </a:r>
          </a:p>
          <a:p>
            <a:r>
              <a:rPr lang="en-US" dirty="0">
                <a:latin typeface="Times New Roman" panose="02020603050405020304" pitchFamily="18" charset="0"/>
                <a:cs typeface="Times New Roman" panose="02020603050405020304" pitchFamily="18" charset="0"/>
              </a:rPr>
              <a:t>With this course, you will learn how to...</a:t>
            </a:r>
          </a:p>
          <a:p>
            <a:pPr lvl="0"/>
            <a:r>
              <a:rPr lang="en-US" dirty="0">
                <a:latin typeface="Times New Roman" panose="02020603050405020304" pitchFamily="18" charset="0"/>
                <a:cs typeface="Times New Roman" panose="02020603050405020304" pitchFamily="18" charset="0"/>
              </a:rPr>
              <a:t>Start PowerPoint Presentation</a:t>
            </a:r>
          </a:p>
          <a:p>
            <a:pPr lvl="0"/>
            <a:r>
              <a:rPr lang="en-US" dirty="0">
                <a:latin typeface="Times New Roman" panose="02020603050405020304" pitchFamily="18" charset="0"/>
                <a:cs typeface="Times New Roman" panose="02020603050405020304" pitchFamily="18" charset="0"/>
              </a:rPr>
              <a:t>Develop a new Presentation</a:t>
            </a:r>
          </a:p>
          <a:p>
            <a:pPr lvl="0"/>
            <a:r>
              <a:rPr lang="en-US" dirty="0">
                <a:latin typeface="Times New Roman" panose="02020603050405020304" pitchFamily="18" charset="0"/>
                <a:cs typeface="Times New Roman" panose="02020603050405020304" pitchFamily="18" charset="0"/>
              </a:rPr>
              <a:t>Create a Presentation</a:t>
            </a:r>
          </a:p>
          <a:p>
            <a:pPr lvl="0"/>
            <a:r>
              <a:rPr lang="en-US" dirty="0">
                <a:latin typeface="Times New Roman" panose="02020603050405020304" pitchFamily="18" charset="0"/>
                <a:cs typeface="Times New Roman" panose="02020603050405020304" pitchFamily="18" charset="0"/>
              </a:rPr>
              <a:t>Use a Template</a:t>
            </a:r>
          </a:p>
          <a:p>
            <a:pPr lvl="0"/>
            <a:r>
              <a:rPr lang="en-US" dirty="0">
                <a:latin typeface="Times New Roman" panose="02020603050405020304" pitchFamily="18" charset="0"/>
                <a:cs typeface="Times New Roman" panose="02020603050405020304" pitchFamily="18" charset="0"/>
              </a:rPr>
              <a:t>Edit Embedded Object</a:t>
            </a:r>
          </a:p>
          <a:p>
            <a:endParaRPr lang="en-US"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4094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099733" y="94285"/>
            <a:ext cx="7962061" cy="661680"/>
          </a:xfrm>
        </p:spPr>
        <p:txBody>
          <a:bodyPr>
            <a:normAutofit fontScale="90000"/>
          </a:bodyPr>
          <a:lstStyle/>
          <a:p>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87866" y="970898"/>
            <a:ext cx="11778593" cy="5300132"/>
          </a:xfrm>
        </p:spPr>
        <p:txBody>
          <a:bodyPr>
            <a:normAutofit/>
          </a:bodyPr>
          <a:lstStyle/>
          <a:p>
            <a:r>
              <a:rPr lang="en-US" sz="3200" dirty="0">
                <a:latin typeface="Times New Roman" panose="02020603050405020304" pitchFamily="18" charset="0"/>
                <a:cs typeface="Times New Roman" panose="02020603050405020304" pitchFamily="18" charset="0"/>
              </a:rPr>
              <a:t>New Features in PowerPoint 2019</a:t>
            </a:r>
          </a:p>
          <a:p>
            <a:r>
              <a:rPr lang="en-US" sz="3200" dirty="0">
                <a:latin typeface="Times New Roman" panose="02020603050405020304" pitchFamily="18" charset="0"/>
                <a:cs typeface="Times New Roman" panose="02020603050405020304" pitchFamily="18" charset="0"/>
              </a:rPr>
              <a:t>Microsoft’s PowerPoint is no doubt one of the most versatile and most used Office applications. From helping people organize charts, statistics, data and information, to helping presenters pass information to an audience in the simplest and most visually appealing way, everybody at one point will make use of the PowerPoint with the application as shown below in </a:t>
            </a:r>
            <a:r>
              <a:rPr lang="en-US" sz="3200" i="1" dirty="0">
                <a:latin typeface="Times New Roman" panose="02020603050405020304" pitchFamily="18" charset="0"/>
                <a:cs typeface="Times New Roman" panose="02020603050405020304" pitchFamily="18" charset="0"/>
              </a:rPr>
              <a:t>Fig 3.2.1.</a:t>
            </a:r>
            <a:endParaRPr lang="en-US" sz="3200" dirty="0">
              <a:latin typeface="Times New Roman" panose="02020603050405020304" pitchFamily="18" charset="0"/>
              <a:cs typeface="Times New Roman" panose="02020603050405020304" pitchFamily="18" charset="0"/>
            </a:endParaRP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7" name="Picture 6" descr="New PowerPoint 2019"/>
          <p:cNvPicPr/>
          <p:nvPr/>
        </p:nvPicPr>
        <p:blipFill>
          <a:blip r:embed="rId3">
            <a:extLst>
              <a:ext uri="{28A0092B-C50C-407E-A947-70E740481C1C}">
                <a14:useLocalDpi xmlns:a14="http://schemas.microsoft.com/office/drawing/2010/main" val="0"/>
              </a:ext>
            </a:extLst>
          </a:blip>
          <a:srcRect/>
          <a:stretch>
            <a:fillRect/>
          </a:stretch>
        </p:blipFill>
        <p:spPr bwMode="auto">
          <a:xfrm>
            <a:off x="542395" y="4230687"/>
            <a:ext cx="4181475" cy="1495425"/>
          </a:xfrm>
          <a:prstGeom prst="rect">
            <a:avLst/>
          </a:prstGeom>
          <a:noFill/>
          <a:ln>
            <a:noFill/>
          </a:ln>
        </p:spPr>
      </p:pic>
      <p:sp>
        <p:nvSpPr>
          <p:cNvPr id="8" name="TextBox 7"/>
          <p:cNvSpPr txBox="1"/>
          <p:nvPr/>
        </p:nvSpPr>
        <p:spPr>
          <a:xfrm>
            <a:off x="436033" y="5726112"/>
            <a:ext cx="5384801"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3.2.1 showing PowerPoint 2019 application.</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97532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099733" y="94285"/>
            <a:ext cx="7962061" cy="661680"/>
          </a:xfrm>
        </p:spPr>
        <p:txBody>
          <a:bodyPr>
            <a:normAutofit fontScale="90000"/>
          </a:bodyPr>
          <a:lstStyle/>
          <a:p>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87866" y="970898"/>
            <a:ext cx="11778593" cy="5300132"/>
          </a:xfrm>
        </p:spPr>
        <p:txBody>
          <a:bodyPr>
            <a:normAutofit/>
          </a:bodyPr>
          <a:lstStyle/>
          <a:p>
            <a:pPr lvl="0"/>
            <a:r>
              <a:rPr lang="en-US" sz="2400" dirty="0">
                <a:latin typeface="Times New Roman" panose="02020603050405020304" pitchFamily="18" charset="0"/>
                <a:cs typeface="Times New Roman" panose="02020603050405020304" pitchFamily="18" charset="0"/>
              </a:rPr>
              <a:t>A new transition called </a:t>
            </a:r>
            <a:r>
              <a:rPr lang="en-US" sz="2400" b="1" dirty="0">
                <a:latin typeface="Times New Roman" panose="02020603050405020304" pitchFamily="18" charset="0"/>
                <a:cs typeface="Times New Roman" panose="02020603050405020304" pitchFamily="18" charset="0"/>
              </a:rPr>
              <a:t>Morph </a:t>
            </a:r>
            <a:r>
              <a:rPr lang="en-US" sz="2400" dirty="0">
                <a:latin typeface="Times New Roman" panose="02020603050405020304" pitchFamily="18" charset="0"/>
                <a:cs typeface="Times New Roman" panose="02020603050405020304" pitchFamily="18" charset="0"/>
              </a:rPr>
              <a:t>has been added to PowerPoint. This powerful transition will allow you to ad smooth movement between one slide to the next in presentation. It’s essentially a straightforward way to get any animation created within seconds. Transitions are one of the interesting features of PowerPoint. You might be used to effects like </a:t>
            </a:r>
            <a:r>
              <a:rPr lang="en-US" sz="2400" i="1" dirty="0">
                <a:latin typeface="Times New Roman" panose="02020603050405020304" pitchFamily="18" charset="0"/>
                <a:cs typeface="Times New Roman" panose="02020603050405020304" pitchFamily="18" charset="0"/>
              </a:rPr>
              <a:t>Honeycomb, Fade, Zoom, Random, Origami, Gallery</a:t>
            </a:r>
            <a:r>
              <a:rPr lang="en-US" sz="2400" dirty="0">
                <a:latin typeface="Times New Roman" panose="02020603050405020304" pitchFamily="18" charset="0"/>
                <a:cs typeface="Times New Roman" panose="02020603050405020304" pitchFamily="18" charset="0"/>
              </a:rPr>
              <a:t> and so on. If you are, you will love the newly introduced Morph effect</a:t>
            </a:r>
          </a:p>
          <a:p>
            <a:r>
              <a:rPr lang="en-US" sz="2400" dirty="0">
                <a:latin typeface="Times New Roman" panose="02020603050405020304" pitchFamily="18" charset="0"/>
                <a:cs typeface="Times New Roman" panose="02020603050405020304" pitchFamily="18" charset="0"/>
              </a:rPr>
              <a:t>To use Morph, you first duplicate a slide, then move, resize, or edit the objects on the duplicated slide, and then click Transition and morph. Doing this will automatically create a smooth animation from the original slide to the duplicated one as shown in Fig 3.2.2.</a:t>
            </a: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436033" y="5726112"/>
            <a:ext cx="5384801" cy="276999"/>
          </a:xfrm>
          <a:prstGeom prst="rect">
            <a:avLst/>
          </a:prstGeom>
          <a:noFill/>
        </p:spPr>
        <p:txBody>
          <a:bodyPr wrap="square" rtlCol="0">
            <a:spAutoFit/>
          </a:bodyPr>
          <a:lstStyle/>
          <a:p>
            <a:r>
              <a:rPr lang="en-US" sz="1200" b="1" i="1" dirty="0"/>
              <a:t>Figure 3.2.2 showing Morph from Transitions Tab.</a:t>
            </a:r>
            <a:endParaRPr lang="en-US" sz="1200" dirty="0"/>
          </a:p>
        </p:txBody>
      </p:sp>
      <p:pic>
        <p:nvPicPr>
          <p:cNvPr id="10" name="Picture 9"/>
          <p:cNvPicPr/>
          <p:nvPr/>
        </p:nvPicPr>
        <p:blipFill>
          <a:blip r:embed="rId3">
            <a:extLst>
              <a:ext uri="{28A0092B-C50C-407E-A947-70E740481C1C}">
                <a14:useLocalDpi xmlns:a14="http://schemas.microsoft.com/office/drawing/2010/main" val="0"/>
              </a:ext>
            </a:extLst>
          </a:blip>
          <a:stretch>
            <a:fillRect/>
          </a:stretch>
        </p:blipFill>
        <p:spPr>
          <a:xfrm>
            <a:off x="567267" y="4166764"/>
            <a:ext cx="7907866" cy="1446636"/>
          </a:xfrm>
          <a:prstGeom prst="rect">
            <a:avLst/>
          </a:prstGeom>
        </p:spPr>
      </p:pic>
    </p:spTree>
    <p:extLst>
      <p:ext uri="{BB962C8B-B14F-4D97-AF65-F5344CB8AC3E}">
        <p14:creationId xmlns:p14="http://schemas.microsoft.com/office/powerpoint/2010/main" val="24509777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267" y="365125"/>
            <a:ext cx="10913533" cy="1325563"/>
          </a:xfrm>
        </p:spPr>
        <p:txBody>
          <a:bodyPr/>
          <a:lstStyle/>
          <a:p>
            <a:endParaRPr lang="en-US" dirty="0"/>
          </a:p>
        </p:txBody>
      </p:sp>
      <p:sp>
        <p:nvSpPr>
          <p:cNvPr id="3" name="Content Placeholder 2"/>
          <p:cNvSpPr>
            <a:spLocks noGrp="1"/>
          </p:cNvSpPr>
          <p:nvPr>
            <p:ph idx="1"/>
          </p:nvPr>
        </p:nvSpPr>
        <p:spPr>
          <a:xfrm>
            <a:off x="296333" y="1825625"/>
            <a:ext cx="11565467" cy="4351338"/>
          </a:xfrm>
        </p:spPr>
        <p:txBody>
          <a:bodyPr>
            <a:noAutofit/>
          </a:bodyPr>
          <a:lstStyle/>
          <a:p>
            <a:pPr lvl="0"/>
            <a:r>
              <a:rPr lang="en-US" sz="2400" dirty="0">
                <a:latin typeface="Times New Roman" panose="02020603050405020304" pitchFamily="18" charset="0"/>
                <a:cs typeface="Times New Roman" panose="02020603050405020304" pitchFamily="18" charset="0"/>
              </a:rPr>
              <a:t>The new </a:t>
            </a:r>
            <a:r>
              <a:rPr lang="en-US" sz="2400" b="1" dirty="0">
                <a:latin typeface="Times New Roman" panose="02020603050405020304" pitchFamily="18" charset="0"/>
                <a:cs typeface="Times New Roman" panose="02020603050405020304" pitchFamily="18" charset="0"/>
              </a:rPr>
              <a:t>Zoom </a:t>
            </a:r>
            <a:r>
              <a:rPr lang="en-US" sz="2400" dirty="0">
                <a:latin typeface="Times New Roman" panose="02020603050405020304" pitchFamily="18" charset="0"/>
                <a:cs typeface="Times New Roman" panose="02020603050405020304" pitchFamily="18" charset="0"/>
              </a:rPr>
              <a:t>adds a new dynamic navigation option for presenting your PowerPoint 2019 slides where you can jump from a slide or section to another slide or section of your presentation. Zooming has always been a great feature to have around. Not only for PowerPoint presentations but for everything else.  The zoom tab has three commands which you can choose from to bring out various interesting effects.</a:t>
            </a:r>
          </a:p>
          <a:p>
            <a:pPr lvl="1"/>
            <a:r>
              <a:rPr lang="en-US" dirty="0">
                <a:latin typeface="Times New Roman" panose="02020603050405020304" pitchFamily="18" charset="0"/>
                <a:cs typeface="Times New Roman" panose="02020603050405020304" pitchFamily="18" charset="0"/>
              </a:rPr>
              <a:t>The summary Zoom</a:t>
            </a:r>
          </a:p>
          <a:p>
            <a:pPr lvl="1"/>
            <a:r>
              <a:rPr lang="en-US" dirty="0">
                <a:latin typeface="Times New Roman" panose="02020603050405020304" pitchFamily="18" charset="0"/>
                <a:cs typeface="Times New Roman" panose="02020603050405020304" pitchFamily="18" charset="0"/>
              </a:rPr>
              <a:t>The Section Zoom</a:t>
            </a:r>
          </a:p>
          <a:p>
            <a:pPr lvl="1"/>
            <a:r>
              <a:rPr lang="en-US" dirty="0">
                <a:latin typeface="Times New Roman" panose="02020603050405020304" pitchFamily="18" charset="0"/>
                <a:cs typeface="Times New Roman" panose="02020603050405020304" pitchFamily="18" charset="0"/>
              </a:rPr>
              <a:t>The Slide Zoom</a:t>
            </a:r>
          </a:p>
          <a:p>
            <a:r>
              <a:rPr lang="en-US" sz="2400" dirty="0">
                <a:latin typeface="Times New Roman" panose="02020603050405020304" pitchFamily="18" charset="0"/>
                <a:cs typeface="Times New Roman" panose="02020603050405020304" pitchFamily="18" charset="0"/>
              </a:rPr>
              <a:t>Zoom proves to be a fun, engaging way to bounce between slides during a presentation and it allows for a more free-flowing approach to a presentation as opposed to the typical slide-by-slide default</a:t>
            </a:r>
          </a:p>
          <a:p>
            <a:endParaRPr lang="en-US" sz="2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Tree>
    <p:extLst>
      <p:ext uri="{BB962C8B-B14F-4D97-AF65-F5344CB8AC3E}">
        <p14:creationId xmlns:p14="http://schemas.microsoft.com/office/powerpoint/2010/main" val="2600736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099733" y="94285"/>
            <a:ext cx="7962061" cy="661680"/>
          </a:xfrm>
        </p:spPr>
        <p:txBody>
          <a:bodyPr>
            <a:normAutofit fontScale="90000"/>
          </a:bodyPr>
          <a:lstStyle/>
          <a:p>
            <a:pPr marL="742950" indent="-742950">
              <a:buFont typeface="+mj-lt"/>
              <a:buAutoNum type="alphaLcPeriod" startAt="5"/>
            </a:pPr>
            <a:r>
              <a:rPr lang="en-US" b="1" dirty="0" smtClean="0">
                <a:latin typeface="Times New Roman" panose="02020603050405020304" pitchFamily="18" charset="0"/>
                <a:cs typeface="Times New Roman" panose="02020603050405020304" pitchFamily="18" charset="0"/>
              </a:rPr>
              <a:t>Outlook</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87866" y="970898"/>
            <a:ext cx="11778593" cy="5300132"/>
          </a:xfrm>
        </p:spPr>
        <p:txBody>
          <a:bodyPr>
            <a:normAutofit fontScale="85000" lnSpcReduction="20000"/>
          </a:bodyPr>
          <a:lstStyle/>
          <a:p>
            <a:r>
              <a:rPr lang="en-US" sz="3200" dirty="0">
                <a:latin typeface="Times New Roman" panose="02020603050405020304" pitchFamily="18" charset="0"/>
                <a:cs typeface="Times New Roman" panose="02020603050405020304" pitchFamily="18" charset="0"/>
              </a:rPr>
              <a:t>Microsoft Outlook 2019 is the latest version of Microsoft application suite. Older versions are 2010, 2013 and 2016 developed by Microsoft Corporation. Outlook allows the user not only to send and receive email but manages calendar of important events which are scheduled among others.</a:t>
            </a:r>
          </a:p>
          <a:p>
            <a:r>
              <a:rPr lang="en-US" sz="3200" dirty="0">
                <a:latin typeface="Times New Roman" panose="02020603050405020304" pitchFamily="18" charset="0"/>
                <a:cs typeface="Times New Roman" panose="02020603050405020304" pitchFamily="18" charset="0"/>
              </a:rPr>
              <a:t>In this course, you are going to learn how to...</a:t>
            </a:r>
          </a:p>
          <a:p>
            <a:pPr lvl="0"/>
            <a:r>
              <a:rPr lang="en-US" sz="3200" dirty="0">
                <a:latin typeface="Times New Roman" panose="02020603050405020304" pitchFamily="18" charset="0"/>
                <a:cs typeface="Times New Roman" panose="02020603050405020304" pitchFamily="18" charset="0"/>
              </a:rPr>
              <a:t>Use Address Book</a:t>
            </a:r>
          </a:p>
          <a:p>
            <a:pPr lvl="0"/>
            <a:r>
              <a:rPr lang="en-US" sz="3200" dirty="0">
                <a:latin typeface="Times New Roman" panose="02020603050405020304" pitchFamily="18" charset="0"/>
                <a:cs typeface="Times New Roman" panose="02020603050405020304" pitchFamily="18" charset="0"/>
              </a:rPr>
              <a:t>Send File Attachment</a:t>
            </a:r>
          </a:p>
          <a:p>
            <a:pPr lvl="0"/>
            <a:r>
              <a:rPr lang="en-US" sz="3200" dirty="0">
                <a:latin typeface="Times New Roman" panose="02020603050405020304" pitchFamily="18" charset="0"/>
                <a:cs typeface="Times New Roman" panose="02020603050405020304" pitchFamily="18" charset="0"/>
              </a:rPr>
              <a:t>Use Signature</a:t>
            </a:r>
          </a:p>
          <a:p>
            <a:pPr lvl="0"/>
            <a:r>
              <a:rPr lang="en-US" sz="3200" dirty="0">
                <a:latin typeface="Times New Roman" panose="02020603050405020304" pitchFamily="18" charset="0"/>
                <a:cs typeface="Times New Roman" panose="02020603050405020304" pitchFamily="18" charset="0"/>
              </a:rPr>
              <a:t>Set Priority</a:t>
            </a:r>
          </a:p>
          <a:p>
            <a:pPr lvl="0"/>
            <a:r>
              <a:rPr lang="en-US" sz="3200" dirty="0">
                <a:latin typeface="Times New Roman" panose="02020603050405020304" pitchFamily="18" charset="0"/>
                <a:cs typeface="Times New Roman" panose="02020603050405020304" pitchFamily="18" charset="0"/>
              </a:rPr>
              <a:t>Replay and forward emails</a:t>
            </a:r>
          </a:p>
          <a:p>
            <a:pPr lvl="0"/>
            <a:r>
              <a:rPr lang="en-US" sz="3200" dirty="0">
                <a:latin typeface="Times New Roman" panose="02020603050405020304" pitchFamily="18" charset="0"/>
                <a:cs typeface="Times New Roman" panose="02020603050405020304" pitchFamily="18" charset="0"/>
              </a:rPr>
              <a:t>Customize mail programs</a:t>
            </a:r>
          </a:p>
          <a:p>
            <a:r>
              <a:rPr lang="en-US" sz="3200" dirty="0">
                <a:latin typeface="Times New Roman" panose="02020603050405020304" pitchFamily="18" charset="0"/>
                <a:cs typeface="Times New Roman" panose="02020603050405020304" pitchFamily="18" charset="0"/>
              </a:rPr>
              <a:t>Listen to your emails. When multitasking is in order, Outlook allows you to read your email messages aloud. You can keep up with rest of you other task with your email too as shown below in </a:t>
            </a:r>
            <a:r>
              <a:rPr lang="en-US" sz="3200" i="1" dirty="0">
                <a:latin typeface="Times New Roman" panose="02020603050405020304" pitchFamily="18" charset="0"/>
                <a:cs typeface="Times New Roman" panose="02020603050405020304" pitchFamily="18" charset="0"/>
              </a:rPr>
              <a:t>Fig 3.3.1</a:t>
            </a:r>
            <a:endParaRPr lang="en-US" sz="3200" dirty="0">
              <a:latin typeface="Times New Roman" panose="02020603050405020304" pitchFamily="18" charset="0"/>
              <a:cs typeface="Times New Roman" panose="02020603050405020304" pitchFamily="18" charset="0"/>
            </a:endParaRP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94163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
        <p:nvSpPr>
          <p:cNvPr id="6" name="TextBox 5"/>
          <p:cNvSpPr txBox="1"/>
          <p:nvPr/>
        </p:nvSpPr>
        <p:spPr>
          <a:xfrm>
            <a:off x="690031" y="3973667"/>
            <a:ext cx="6870701"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 Figure 3.3.1 showing email displaying sound from the PC.</a:t>
            </a:r>
            <a:endParaRPr lang="en-US" sz="1200" dirty="0">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idx="1"/>
          </p:nvPr>
        </p:nvSpPr>
        <p:spPr>
          <a:xfrm>
            <a:off x="4571999" y="1690688"/>
            <a:ext cx="7459133" cy="3372379"/>
          </a:xfrm>
        </p:spPr>
        <p:txBody>
          <a:bodyPr/>
          <a:lstStyle/>
          <a:p>
            <a:r>
              <a:rPr lang="en-US" dirty="0">
                <a:latin typeface="Times New Roman" panose="02020603050405020304" pitchFamily="18" charset="0"/>
                <a:cs typeface="Times New Roman" panose="02020603050405020304" pitchFamily="18" charset="0"/>
              </a:rPr>
              <a:t>Mark emails as read when deleting If your Deleted Items folder includes unread items, there's now a quick fix to make sure all deleted messages are marked as read.</a:t>
            </a:r>
          </a:p>
          <a:p>
            <a:r>
              <a:rPr lang="en-US" dirty="0">
                <a:latin typeface="Times New Roman" panose="02020603050405020304" pitchFamily="18" charset="0"/>
                <a:cs typeface="Times New Roman" panose="02020603050405020304" pitchFamily="18" charset="0"/>
              </a:rPr>
              <a:t>Outlook 2019 allows you to mark emails as read when deleting from deleted item folder including the unread items as shown below in </a:t>
            </a:r>
            <a:r>
              <a:rPr lang="en-US" b="1" i="1" dirty="0">
                <a:latin typeface="Times New Roman" panose="02020603050405020304" pitchFamily="18" charset="0"/>
                <a:cs typeface="Times New Roman" panose="02020603050405020304" pitchFamily="18" charset="0"/>
              </a:rPr>
              <a:t>Fig 3.3.2</a:t>
            </a:r>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9" name="Content Placeholder 4" descr="Read Aloud icon on the left and a message with highlighted text"/>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82229"/>
            <a:ext cx="3115733" cy="1995504"/>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10" name="Picture 9" descr="Mark messages as read when deleted check box in Outlook OPtions dialog box"/>
          <p:cNvPicPr/>
          <p:nvPr/>
        </p:nvPicPr>
        <p:blipFill>
          <a:blip r:embed="rId3">
            <a:extLst>
              <a:ext uri="{28A0092B-C50C-407E-A947-70E740481C1C}">
                <a14:useLocalDpi xmlns:a14="http://schemas.microsoft.com/office/drawing/2010/main" val="0"/>
              </a:ext>
            </a:extLst>
          </a:blip>
          <a:srcRect/>
          <a:stretch>
            <a:fillRect/>
          </a:stretch>
        </p:blipFill>
        <p:spPr bwMode="auto">
          <a:xfrm>
            <a:off x="5460999" y="4633298"/>
            <a:ext cx="2620432" cy="1479395"/>
          </a:xfrm>
          <a:prstGeom prst="rect">
            <a:avLst/>
          </a:prstGeom>
          <a:noFill/>
          <a:ln>
            <a:noFill/>
          </a:ln>
        </p:spPr>
      </p:pic>
      <p:sp>
        <p:nvSpPr>
          <p:cNvPr id="11" name="TextBox 10"/>
          <p:cNvSpPr txBox="1"/>
          <p:nvPr/>
        </p:nvSpPr>
        <p:spPr>
          <a:xfrm>
            <a:off x="5348815" y="6185397"/>
            <a:ext cx="4809067"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 Figure 3.3.2 showing mark messages as read when deleted.</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57618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
        <p:nvSpPr>
          <p:cNvPr id="6" name="TextBox 5"/>
          <p:cNvSpPr txBox="1"/>
          <p:nvPr/>
        </p:nvSpPr>
        <p:spPr>
          <a:xfrm>
            <a:off x="518054" y="5975437"/>
            <a:ext cx="6870701"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 Figure 3.3.3 showing reminders popping up.</a:t>
            </a:r>
            <a:endParaRPr lang="en-US" sz="1200" dirty="0">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idx="1"/>
          </p:nvPr>
        </p:nvSpPr>
        <p:spPr>
          <a:xfrm>
            <a:off x="6087535" y="1724067"/>
            <a:ext cx="6104465" cy="3372379"/>
          </a:xfrm>
        </p:spPr>
        <p:txBody>
          <a:bodyPr>
            <a:normAutofit/>
          </a:bodyPr>
          <a:lstStyle/>
          <a:p>
            <a:r>
              <a:rPr lang="en-US" dirty="0">
                <a:latin typeface="Times New Roman" panose="02020603050405020304" pitchFamily="18" charset="0"/>
                <a:cs typeface="Times New Roman" panose="02020603050405020304" pitchFamily="18" charset="0"/>
              </a:rPr>
              <a:t>Outlook 2019 allows you to schedule meetings with people’s responses. </a:t>
            </a:r>
            <a:r>
              <a:rPr lang="en-US" i="1" dirty="0">
                <a:latin typeface="Times New Roman" panose="02020603050405020304" pitchFamily="18" charset="0"/>
                <a:cs typeface="Times New Roman" panose="02020603050405020304" pitchFamily="18" charset="0"/>
              </a:rPr>
              <a:t>See Fig 3.3.4</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6598705" y="5206607"/>
            <a:ext cx="4809067" cy="461665"/>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 Figure 3.3.4 showing schedule meetings and responses.</a:t>
            </a:r>
            <a:endParaRPr lang="en-US" sz="1200" dirty="0">
              <a:latin typeface="Times New Roman" panose="02020603050405020304" pitchFamily="18" charset="0"/>
              <a:cs typeface="Times New Roman" panose="02020603050405020304" pitchFamily="18" charset="0"/>
            </a:endParaRPr>
          </a:p>
          <a:p>
            <a:r>
              <a:rPr lang="en-US" sz="1200" b="1" i="1" dirty="0" smtClean="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12" name="Content Placeholder 7"/>
          <p:cNvSpPr txBox="1">
            <a:spLocks/>
          </p:cNvSpPr>
          <p:nvPr/>
        </p:nvSpPr>
        <p:spPr>
          <a:xfrm>
            <a:off x="186267" y="1699648"/>
            <a:ext cx="6104465" cy="33723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Reminders can be setup in your PC so that it will pop up to remind of you of task you intend to do. Outlook 2019 will flash in the taskbar to get your attention as shown below in Fig 3.3.3.</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13" name="Picture 12" descr="Word document with Reminder dialog box on top of it"/>
          <p:cNvPicPr/>
          <p:nvPr/>
        </p:nvPicPr>
        <p:blipFill>
          <a:blip r:embed="rId2">
            <a:extLst>
              <a:ext uri="{28A0092B-C50C-407E-A947-70E740481C1C}">
                <a14:useLocalDpi xmlns:a14="http://schemas.microsoft.com/office/drawing/2010/main" val="0"/>
              </a:ext>
            </a:extLst>
          </a:blip>
          <a:srcRect/>
          <a:stretch>
            <a:fillRect/>
          </a:stretch>
        </p:blipFill>
        <p:spPr bwMode="auto">
          <a:xfrm>
            <a:off x="518054" y="3847823"/>
            <a:ext cx="3857625" cy="2060575"/>
          </a:xfrm>
          <a:prstGeom prst="rect">
            <a:avLst/>
          </a:prstGeom>
          <a:noFill/>
          <a:ln>
            <a:noFill/>
          </a:ln>
        </p:spPr>
      </p:pic>
      <p:pic>
        <p:nvPicPr>
          <p:cNvPr id="14" name="Picture 13" descr="Meeting with responses to invite from all attendees"/>
          <p:cNvPicPr/>
          <p:nvPr/>
        </p:nvPicPr>
        <p:blipFill>
          <a:blip r:embed="rId3">
            <a:extLst>
              <a:ext uri="{28A0092B-C50C-407E-A947-70E740481C1C}">
                <a14:useLocalDpi xmlns:a14="http://schemas.microsoft.com/office/drawing/2010/main" val="0"/>
              </a:ext>
            </a:extLst>
          </a:blip>
          <a:srcRect/>
          <a:stretch>
            <a:fillRect/>
          </a:stretch>
        </p:blipFill>
        <p:spPr bwMode="auto">
          <a:xfrm>
            <a:off x="6598705" y="3181580"/>
            <a:ext cx="3762375" cy="1857375"/>
          </a:xfrm>
          <a:prstGeom prst="rect">
            <a:avLst/>
          </a:prstGeom>
          <a:noFill/>
          <a:ln>
            <a:noFill/>
          </a:ln>
        </p:spPr>
      </p:pic>
    </p:spTree>
    <p:extLst>
      <p:ext uri="{BB962C8B-B14F-4D97-AF65-F5344CB8AC3E}">
        <p14:creationId xmlns:p14="http://schemas.microsoft.com/office/powerpoint/2010/main" val="3268011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75" y="85725"/>
            <a:ext cx="11022725" cy="1325563"/>
          </a:xfrm>
        </p:spPr>
        <p:txBody>
          <a:bodyPr/>
          <a:lstStyle/>
          <a:p>
            <a:r>
              <a:rPr lang="en-US" b="1" dirty="0">
                <a:latin typeface="Times New Roman" panose="02020603050405020304" pitchFamily="18" charset="0"/>
                <a:cs typeface="Times New Roman" panose="02020603050405020304" pitchFamily="18" charset="0"/>
              </a:rPr>
              <a:t>Summary</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7075" y="807773"/>
            <a:ext cx="11650717" cy="4919134"/>
          </a:xfrm>
        </p:spPr>
        <p:txBody>
          <a:bodyPr>
            <a:noAutofit/>
          </a:bodyPr>
          <a:lstStyle/>
          <a:p>
            <a:pPr lvl="0"/>
            <a:r>
              <a:rPr lang="en-US" dirty="0">
                <a:latin typeface="Times New Roman" panose="02020603050405020304" pitchFamily="18" charset="0"/>
                <a:cs typeface="Times New Roman" panose="02020603050405020304" pitchFamily="18" charset="0"/>
              </a:rPr>
              <a:t>New features in Microsoft Office Word 2019</a:t>
            </a:r>
          </a:p>
          <a:p>
            <a:pPr lvl="1"/>
            <a:r>
              <a:rPr lang="en-US" b="1" dirty="0">
                <a:latin typeface="Times New Roman" panose="02020603050405020304" pitchFamily="18" charset="0"/>
                <a:cs typeface="Times New Roman" panose="02020603050405020304" pitchFamily="18" charset="0"/>
              </a:rPr>
              <a:t>Tell Me</a:t>
            </a:r>
            <a:r>
              <a:rPr lang="en-US" dirty="0">
                <a:latin typeface="Times New Roman" panose="02020603050405020304" pitchFamily="18" charset="0"/>
                <a:cs typeface="Times New Roman" panose="02020603050405020304" pitchFamily="18" charset="0"/>
              </a:rPr>
              <a:t> is a new feature which ask your o to type a command to access it instantly</a:t>
            </a:r>
            <a:endParaRPr lang="en-US" sz="20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Microsoft </a:t>
            </a:r>
            <a:r>
              <a:rPr lang="en-US" b="1" dirty="0">
                <a:latin typeface="Times New Roman" panose="02020603050405020304" pitchFamily="18" charset="0"/>
                <a:cs typeface="Times New Roman" panose="02020603050405020304" pitchFamily="18" charset="0"/>
              </a:rPr>
              <a:t>Translator</a:t>
            </a:r>
            <a:r>
              <a:rPr lang="en-US" dirty="0">
                <a:latin typeface="Times New Roman" panose="02020603050405020304" pitchFamily="18" charset="0"/>
                <a:cs typeface="Times New Roman" panose="02020603050405020304" pitchFamily="18" charset="0"/>
              </a:rPr>
              <a:t> is a new feature added to Word, Excel and PowerPoint</a:t>
            </a:r>
            <a:endParaRPr lang="en-US" sz="20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View a page at a time, </a:t>
            </a:r>
            <a:r>
              <a:rPr lang="en-US" b="1" dirty="0">
                <a:latin typeface="Times New Roman" panose="02020603050405020304" pitchFamily="18" charset="0"/>
                <a:cs typeface="Times New Roman" panose="02020603050405020304" pitchFamily="18" charset="0"/>
              </a:rPr>
              <a:t>side by side</a:t>
            </a:r>
            <a:r>
              <a:rPr lang="en-US"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Use </a:t>
            </a:r>
            <a:r>
              <a:rPr lang="en-US" b="1" dirty="0" err="1">
                <a:latin typeface="Times New Roman" panose="02020603050405020304" pitchFamily="18" charset="0"/>
                <a:cs typeface="Times New Roman" panose="02020603050405020304" pitchFamily="18" charset="0"/>
              </a:rPr>
              <a:t>LaTeX</a:t>
            </a:r>
            <a:r>
              <a:rPr lang="en-US" dirty="0">
                <a:latin typeface="Times New Roman" panose="02020603050405020304" pitchFamily="18" charset="0"/>
                <a:cs typeface="Times New Roman" panose="02020603050405020304" pitchFamily="18" charset="0"/>
              </a:rPr>
              <a:t> in your equations </a:t>
            </a:r>
            <a:endParaRPr lang="en-US" sz="2000"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New features in Microsoft Office Excel 2019</a:t>
            </a:r>
          </a:p>
          <a:p>
            <a:r>
              <a:rPr lang="en-US" dirty="0">
                <a:latin typeface="Times New Roman" panose="02020603050405020304" pitchFamily="18" charset="0"/>
                <a:cs typeface="Times New Roman" panose="02020603050405020304" pitchFamily="18" charset="0"/>
              </a:rPr>
              <a:t>New Functions</a:t>
            </a:r>
            <a:endParaRPr lang="en-US" sz="2400"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CONCAT</a:t>
            </a:r>
            <a:endParaRPr lang="en-US" sz="2400"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IFS</a:t>
            </a:r>
            <a:endParaRPr lang="en-US" sz="2400"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MAXIFS</a:t>
            </a:r>
            <a:endParaRPr lang="en-US" sz="2400"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MINIFS</a:t>
            </a:r>
            <a:endParaRPr lang="en-US" sz="2400"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3D Models</a:t>
            </a:r>
            <a:endParaRPr lang="en-US" sz="2400" dirty="0">
              <a:latin typeface="Times New Roman" panose="02020603050405020304" pitchFamily="18" charset="0"/>
              <a:cs typeface="Times New Roman" panose="02020603050405020304" pitchFamily="18" charset="0"/>
            </a:endParaRPr>
          </a:p>
          <a:p>
            <a:pPr lvl="0"/>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p>
          <a:p>
            <a:pPr lvl="0"/>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Tree>
    <p:extLst>
      <p:ext uri="{BB962C8B-B14F-4D97-AF65-F5344CB8AC3E}">
        <p14:creationId xmlns:p14="http://schemas.microsoft.com/office/powerpoint/2010/main" val="1788037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4872" y="268634"/>
            <a:ext cx="10515600" cy="4351338"/>
          </a:xfrm>
        </p:spPr>
        <p:txBody>
          <a:bodyPr>
            <a:noAutofit/>
          </a:bodyPr>
          <a:lstStyle/>
          <a:p>
            <a:pPr lvl="0"/>
            <a:r>
              <a:rPr lang="en-US" sz="2400" dirty="0">
                <a:latin typeface="Times New Roman" panose="02020603050405020304" pitchFamily="18" charset="0"/>
                <a:cs typeface="Times New Roman" panose="02020603050405020304" pitchFamily="18" charset="0"/>
              </a:rPr>
              <a:t>Superscript and Subscript on Quick Access Toolbar</a:t>
            </a:r>
            <a:endParaRPr lang="en-US" sz="20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Improved autocomplete</a:t>
            </a:r>
            <a:endParaRPr lang="en-US" sz="20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New themes</a:t>
            </a:r>
            <a:endParaRPr lang="en-US" sz="20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Black theme</a:t>
            </a:r>
            <a:endParaRPr lang="en-US" sz="20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New Features in PowerPoint 2019 </a:t>
            </a:r>
          </a:p>
          <a:p>
            <a:pPr lvl="0"/>
            <a:r>
              <a:rPr lang="en-US" sz="2400" dirty="0">
                <a:latin typeface="Times New Roman" panose="02020603050405020304" pitchFamily="18" charset="0"/>
                <a:cs typeface="Times New Roman" panose="02020603050405020304" pitchFamily="18" charset="0"/>
              </a:rPr>
              <a:t>A new transition called </a:t>
            </a:r>
            <a:r>
              <a:rPr lang="en-US" sz="2400" b="1" dirty="0">
                <a:latin typeface="Times New Roman" panose="02020603050405020304" pitchFamily="18" charset="0"/>
                <a:cs typeface="Times New Roman" panose="02020603050405020304" pitchFamily="18" charset="0"/>
              </a:rPr>
              <a:t>Morph </a:t>
            </a:r>
            <a:r>
              <a:rPr lang="en-US" sz="2400" dirty="0">
                <a:latin typeface="Times New Roman" panose="02020603050405020304" pitchFamily="18" charset="0"/>
                <a:cs typeface="Times New Roman" panose="02020603050405020304" pitchFamily="18" charset="0"/>
              </a:rPr>
              <a:t>has been added to PowerPoint.</a:t>
            </a:r>
            <a:endParaRPr lang="en-US" sz="20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The new </a:t>
            </a:r>
            <a:r>
              <a:rPr lang="en-US" sz="2400" b="1" dirty="0">
                <a:latin typeface="Times New Roman" panose="02020603050405020304" pitchFamily="18" charset="0"/>
                <a:cs typeface="Times New Roman" panose="02020603050405020304" pitchFamily="18" charset="0"/>
              </a:rPr>
              <a:t>Zoom </a:t>
            </a:r>
            <a:r>
              <a:rPr lang="en-US" sz="2400" dirty="0">
                <a:latin typeface="Times New Roman" panose="02020603050405020304" pitchFamily="18" charset="0"/>
                <a:cs typeface="Times New Roman" panose="02020603050405020304" pitchFamily="18" charset="0"/>
              </a:rPr>
              <a:t>adds a new dynamic navigation option for presenting your PowerPoint 2019 slides.</a:t>
            </a:r>
            <a:endParaRPr lang="en-US" sz="20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New Features in Outlook 2019 </a:t>
            </a:r>
          </a:p>
          <a:p>
            <a:pPr lvl="0"/>
            <a:r>
              <a:rPr lang="en-US" sz="2400" dirty="0">
                <a:latin typeface="Times New Roman" panose="02020603050405020304" pitchFamily="18" charset="0"/>
                <a:cs typeface="Times New Roman" panose="02020603050405020304" pitchFamily="18" charset="0"/>
              </a:rPr>
              <a:t>Use the system speaker to get email notification</a:t>
            </a:r>
            <a:endParaRPr lang="en-US" sz="20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Mark messages as read when deleting</a:t>
            </a:r>
            <a:endParaRPr lang="en-US" sz="20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Setting reminders to pop up automatically</a:t>
            </a:r>
            <a:endParaRPr lang="en-US" sz="20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Schedule meetings</a:t>
            </a:r>
            <a:endParaRPr lang="en-US" sz="20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8077200" y="6492875"/>
            <a:ext cx="4114800" cy="365125"/>
          </a:xfrm>
        </p:spPr>
        <p:txBody>
          <a:bodyPr/>
          <a:lstStyle/>
          <a:p>
            <a:r>
              <a:rPr lang="en-US" dirty="0" smtClean="0"/>
              <a:t>Prepared: by:  MS Odilia Tita</a:t>
            </a:r>
            <a:endParaRPr lang="en-AU" dirty="0"/>
          </a:p>
        </p:txBody>
      </p:sp>
    </p:spTree>
    <p:extLst>
      <p:ext uri="{BB962C8B-B14F-4D97-AF65-F5344CB8AC3E}">
        <p14:creationId xmlns:p14="http://schemas.microsoft.com/office/powerpoint/2010/main" val="277414086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3413"/>
          </a:xfrm>
        </p:spPr>
        <p:txBody>
          <a:bodyPr>
            <a:normAutofit fontScale="90000"/>
          </a:bodyPr>
          <a:lstStyle/>
          <a:p>
            <a:r>
              <a:rPr lang="en-US" b="1" dirty="0">
                <a:latin typeface="Times New Roman" panose="02020603050405020304" pitchFamily="18" charset="0"/>
                <a:cs typeface="Times New Roman" panose="02020603050405020304" pitchFamily="18" charset="0"/>
              </a:rPr>
              <a:t>Review Activities: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1600" y="931333"/>
            <a:ext cx="12090400" cy="5425017"/>
          </a:xfrm>
        </p:spPr>
        <p:txBody>
          <a:bodyPr>
            <a:normAutofit/>
          </a:bodyPr>
          <a:lstStyle/>
          <a:p>
            <a:pPr lvl="0"/>
            <a:r>
              <a:rPr lang="en-US" sz="3400" dirty="0" smtClean="0">
                <a:latin typeface="Times New Roman" panose="02020603050405020304" pitchFamily="18" charset="0"/>
                <a:cs typeface="Times New Roman" panose="02020603050405020304" pitchFamily="18" charset="0"/>
              </a:rPr>
              <a:t>What </a:t>
            </a:r>
            <a:r>
              <a:rPr lang="en-US" sz="3400" dirty="0">
                <a:latin typeface="Times New Roman" panose="02020603050405020304" pitchFamily="18" charset="0"/>
                <a:cs typeface="Times New Roman" panose="02020603050405020304" pitchFamily="18" charset="0"/>
              </a:rPr>
              <a:t>are the main features and benefits of Microsoft 365?</a:t>
            </a:r>
          </a:p>
          <a:p>
            <a:pPr lvl="0"/>
            <a:r>
              <a:rPr lang="en-US" sz="3400" dirty="0">
                <a:latin typeface="Times New Roman" panose="02020603050405020304" pitchFamily="18" charset="0"/>
                <a:cs typeface="Times New Roman" panose="02020603050405020304" pitchFamily="18" charset="0"/>
              </a:rPr>
              <a:t>Define Word 2019 and list some new features in Word 2019.</a:t>
            </a:r>
          </a:p>
          <a:p>
            <a:pPr lvl="0"/>
            <a:r>
              <a:rPr lang="en-US" sz="3400" dirty="0">
                <a:latin typeface="Times New Roman" panose="02020603050405020304" pitchFamily="18" charset="0"/>
                <a:cs typeface="Times New Roman" panose="02020603050405020304" pitchFamily="18" charset="0"/>
              </a:rPr>
              <a:t>Define Excel and list some new features in Excel 2019.</a:t>
            </a:r>
          </a:p>
          <a:p>
            <a:pPr lvl="0"/>
            <a:r>
              <a:rPr lang="en-US" sz="3400" dirty="0">
                <a:latin typeface="Times New Roman" panose="02020603050405020304" pitchFamily="18" charset="0"/>
                <a:cs typeface="Times New Roman" panose="02020603050405020304" pitchFamily="18" charset="0"/>
              </a:rPr>
              <a:t>Define PowerPoint and list some new features in PowerPoint 2019.</a:t>
            </a:r>
          </a:p>
          <a:p>
            <a:pPr lvl="0"/>
            <a:r>
              <a:rPr lang="en-US" sz="3400" dirty="0">
                <a:latin typeface="Times New Roman" panose="02020603050405020304" pitchFamily="18" charset="0"/>
                <a:cs typeface="Times New Roman" panose="02020603050405020304" pitchFamily="18" charset="0"/>
              </a:rPr>
              <a:t>Define Outlook and list some new features in Outlook 2019.</a:t>
            </a:r>
          </a:p>
          <a:p>
            <a:pPr marL="0" indent="0">
              <a:buNone/>
            </a:pPr>
            <a:endParaRPr lang="en-US" sz="3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Tree>
    <p:extLst>
      <p:ext uri="{BB962C8B-B14F-4D97-AF65-F5344CB8AC3E}">
        <p14:creationId xmlns:p14="http://schemas.microsoft.com/office/powerpoint/2010/main" val="29152186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667" y="94501"/>
            <a:ext cx="10515600" cy="943413"/>
          </a:xfrm>
        </p:spPr>
        <p:txBody>
          <a:bodyPr>
            <a:normAutofit fontScale="90000"/>
          </a:bodyPr>
          <a:lstStyle/>
          <a:p>
            <a:pPr algn="ctr"/>
            <a:r>
              <a:rPr lang="en-US" b="1" dirty="0" smtClean="0">
                <a:latin typeface="Times New Roman" panose="02020603050405020304" pitchFamily="18" charset="0"/>
                <a:cs typeface="Times New Roman" panose="02020603050405020304" pitchFamily="18" charset="0"/>
              </a:rPr>
              <a:t>Excel Practical Exercise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1600" y="931333"/>
            <a:ext cx="12090400" cy="5425017"/>
          </a:xfrm>
        </p:spPr>
        <p:txBody>
          <a:bodyPr>
            <a:normAutofit/>
          </a:bodyPr>
          <a:lstStyle/>
          <a:p>
            <a:pPr marL="0" indent="0">
              <a:buNone/>
            </a:pPr>
            <a:r>
              <a:rPr lang="en-US" sz="3400" dirty="0" smtClean="0">
                <a:latin typeface="Times New Roman" panose="02020603050405020304" pitchFamily="18" charset="0"/>
                <a:cs typeface="Times New Roman" panose="02020603050405020304" pitchFamily="18" charset="0"/>
              </a:rPr>
              <a:t>Do Practical Exercises on the following functions</a:t>
            </a:r>
          </a:p>
          <a:p>
            <a:pPr>
              <a:buFont typeface="Wingdings" panose="05000000000000000000" pitchFamily="2" charset="2"/>
              <a:buChar char="Ø"/>
            </a:pPr>
            <a:r>
              <a:rPr lang="en-US" sz="3400" dirty="0" smtClean="0">
                <a:latin typeface="Times New Roman" panose="02020603050405020304" pitchFamily="18" charset="0"/>
                <a:cs typeface="Times New Roman" panose="02020603050405020304" pitchFamily="18" charset="0"/>
              </a:rPr>
              <a:t>CONCAT </a:t>
            </a:r>
            <a:r>
              <a:rPr lang="en-US" i="1" dirty="0" smtClean="0">
                <a:latin typeface="Times New Roman" panose="02020603050405020304" pitchFamily="18" charset="0"/>
                <a:cs typeface="Times New Roman" panose="02020603050405020304" pitchFamily="18" charset="0"/>
              </a:rPr>
              <a:t>(refer to page 36)</a:t>
            </a:r>
          </a:p>
          <a:p>
            <a:pPr marL="0" indent="0">
              <a:buNone/>
            </a:pPr>
            <a:endParaRPr lang="en-US" sz="3400" dirty="0" smtClean="0">
              <a:latin typeface="Times New Roman" panose="02020603050405020304" pitchFamily="18" charset="0"/>
              <a:cs typeface="Times New Roman" panose="02020603050405020304" pitchFamily="18" charset="0"/>
            </a:endParaRPr>
          </a:p>
          <a:p>
            <a:pPr marL="0" indent="0">
              <a:buNone/>
            </a:pPr>
            <a:endParaRPr lang="en-US" sz="3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3400" dirty="0">
                <a:latin typeface="Times New Roman" panose="02020603050405020304" pitchFamily="18" charset="0"/>
                <a:cs typeface="Times New Roman" panose="02020603050405020304" pitchFamily="18" charset="0"/>
              </a:rPr>
              <a:t>IFS </a:t>
            </a:r>
            <a:r>
              <a:rPr lang="en-US" i="1" dirty="0">
                <a:latin typeface="Times New Roman" panose="02020603050405020304" pitchFamily="18" charset="0"/>
                <a:cs typeface="Times New Roman" panose="02020603050405020304" pitchFamily="18" charset="0"/>
              </a:rPr>
              <a:t>(refer to page </a:t>
            </a:r>
            <a:r>
              <a:rPr lang="en-US" i="1" dirty="0" smtClean="0">
                <a:latin typeface="Times New Roman" panose="02020603050405020304" pitchFamily="18" charset="0"/>
                <a:cs typeface="Times New Roman" panose="02020603050405020304" pitchFamily="18" charset="0"/>
              </a:rPr>
              <a:t>36-37)</a:t>
            </a:r>
            <a:endParaRPr lang="en-US" i="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3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3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3400" dirty="0" smtClean="0">
              <a:latin typeface="Times New Roman" panose="02020603050405020304" pitchFamily="18" charset="0"/>
              <a:cs typeface="Times New Roman" panose="02020603050405020304" pitchFamily="18" charset="0"/>
            </a:endParaRPr>
          </a:p>
          <a:p>
            <a:pPr marL="0" indent="0">
              <a:buNone/>
            </a:pPr>
            <a:endParaRPr lang="en-US" sz="3400" dirty="0" smtClean="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pic>
        <p:nvPicPr>
          <p:cNvPr id="5" name="Picture 4"/>
          <p:cNvPicPr>
            <a:picLocks noChangeAspect="1"/>
          </p:cNvPicPr>
          <p:nvPr/>
        </p:nvPicPr>
        <p:blipFill>
          <a:blip r:embed="rId3"/>
          <a:stretch>
            <a:fillRect/>
          </a:stretch>
        </p:blipFill>
        <p:spPr>
          <a:xfrm>
            <a:off x="249237" y="2122488"/>
            <a:ext cx="5296430" cy="1255712"/>
          </a:xfrm>
          <a:prstGeom prst="rect">
            <a:avLst/>
          </a:prstGeom>
          <a:ln w="3175">
            <a:solidFill>
              <a:schemeClr val="tx1"/>
            </a:solidFill>
          </a:ln>
        </p:spPr>
      </p:pic>
      <p:pic>
        <p:nvPicPr>
          <p:cNvPr id="6" name="Picture 5"/>
          <p:cNvPicPr>
            <a:picLocks noChangeAspect="1"/>
          </p:cNvPicPr>
          <p:nvPr/>
        </p:nvPicPr>
        <p:blipFill>
          <a:blip r:embed="rId4"/>
          <a:stretch>
            <a:fillRect/>
          </a:stretch>
        </p:blipFill>
        <p:spPr>
          <a:xfrm>
            <a:off x="249237" y="3839195"/>
            <a:ext cx="6976533" cy="2882280"/>
          </a:xfrm>
          <a:prstGeom prst="rect">
            <a:avLst/>
          </a:prstGeom>
          <a:ln w="3175">
            <a:solidFill>
              <a:schemeClr val="tx1"/>
            </a:solidFill>
          </a:ln>
        </p:spPr>
      </p:pic>
    </p:spTree>
    <p:extLst>
      <p:ext uri="{BB962C8B-B14F-4D97-AF65-F5344CB8AC3E}">
        <p14:creationId xmlns:p14="http://schemas.microsoft.com/office/powerpoint/2010/main" val="363006899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200" y="284956"/>
            <a:ext cx="10515600" cy="4351338"/>
          </a:xfrm>
        </p:spPr>
        <p:txBody>
          <a:bodyPr/>
          <a:lstStyle/>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MAXIFS </a:t>
            </a:r>
            <a:r>
              <a:rPr lang="en-US" sz="2400" i="1" dirty="0" smtClean="0">
                <a:latin typeface="Times New Roman" panose="02020603050405020304" pitchFamily="18" charset="0"/>
                <a:cs typeface="Times New Roman" panose="02020603050405020304" pitchFamily="18" charset="0"/>
              </a:rPr>
              <a:t>(refer to page 37-38)</a:t>
            </a:r>
          </a:p>
          <a:p>
            <a:pPr marL="0" indent="0">
              <a:buNone/>
            </a:pP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MINIFS </a:t>
            </a:r>
            <a:r>
              <a:rPr lang="en-US" i="1" dirty="0">
                <a:latin typeface="Times New Roman" panose="02020603050405020304" pitchFamily="18" charset="0"/>
                <a:cs typeface="Times New Roman" panose="02020603050405020304" pitchFamily="18" charset="0"/>
              </a:rPr>
              <a:t>(refer to page 37-38)</a:t>
            </a:r>
          </a:p>
          <a:p>
            <a:pPr>
              <a:buFont typeface="Wingdings" panose="05000000000000000000" pitchFamily="2" charset="2"/>
              <a:buChar char="Ø"/>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pic>
        <p:nvPicPr>
          <p:cNvPr id="5" name="Picture 4"/>
          <p:cNvPicPr>
            <a:picLocks noChangeAspect="1"/>
          </p:cNvPicPr>
          <p:nvPr/>
        </p:nvPicPr>
        <p:blipFill>
          <a:blip r:embed="rId2"/>
          <a:stretch>
            <a:fillRect/>
          </a:stretch>
        </p:blipFill>
        <p:spPr>
          <a:xfrm>
            <a:off x="275164" y="729721"/>
            <a:ext cx="4322235" cy="2606146"/>
          </a:xfrm>
          <a:prstGeom prst="rect">
            <a:avLst/>
          </a:prstGeom>
        </p:spPr>
      </p:pic>
      <p:pic>
        <p:nvPicPr>
          <p:cNvPr id="6" name="Picture 5"/>
          <p:cNvPicPr>
            <a:picLocks noChangeAspect="1"/>
          </p:cNvPicPr>
          <p:nvPr/>
        </p:nvPicPr>
        <p:blipFill>
          <a:blip r:embed="rId3"/>
          <a:stretch>
            <a:fillRect/>
          </a:stretch>
        </p:blipFill>
        <p:spPr>
          <a:xfrm>
            <a:off x="4773083" y="767821"/>
            <a:ext cx="4333875" cy="2568046"/>
          </a:xfrm>
          <a:prstGeom prst="rect">
            <a:avLst/>
          </a:prstGeom>
        </p:spPr>
      </p:pic>
      <p:pic>
        <p:nvPicPr>
          <p:cNvPr id="7" name="Picture 6"/>
          <p:cNvPicPr>
            <a:picLocks noChangeAspect="1"/>
          </p:cNvPicPr>
          <p:nvPr/>
        </p:nvPicPr>
        <p:blipFill>
          <a:blip r:embed="rId4"/>
          <a:stretch>
            <a:fillRect/>
          </a:stretch>
        </p:blipFill>
        <p:spPr>
          <a:xfrm>
            <a:off x="275164" y="3909443"/>
            <a:ext cx="4322235" cy="2652223"/>
          </a:xfrm>
          <a:prstGeom prst="rect">
            <a:avLst/>
          </a:prstGeom>
        </p:spPr>
      </p:pic>
      <p:pic>
        <p:nvPicPr>
          <p:cNvPr id="8" name="Picture 7"/>
          <p:cNvPicPr>
            <a:picLocks noChangeAspect="1"/>
          </p:cNvPicPr>
          <p:nvPr/>
        </p:nvPicPr>
        <p:blipFill>
          <a:blip r:embed="rId5"/>
          <a:stretch>
            <a:fillRect/>
          </a:stretch>
        </p:blipFill>
        <p:spPr>
          <a:xfrm>
            <a:off x="4849282" y="3909443"/>
            <a:ext cx="4181475" cy="2736890"/>
          </a:xfrm>
          <a:prstGeom prst="rect">
            <a:avLst/>
          </a:prstGeom>
        </p:spPr>
      </p:pic>
    </p:spTree>
    <p:extLst>
      <p:ext uri="{BB962C8B-B14F-4D97-AF65-F5344CB8AC3E}">
        <p14:creationId xmlns:p14="http://schemas.microsoft.com/office/powerpoint/2010/main" val="36776642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77800" y="1690688"/>
            <a:ext cx="10515600" cy="4351338"/>
          </a:xfrm>
        </p:spPr>
        <p:txBody>
          <a:bodyPr>
            <a:normAutofit/>
          </a:bodyPr>
          <a:lstStyle/>
          <a:p>
            <a:pPr marL="0" indent="0">
              <a:buNone/>
            </a:pPr>
            <a:r>
              <a:rPr lang="en-US" sz="6000" dirty="0" smtClean="0">
                <a:latin typeface="French Script MT" panose="03020402040607040605" pitchFamily="66" charset="0"/>
              </a:rPr>
              <a:t>      </a:t>
            </a:r>
          </a:p>
          <a:p>
            <a:pPr marL="0" indent="0">
              <a:buNone/>
            </a:pPr>
            <a:endParaRPr lang="en-US" sz="6000" dirty="0">
              <a:latin typeface="French Script MT" panose="03020402040607040605" pitchFamily="66" charset="0"/>
            </a:endParaRPr>
          </a:p>
          <a:p>
            <a:pPr marL="0" indent="0">
              <a:buNone/>
            </a:pPr>
            <a:r>
              <a:rPr lang="en-US" sz="8000" dirty="0" smtClean="0">
                <a:latin typeface="French Script MT" panose="03020402040607040605" pitchFamily="66" charset="0"/>
              </a:rPr>
              <a:t>                 Thank you !!</a:t>
            </a:r>
            <a:endParaRPr lang="en-US" sz="8000" dirty="0">
              <a:latin typeface="French Script MT" panose="03020402040607040605" pitchFamily="66" charset="0"/>
            </a:endParaRPr>
          </a:p>
        </p:txBody>
      </p:sp>
      <p:sp>
        <p:nvSpPr>
          <p:cNvPr id="4" name="Footer Placeholder 3"/>
          <p:cNvSpPr>
            <a:spLocks noGrp="1"/>
          </p:cNvSpPr>
          <p:nvPr>
            <p:ph type="ftr" sz="quarter" idx="11"/>
          </p:nvPr>
        </p:nvSpPr>
        <p:spPr>
          <a:xfrm>
            <a:off x="-1101812" y="6587010"/>
            <a:ext cx="4114800" cy="365125"/>
          </a:xfrm>
        </p:spPr>
        <p:txBody>
          <a:bodyPr/>
          <a:lstStyle/>
          <a:p>
            <a:r>
              <a:rPr lang="en-US" sz="600" smtClean="0">
                <a:latin typeface="Comic Sans MS" panose="030F0702030302020204" pitchFamily="66" charset="0"/>
              </a:rPr>
              <a:t>Prepared: by:  MS Odilia Tita</a:t>
            </a:r>
            <a:endParaRPr lang="en-AU" sz="600" dirty="0">
              <a:latin typeface="Comic Sans MS" panose="030F0702030302020204" pitchFamily="66" charset="0"/>
            </a:endParaRPr>
          </a:p>
        </p:txBody>
      </p:sp>
    </p:spTree>
    <p:extLst>
      <p:ext uri="{BB962C8B-B14F-4D97-AF65-F5344CB8AC3E}">
        <p14:creationId xmlns:p14="http://schemas.microsoft.com/office/powerpoint/2010/main" val="3110934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MyDefaultTheme_O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yDefaultTheme_OT" id="{A1DEA3AA-A025-45F4-9648-B44B7A75B5E1}" vid="{A0818E3B-E25B-4294-BE3F-438B523D40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MyDefaultTheme_OT</Template>
  <TotalTime>2181</TotalTime>
  <Words>2990</Words>
  <Application>Microsoft Office PowerPoint</Application>
  <PresentationFormat>Widescreen</PresentationFormat>
  <Paragraphs>269</Paragraphs>
  <Slides>32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Calibri</vt:lpstr>
      <vt:lpstr>Calibri Light</vt:lpstr>
      <vt:lpstr>Comic Sans MS</vt:lpstr>
      <vt:lpstr>French Script MT</vt:lpstr>
      <vt:lpstr>Times New Roman</vt:lpstr>
      <vt:lpstr>Wingdings</vt:lpstr>
      <vt:lpstr>MyDefaultTheme_OT</vt:lpstr>
      <vt:lpstr>Introduction to Microsoft and Microsoft 365</vt:lpstr>
      <vt:lpstr>LEARNING OUTCOMES</vt:lpstr>
      <vt:lpstr>INTRODUCTION</vt:lpstr>
      <vt:lpstr>Microsoft 365</vt:lpstr>
      <vt:lpstr>Word</vt:lpstr>
      <vt:lpstr>Some new features in Word 2019</vt:lpstr>
      <vt:lpstr>Exploring Microsoft Word</vt:lpstr>
      <vt:lpstr>PowerPoint Presentation</vt:lpstr>
      <vt:lpstr>Excel</vt:lpstr>
      <vt:lpstr>PowerPoint Presentation</vt:lpstr>
      <vt:lpstr>CONCAT FUNCTION</vt:lpstr>
      <vt:lpstr>IFS FUNCTION</vt:lpstr>
      <vt:lpstr>PowerPoint Presentation</vt:lpstr>
      <vt:lpstr>MAXIFS FUNCTION</vt:lpstr>
      <vt:lpstr>MINIFS FUNCTION</vt:lpstr>
      <vt:lpstr>PowerPoint Presentation</vt:lpstr>
      <vt:lpstr>PowerPoint Presentation</vt:lpstr>
      <vt:lpstr>PowerPoint Presentation</vt:lpstr>
      <vt:lpstr>PowerPoint Presentation</vt:lpstr>
      <vt:lpstr>PowerPoint</vt:lpstr>
      <vt:lpstr>PowerPoint Presentation</vt:lpstr>
      <vt:lpstr>PowerPoint Presentation</vt:lpstr>
      <vt:lpstr>PowerPoint Presentation</vt:lpstr>
      <vt:lpstr>Outlook</vt:lpstr>
      <vt:lpstr>PowerPoint Presentation</vt:lpstr>
      <vt:lpstr>PowerPoint Presentation</vt:lpstr>
      <vt:lpstr>Summary </vt:lpstr>
      <vt:lpstr>PowerPoint Presentation</vt:lpstr>
      <vt:lpstr>Review Activities: </vt:lpstr>
      <vt:lpstr>Excel Practical Exercise </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EXPLORE MICROSOFT WORD 2013</dc:title>
  <dc:creator>varvaralucy@gmail.com</dc:creator>
  <cp:lastModifiedBy>Odilia Tita</cp:lastModifiedBy>
  <cp:revision>306</cp:revision>
  <dcterms:created xsi:type="dcterms:W3CDTF">2025-02-22T07:55:09Z</dcterms:created>
  <dcterms:modified xsi:type="dcterms:W3CDTF">2026-02-11T00:18:20Z</dcterms:modified>
</cp:coreProperties>
</file>
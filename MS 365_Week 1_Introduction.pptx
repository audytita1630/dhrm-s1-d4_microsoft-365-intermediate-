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6"/>
  </p:notesMasterIdLst>
  <p:sldIdLst>
    <p:sldId id="315" r:id="rId2"/>
    <p:sldId id="316" r:id="rId3"/>
    <p:sldId id="317" r:id="rId4"/>
    <p:sldId id="318" r:id="rId5"/>
    <p:sldId id="319" r:id="rId6"/>
    <p:sldId id="320" r:id="rId7"/>
    <p:sldId id="321" r:id="rId8"/>
    <p:sldId id="322" r:id="rId9"/>
    <p:sldId id="323" r:id="rId10"/>
    <p:sldId id="324" r:id="rId11"/>
    <p:sldId id="325" r:id="rId12"/>
    <p:sldId id="326" r:id="rId13"/>
    <p:sldId id="327" r:id="rId14"/>
    <p:sldId id="256" r:id="rId15"/>
    <p:sldId id="257" r:id="rId16"/>
    <p:sldId id="260" r:id="rId17"/>
    <p:sldId id="286" r:id="rId18"/>
    <p:sldId id="288" r:id="rId19"/>
    <p:sldId id="287" r:id="rId20"/>
    <p:sldId id="289" r:id="rId21"/>
    <p:sldId id="290" r:id="rId22"/>
    <p:sldId id="291" r:id="rId23"/>
    <p:sldId id="292" r:id="rId24"/>
    <p:sldId id="293" r:id="rId25"/>
    <p:sldId id="294" r:id="rId26"/>
    <p:sldId id="295" r:id="rId27"/>
    <p:sldId id="296" r:id="rId28"/>
    <p:sldId id="297" r:id="rId29"/>
    <p:sldId id="298" r:id="rId30"/>
    <p:sldId id="299" r:id="rId31"/>
    <p:sldId id="300" r:id="rId32"/>
    <p:sldId id="301" r:id="rId33"/>
    <p:sldId id="303" r:id="rId34"/>
    <p:sldId id="304" r:id="rId35"/>
    <p:sldId id="305" r:id="rId36"/>
    <p:sldId id="306" r:id="rId37"/>
    <p:sldId id="309" r:id="rId38"/>
    <p:sldId id="307" r:id="rId39"/>
    <p:sldId id="308" r:id="rId40"/>
    <p:sldId id="311" r:id="rId41"/>
    <p:sldId id="314" r:id="rId42"/>
    <p:sldId id="313" r:id="rId43"/>
    <p:sldId id="312" r:id="rId44"/>
    <p:sldId id="285"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p:cViewPr varScale="1">
        <p:scale>
          <a:sx n="43" d="100"/>
          <a:sy n="43" d="100"/>
        </p:scale>
        <p:origin x="72" y="15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C435A0-05A6-4E3D-A695-69D15BC0F411}" type="datetimeFigureOut">
              <a:rPr lang="en-US" smtClean="0"/>
              <a:t>2/11/2026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DD7D4A-EB5D-4399-81B0-DAC8D15ECA56}" type="slidenum">
              <a:rPr lang="en-US" smtClean="0"/>
              <a:t>‹#›</a:t>
            </a:fld>
            <a:endParaRPr lang="en-US"/>
          </a:p>
        </p:txBody>
      </p:sp>
    </p:spTree>
    <p:extLst>
      <p:ext uri="{BB962C8B-B14F-4D97-AF65-F5344CB8AC3E}">
        <p14:creationId xmlns:p14="http://schemas.microsoft.com/office/powerpoint/2010/main" val="1596301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DD7D4A-EB5D-4399-81B0-DAC8D15ECA56}" type="slidenum">
              <a:rPr lang="en-US" smtClean="0"/>
              <a:t>16</a:t>
            </a:fld>
            <a:endParaRPr lang="en-US"/>
          </a:p>
        </p:txBody>
      </p:sp>
    </p:spTree>
    <p:extLst>
      <p:ext uri="{BB962C8B-B14F-4D97-AF65-F5344CB8AC3E}">
        <p14:creationId xmlns:p14="http://schemas.microsoft.com/office/powerpoint/2010/main" val="2613348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DD7D4A-EB5D-4399-81B0-DAC8D15ECA56}" type="slidenum">
              <a:rPr lang="en-US" smtClean="0"/>
              <a:t>43</a:t>
            </a:fld>
            <a:endParaRPr lang="en-US"/>
          </a:p>
        </p:txBody>
      </p:sp>
    </p:spTree>
    <p:extLst>
      <p:ext uri="{BB962C8B-B14F-4D97-AF65-F5344CB8AC3E}">
        <p14:creationId xmlns:p14="http://schemas.microsoft.com/office/powerpoint/2010/main" val="486331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5E4670-AD95-46B7-9A52-596AE1E331A2}"/>
              </a:ext>
            </a:extLst>
          </p:cNvPr>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a:extLst>
              <a:ext uri="{FF2B5EF4-FFF2-40B4-BE49-F238E27FC236}">
                <a16:creationId xmlns="" xmlns:a16="http://schemas.microsoft.com/office/drawing/2014/main" id="{D2B17232-6D27-4880-BB26-A246053722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a:extLst>
              <a:ext uri="{FF2B5EF4-FFF2-40B4-BE49-F238E27FC236}">
                <a16:creationId xmlns="" xmlns:a16="http://schemas.microsoft.com/office/drawing/2014/main" id="{3330B3D7-6C5F-4C20-B82C-0E0E8A9718ED}"/>
              </a:ext>
            </a:extLst>
          </p:cNvPr>
          <p:cNvSpPr>
            <a:spLocks noGrp="1"/>
          </p:cNvSpPr>
          <p:nvPr>
            <p:ph type="dt" sz="half" idx="10"/>
          </p:nvPr>
        </p:nvSpPr>
        <p:spPr/>
        <p:txBody>
          <a:bodyPr/>
          <a:lstStyle/>
          <a:p>
            <a:fld id="{7837D738-231B-4137-AFBB-E208830310AD}" type="datetime1">
              <a:rPr lang="en-AU" smtClean="0"/>
              <a:t>11/02/2026</a:t>
            </a:fld>
            <a:endParaRPr lang="en-AU" dirty="0"/>
          </a:p>
        </p:txBody>
      </p:sp>
      <p:sp>
        <p:nvSpPr>
          <p:cNvPr id="5" name="Footer Placeholder 4">
            <a:extLst>
              <a:ext uri="{FF2B5EF4-FFF2-40B4-BE49-F238E27FC236}">
                <a16:creationId xmlns="" xmlns:a16="http://schemas.microsoft.com/office/drawing/2014/main" id="{A4F30039-619F-4A9B-A120-B763218CD7B7}"/>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 xmlns:a16="http://schemas.microsoft.com/office/drawing/2014/main" id="{C111A03D-DB6F-4B4F-BF5C-065580485CA1}"/>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955438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E382C6-B5C9-487E-B837-D93B0F6EB575}"/>
              </a:ext>
            </a:extLst>
          </p:cNvPr>
          <p:cNvSpPr>
            <a:spLocks noGrp="1"/>
          </p:cNvSpPr>
          <p:nvPr>
            <p:ph type="title"/>
          </p:nvPr>
        </p:nvSpPr>
        <p:spPr/>
        <p:txBody>
          <a:bodyPr/>
          <a:lstStyle/>
          <a:p>
            <a:r>
              <a:rPr lang="en-US" smtClean="0"/>
              <a:t>Click to edit Master title style</a:t>
            </a:r>
            <a:endParaRPr lang="en-AU"/>
          </a:p>
        </p:txBody>
      </p:sp>
      <p:sp>
        <p:nvSpPr>
          <p:cNvPr id="3" name="Content Placeholder 2">
            <a:extLst>
              <a:ext uri="{FF2B5EF4-FFF2-40B4-BE49-F238E27FC236}">
                <a16:creationId xmlns="" xmlns:a16="http://schemas.microsoft.com/office/drawing/2014/main" id="{C20132B7-B07F-4951-B5F0-42EBA8BA9FCE}"/>
              </a:ext>
            </a:extLst>
          </p:cNvPr>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a:extLst>
              <a:ext uri="{FF2B5EF4-FFF2-40B4-BE49-F238E27FC236}">
                <a16:creationId xmlns="" xmlns:a16="http://schemas.microsoft.com/office/drawing/2014/main" id="{6E28A284-B674-4D73-89A1-51C986E3E124}"/>
              </a:ext>
            </a:extLst>
          </p:cNvPr>
          <p:cNvSpPr>
            <a:spLocks noGrp="1"/>
          </p:cNvSpPr>
          <p:nvPr>
            <p:ph type="dt" sz="half" idx="10"/>
          </p:nvPr>
        </p:nvSpPr>
        <p:spPr/>
        <p:txBody>
          <a:bodyPr/>
          <a:lstStyle/>
          <a:p>
            <a:fld id="{A15E7899-C063-4FFB-98FA-5C6CDDB84651}" type="datetime1">
              <a:rPr lang="en-AU" smtClean="0"/>
              <a:t>11/02/2026</a:t>
            </a:fld>
            <a:endParaRPr lang="en-AU" dirty="0"/>
          </a:p>
        </p:txBody>
      </p:sp>
      <p:sp>
        <p:nvSpPr>
          <p:cNvPr id="5" name="Footer Placeholder 4">
            <a:extLst>
              <a:ext uri="{FF2B5EF4-FFF2-40B4-BE49-F238E27FC236}">
                <a16:creationId xmlns="" xmlns:a16="http://schemas.microsoft.com/office/drawing/2014/main" id="{744BE9FB-B69B-4606-A768-CF39C62CC529}"/>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 xmlns:a16="http://schemas.microsoft.com/office/drawing/2014/main" id="{99D61227-F6A6-490E-8D00-8D8E37BB697E}"/>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2788751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DAADB6A-FE4D-44EB-9C13-40FA216F8BBD}"/>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a:extLst>
              <a:ext uri="{FF2B5EF4-FFF2-40B4-BE49-F238E27FC236}">
                <a16:creationId xmlns="" xmlns:a16="http://schemas.microsoft.com/office/drawing/2014/main" id="{5E3C6F31-AE4A-4712-AD26-2D9DF670EC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a:extLst>
              <a:ext uri="{FF2B5EF4-FFF2-40B4-BE49-F238E27FC236}">
                <a16:creationId xmlns="" xmlns:a16="http://schemas.microsoft.com/office/drawing/2014/main" id="{446C299C-933F-4603-BFD4-2E56C373E40E}"/>
              </a:ext>
            </a:extLst>
          </p:cNvPr>
          <p:cNvSpPr>
            <a:spLocks noGrp="1"/>
          </p:cNvSpPr>
          <p:nvPr>
            <p:ph type="dt" sz="half" idx="10"/>
          </p:nvPr>
        </p:nvSpPr>
        <p:spPr/>
        <p:txBody>
          <a:bodyPr/>
          <a:lstStyle/>
          <a:p>
            <a:fld id="{1E776595-8423-4E3F-8D9F-E972C5096BEF}" type="datetime1">
              <a:rPr lang="en-AU" smtClean="0"/>
              <a:t>11/02/2026</a:t>
            </a:fld>
            <a:endParaRPr lang="en-AU" dirty="0"/>
          </a:p>
        </p:txBody>
      </p:sp>
      <p:sp>
        <p:nvSpPr>
          <p:cNvPr id="5" name="Footer Placeholder 4">
            <a:extLst>
              <a:ext uri="{FF2B5EF4-FFF2-40B4-BE49-F238E27FC236}">
                <a16:creationId xmlns="" xmlns:a16="http://schemas.microsoft.com/office/drawing/2014/main" id="{AECE724F-8A4E-499C-8DE2-B2AA4E93F370}"/>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 xmlns:a16="http://schemas.microsoft.com/office/drawing/2014/main" id="{77AAFE4A-F239-41B1-BB8F-7D15CC0469E8}"/>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900961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CC352C-A92F-459E-8295-42C9F909458A}"/>
              </a:ext>
            </a:extLst>
          </p:cNvPr>
          <p:cNvSpPr>
            <a:spLocks noGrp="1"/>
          </p:cNvSpPr>
          <p:nvPr>
            <p:ph type="title"/>
          </p:nvPr>
        </p:nvSpPr>
        <p:spPr/>
        <p:txBody>
          <a:bodyPr/>
          <a:lstStyle/>
          <a:p>
            <a:r>
              <a:rPr lang="en-US" smtClean="0"/>
              <a:t>Click to edit Master title style</a:t>
            </a:r>
            <a:endParaRPr lang="en-AU"/>
          </a:p>
        </p:txBody>
      </p:sp>
      <p:sp>
        <p:nvSpPr>
          <p:cNvPr id="3" name="Content Placeholder 2">
            <a:extLst>
              <a:ext uri="{FF2B5EF4-FFF2-40B4-BE49-F238E27FC236}">
                <a16:creationId xmlns="" xmlns:a16="http://schemas.microsoft.com/office/drawing/2014/main" id="{104CAD08-C80E-4DC4-8BF1-484EFCB95492}"/>
              </a:ext>
            </a:extLst>
          </p:cNvPr>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a:extLst>
              <a:ext uri="{FF2B5EF4-FFF2-40B4-BE49-F238E27FC236}">
                <a16:creationId xmlns="" xmlns:a16="http://schemas.microsoft.com/office/drawing/2014/main" id="{BABE14A2-7777-43C2-866C-C59E7D78E3A8}"/>
              </a:ext>
            </a:extLst>
          </p:cNvPr>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a:extLst>
              <a:ext uri="{FF2B5EF4-FFF2-40B4-BE49-F238E27FC236}">
                <a16:creationId xmlns="" xmlns:a16="http://schemas.microsoft.com/office/drawing/2014/main" id="{225B84CF-92BA-4600-BB97-0E67F8C4B28F}"/>
              </a:ext>
            </a:extLst>
          </p:cNvPr>
          <p:cNvSpPr>
            <a:spLocks noGrp="1"/>
          </p:cNvSpPr>
          <p:nvPr>
            <p:ph type="dt" sz="half" idx="10"/>
          </p:nvPr>
        </p:nvSpPr>
        <p:spPr/>
        <p:txBody>
          <a:bodyPr/>
          <a:lstStyle/>
          <a:p>
            <a:fld id="{453646E8-EA7F-49D7-A1AE-52344025FD1D}" type="datetime1">
              <a:rPr lang="en-AU" smtClean="0"/>
              <a:t>11/02/2026</a:t>
            </a:fld>
            <a:endParaRPr lang="en-AU" dirty="0"/>
          </a:p>
        </p:txBody>
      </p:sp>
      <p:sp>
        <p:nvSpPr>
          <p:cNvPr id="6" name="Footer Placeholder 5">
            <a:extLst>
              <a:ext uri="{FF2B5EF4-FFF2-40B4-BE49-F238E27FC236}">
                <a16:creationId xmlns="" xmlns:a16="http://schemas.microsoft.com/office/drawing/2014/main" id="{8206C079-8FD5-48B3-9592-FB66A327DE82}"/>
              </a:ext>
            </a:extLst>
          </p:cNvPr>
          <p:cNvSpPr>
            <a:spLocks noGrp="1"/>
          </p:cNvSpPr>
          <p:nvPr>
            <p:ph type="ftr" sz="quarter" idx="11"/>
          </p:nvPr>
        </p:nvSpPr>
        <p:spPr/>
        <p:txBody>
          <a:bodyPr/>
          <a:lstStyle/>
          <a:p>
            <a:r>
              <a:rPr lang="en-US" smtClean="0"/>
              <a:t>Prepared: by:  MS Odilia Tita</a:t>
            </a:r>
            <a:endParaRPr lang="en-AU" dirty="0"/>
          </a:p>
        </p:txBody>
      </p:sp>
      <p:sp>
        <p:nvSpPr>
          <p:cNvPr id="7" name="Slide Number Placeholder 6">
            <a:extLst>
              <a:ext uri="{FF2B5EF4-FFF2-40B4-BE49-F238E27FC236}">
                <a16:creationId xmlns="" xmlns:a16="http://schemas.microsoft.com/office/drawing/2014/main" id="{6BA13483-38F4-419D-880C-5A48E831CE10}"/>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1397407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D6AE3D4-E4F8-41CB-9937-F58F39C021AC}"/>
              </a:ext>
            </a:extLst>
          </p:cNvPr>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a:extLst>
              <a:ext uri="{FF2B5EF4-FFF2-40B4-BE49-F238E27FC236}">
                <a16:creationId xmlns="" xmlns:a16="http://schemas.microsoft.com/office/drawing/2014/main" id="{62691A98-FFD5-459F-9A51-BCD0BA177B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a:extLst>
              <a:ext uri="{FF2B5EF4-FFF2-40B4-BE49-F238E27FC236}">
                <a16:creationId xmlns="" xmlns:a16="http://schemas.microsoft.com/office/drawing/2014/main" id="{8953A882-8991-4857-8D00-05762422191A}"/>
              </a:ext>
            </a:extLst>
          </p:cNvPr>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a:extLst>
              <a:ext uri="{FF2B5EF4-FFF2-40B4-BE49-F238E27FC236}">
                <a16:creationId xmlns="" xmlns:a16="http://schemas.microsoft.com/office/drawing/2014/main" id="{B81E7EAF-8E32-4FEB-B408-58B11868A5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a:extLst>
              <a:ext uri="{FF2B5EF4-FFF2-40B4-BE49-F238E27FC236}">
                <a16:creationId xmlns="" xmlns:a16="http://schemas.microsoft.com/office/drawing/2014/main" id="{86293D60-712D-43B4-8841-D8F0B7EDDB85}"/>
              </a:ext>
            </a:extLst>
          </p:cNvPr>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a:extLst>
              <a:ext uri="{FF2B5EF4-FFF2-40B4-BE49-F238E27FC236}">
                <a16:creationId xmlns="" xmlns:a16="http://schemas.microsoft.com/office/drawing/2014/main" id="{B33F8219-C996-47C5-B59F-D4A02ED5C07F}"/>
              </a:ext>
            </a:extLst>
          </p:cNvPr>
          <p:cNvSpPr>
            <a:spLocks noGrp="1"/>
          </p:cNvSpPr>
          <p:nvPr>
            <p:ph type="dt" sz="half" idx="10"/>
          </p:nvPr>
        </p:nvSpPr>
        <p:spPr/>
        <p:txBody>
          <a:bodyPr/>
          <a:lstStyle/>
          <a:p>
            <a:fld id="{249A4B24-AD6E-4B47-9872-8FFA29E2CC48}" type="datetime1">
              <a:rPr lang="en-AU" smtClean="0"/>
              <a:t>11/02/2026</a:t>
            </a:fld>
            <a:endParaRPr lang="en-AU" dirty="0"/>
          </a:p>
        </p:txBody>
      </p:sp>
      <p:sp>
        <p:nvSpPr>
          <p:cNvPr id="8" name="Footer Placeholder 7">
            <a:extLst>
              <a:ext uri="{FF2B5EF4-FFF2-40B4-BE49-F238E27FC236}">
                <a16:creationId xmlns="" xmlns:a16="http://schemas.microsoft.com/office/drawing/2014/main" id="{A919DD82-B2A3-4778-A953-650075C747FA}"/>
              </a:ext>
            </a:extLst>
          </p:cNvPr>
          <p:cNvSpPr>
            <a:spLocks noGrp="1"/>
          </p:cNvSpPr>
          <p:nvPr>
            <p:ph type="ftr" sz="quarter" idx="11"/>
          </p:nvPr>
        </p:nvSpPr>
        <p:spPr/>
        <p:txBody>
          <a:bodyPr/>
          <a:lstStyle/>
          <a:p>
            <a:r>
              <a:rPr lang="en-US" smtClean="0"/>
              <a:t>Prepared: by:  MS Odilia Tita</a:t>
            </a:r>
            <a:endParaRPr lang="en-AU" dirty="0"/>
          </a:p>
        </p:txBody>
      </p:sp>
      <p:sp>
        <p:nvSpPr>
          <p:cNvPr id="9" name="Slide Number Placeholder 8">
            <a:extLst>
              <a:ext uri="{FF2B5EF4-FFF2-40B4-BE49-F238E27FC236}">
                <a16:creationId xmlns="" xmlns:a16="http://schemas.microsoft.com/office/drawing/2014/main" id="{6BB01E8D-DA65-4F3E-9AA7-7FA8BA648324}"/>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303295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4E9AB93-0BFE-4F5E-8F94-194268897F5E}"/>
              </a:ext>
            </a:extLst>
          </p:cNvPr>
          <p:cNvSpPr>
            <a:spLocks noGrp="1"/>
          </p:cNvSpPr>
          <p:nvPr>
            <p:ph type="title"/>
          </p:nvPr>
        </p:nvSpPr>
        <p:spPr/>
        <p:txBody>
          <a:bodyPr/>
          <a:lstStyle/>
          <a:p>
            <a:r>
              <a:rPr lang="en-US" smtClean="0"/>
              <a:t>Click to edit Master title style</a:t>
            </a:r>
            <a:endParaRPr lang="en-AU"/>
          </a:p>
        </p:txBody>
      </p:sp>
      <p:sp>
        <p:nvSpPr>
          <p:cNvPr id="3" name="Date Placeholder 2">
            <a:extLst>
              <a:ext uri="{FF2B5EF4-FFF2-40B4-BE49-F238E27FC236}">
                <a16:creationId xmlns="" xmlns:a16="http://schemas.microsoft.com/office/drawing/2014/main" id="{E1EE3202-5147-45DC-B62C-6B22E34BFE2F}"/>
              </a:ext>
            </a:extLst>
          </p:cNvPr>
          <p:cNvSpPr>
            <a:spLocks noGrp="1"/>
          </p:cNvSpPr>
          <p:nvPr>
            <p:ph type="dt" sz="half" idx="10"/>
          </p:nvPr>
        </p:nvSpPr>
        <p:spPr/>
        <p:txBody>
          <a:bodyPr/>
          <a:lstStyle/>
          <a:p>
            <a:fld id="{C9CC42E4-77CA-4AD5-8EAD-A489F03C536B}" type="datetime1">
              <a:rPr lang="en-AU" smtClean="0"/>
              <a:t>11/02/2026</a:t>
            </a:fld>
            <a:endParaRPr lang="en-AU" dirty="0"/>
          </a:p>
        </p:txBody>
      </p:sp>
      <p:sp>
        <p:nvSpPr>
          <p:cNvPr id="4" name="Footer Placeholder 3">
            <a:extLst>
              <a:ext uri="{FF2B5EF4-FFF2-40B4-BE49-F238E27FC236}">
                <a16:creationId xmlns="" xmlns:a16="http://schemas.microsoft.com/office/drawing/2014/main" id="{5BAD23C6-6E37-4B73-B974-65238C9D3DF7}"/>
              </a:ext>
            </a:extLst>
          </p:cNvPr>
          <p:cNvSpPr>
            <a:spLocks noGrp="1"/>
          </p:cNvSpPr>
          <p:nvPr>
            <p:ph type="ftr" sz="quarter" idx="11"/>
          </p:nvPr>
        </p:nvSpPr>
        <p:spPr/>
        <p:txBody>
          <a:bodyPr/>
          <a:lstStyle/>
          <a:p>
            <a:r>
              <a:rPr lang="en-US" smtClean="0"/>
              <a:t>Prepared: by:  MS Odilia Tita</a:t>
            </a:r>
            <a:endParaRPr lang="en-AU" dirty="0"/>
          </a:p>
        </p:txBody>
      </p:sp>
      <p:sp>
        <p:nvSpPr>
          <p:cNvPr id="5" name="Slide Number Placeholder 4">
            <a:extLst>
              <a:ext uri="{FF2B5EF4-FFF2-40B4-BE49-F238E27FC236}">
                <a16:creationId xmlns="" xmlns:a16="http://schemas.microsoft.com/office/drawing/2014/main" id="{41C7D3D2-131C-4C01-A00D-199AD57938EC}"/>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204871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D609F64D-F916-4AD2-AA97-8526D6E8F6D1}"/>
              </a:ext>
            </a:extLst>
          </p:cNvPr>
          <p:cNvSpPr>
            <a:spLocks noGrp="1"/>
          </p:cNvSpPr>
          <p:nvPr>
            <p:ph type="dt" sz="half" idx="10"/>
          </p:nvPr>
        </p:nvSpPr>
        <p:spPr/>
        <p:txBody>
          <a:bodyPr/>
          <a:lstStyle/>
          <a:p>
            <a:fld id="{4604D1E3-56ED-46EF-AF58-E40027A4BE66}" type="datetime1">
              <a:rPr lang="en-AU" smtClean="0"/>
              <a:t>11/02/2026</a:t>
            </a:fld>
            <a:endParaRPr lang="en-AU" dirty="0"/>
          </a:p>
        </p:txBody>
      </p:sp>
      <p:sp>
        <p:nvSpPr>
          <p:cNvPr id="3" name="Footer Placeholder 2">
            <a:extLst>
              <a:ext uri="{FF2B5EF4-FFF2-40B4-BE49-F238E27FC236}">
                <a16:creationId xmlns="" xmlns:a16="http://schemas.microsoft.com/office/drawing/2014/main" id="{EA3A7BA7-B751-40E4-A753-41AFC914B576}"/>
              </a:ext>
            </a:extLst>
          </p:cNvPr>
          <p:cNvSpPr>
            <a:spLocks noGrp="1"/>
          </p:cNvSpPr>
          <p:nvPr>
            <p:ph type="ftr" sz="quarter" idx="11"/>
          </p:nvPr>
        </p:nvSpPr>
        <p:spPr/>
        <p:txBody>
          <a:bodyPr/>
          <a:lstStyle/>
          <a:p>
            <a:r>
              <a:rPr lang="en-US" smtClean="0"/>
              <a:t>Prepared: by:  MS Odilia Tita</a:t>
            </a:r>
            <a:endParaRPr lang="en-AU" dirty="0"/>
          </a:p>
        </p:txBody>
      </p:sp>
      <p:sp>
        <p:nvSpPr>
          <p:cNvPr id="4" name="Slide Number Placeholder 3">
            <a:extLst>
              <a:ext uri="{FF2B5EF4-FFF2-40B4-BE49-F238E27FC236}">
                <a16:creationId xmlns="" xmlns:a16="http://schemas.microsoft.com/office/drawing/2014/main" id="{3350BE4C-6B89-4E18-82BA-EACF7C147E54}"/>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1939572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9912755-7036-4DA8-B325-FF8B9D708C93}"/>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a:extLst>
              <a:ext uri="{FF2B5EF4-FFF2-40B4-BE49-F238E27FC236}">
                <a16:creationId xmlns="" xmlns:a16="http://schemas.microsoft.com/office/drawing/2014/main" id="{0D6FDA57-29DF-4353-8B29-E6BF3925CB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a:extLst>
              <a:ext uri="{FF2B5EF4-FFF2-40B4-BE49-F238E27FC236}">
                <a16:creationId xmlns="" xmlns:a16="http://schemas.microsoft.com/office/drawing/2014/main" id="{6F711719-3649-4BC7-9563-ED86A4811F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a:extLst>
              <a:ext uri="{FF2B5EF4-FFF2-40B4-BE49-F238E27FC236}">
                <a16:creationId xmlns="" xmlns:a16="http://schemas.microsoft.com/office/drawing/2014/main" id="{913CABE3-7792-4B8E-B452-C70D54148074}"/>
              </a:ext>
            </a:extLst>
          </p:cNvPr>
          <p:cNvSpPr>
            <a:spLocks noGrp="1"/>
          </p:cNvSpPr>
          <p:nvPr>
            <p:ph type="dt" sz="half" idx="10"/>
          </p:nvPr>
        </p:nvSpPr>
        <p:spPr/>
        <p:txBody>
          <a:bodyPr/>
          <a:lstStyle/>
          <a:p>
            <a:fld id="{E605D6C3-87DC-46E2-8A6A-C4E9B5BE6A35}" type="datetime1">
              <a:rPr lang="en-AU" smtClean="0"/>
              <a:t>11/02/2026</a:t>
            </a:fld>
            <a:endParaRPr lang="en-AU" dirty="0"/>
          </a:p>
        </p:txBody>
      </p:sp>
      <p:sp>
        <p:nvSpPr>
          <p:cNvPr id="6" name="Footer Placeholder 5">
            <a:extLst>
              <a:ext uri="{FF2B5EF4-FFF2-40B4-BE49-F238E27FC236}">
                <a16:creationId xmlns="" xmlns:a16="http://schemas.microsoft.com/office/drawing/2014/main" id="{8B07BDFD-2D70-41A3-A103-74A4B4581EC2}"/>
              </a:ext>
            </a:extLst>
          </p:cNvPr>
          <p:cNvSpPr>
            <a:spLocks noGrp="1"/>
          </p:cNvSpPr>
          <p:nvPr>
            <p:ph type="ftr" sz="quarter" idx="11"/>
          </p:nvPr>
        </p:nvSpPr>
        <p:spPr/>
        <p:txBody>
          <a:bodyPr/>
          <a:lstStyle/>
          <a:p>
            <a:r>
              <a:rPr lang="en-US" smtClean="0"/>
              <a:t>Prepared: by:  MS Odilia Tita</a:t>
            </a:r>
            <a:endParaRPr lang="en-AU" dirty="0"/>
          </a:p>
        </p:txBody>
      </p:sp>
      <p:sp>
        <p:nvSpPr>
          <p:cNvPr id="7" name="Slide Number Placeholder 6">
            <a:extLst>
              <a:ext uri="{FF2B5EF4-FFF2-40B4-BE49-F238E27FC236}">
                <a16:creationId xmlns="" xmlns:a16="http://schemas.microsoft.com/office/drawing/2014/main" id="{0A2F4A47-C532-4754-B1C9-E7BC4718F1E8}"/>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1849634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CC7900A-4D67-470B-9904-9CE42350F052}"/>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a:extLst>
              <a:ext uri="{FF2B5EF4-FFF2-40B4-BE49-F238E27FC236}">
                <a16:creationId xmlns="" xmlns:a16="http://schemas.microsoft.com/office/drawing/2014/main" id="{0D818930-0BE7-4C91-A666-438B65F29D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AU" dirty="0"/>
          </a:p>
        </p:txBody>
      </p:sp>
      <p:sp>
        <p:nvSpPr>
          <p:cNvPr id="4" name="Text Placeholder 3">
            <a:extLst>
              <a:ext uri="{FF2B5EF4-FFF2-40B4-BE49-F238E27FC236}">
                <a16:creationId xmlns="" xmlns:a16="http://schemas.microsoft.com/office/drawing/2014/main" id="{8DB7C0B8-B5B0-4343-9DB0-25BDA6E947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a:extLst>
              <a:ext uri="{FF2B5EF4-FFF2-40B4-BE49-F238E27FC236}">
                <a16:creationId xmlns="" xmlns:a16="http://schemas.microsoft.com/office/drawing/2014/main" id="{AB7057FE-F08B-4694-8A9E-FEDAB6D8E962}"/>
              </a:ext>
            </a:extLst>
          </p:cNvPr>
          <p:cNvSpPr>
            <a:spLocks noGrp="1"/>
          </p:cNvSpPr>
          <p:nvPr>
            <p:ph type="dt" sz="half" idx="10"/>
          </p:nvPr>
        </p:nvSpPr>
        <p:spPr/>
        <p:txBody>
          <a:bodyPr/>
          <a:lstStyle/>
          <a:p>
            <a:fld id="{681B6472-9C52-4A1E-878C-6E299B92CF53}" type="datetime1">
              <a:rPr lang="en-AU" smtClean="0"/>
              <a:t>11/02/2026</a:t>
            </a:fld>
            <a:endParaRPr lang="en-AU" dirty="0"/>
          </a:p>
        </p:txBody>
      </p:sp>
      <p:sp>
        <p:nvSpPr>
          <p:cNvPr id="6" name="Footer Placeholder 5">
            <a:extLst>
              <a:ext uri="{FF2B5EF4-FFF2-40B4-BE49-F238E27FC236}">
                <a16:creationId xmlns="" xmlns:a16="http://schemas.microsoft.com/office/drawing/2014/main" id="{B34A8BFC-745D-4BBC-BFD0-AF0492B6A35E}"/>
              </a:ext>
            </a:extLst>
          </p:cNvPr>
          <p:cNvSpPr>
            <a:spLocks noGrp="1"/>
          </p:cNvSpPr>
          <p:nvPr>
            <p:ph type="ftr" sz="quarter" idx="11"/>
          </p:nvPr>
        </p:nvSpPr>
        <p:spPr/>
        <p:txBody>
          <a:bodyPr/>
          <a:lstStyle/>
          <a:p>
            <a:r>
              <a:rPr lang="en-US" smtClean="0"/>
              <a:t>Prepared: by:  MS Odilia Tita</a:t>
            </a:r>
            <a:endParaRPr lang="en-AU" dirty="0"/>
          </a:p>
        </p:txBody>
      </p:sp>
      <p:sp>
        <p:nvSpPr>
          <p:cNvPr id="7" name="Slide Number Placeholder 6">
            <a:extLst>
              <a:ext uri="{FF2B5EF4-FFF2-40B4-BE49-F238E27FC236}">
                <a16:creationId xmlns="" xmlns:a16="http://schemas.microsoft.com/office/drawing/2014/main" id="{7F25914E-DE0C-4D6B-96A4-A8B2E3BE80A4}"/>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2092717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2C3DC4-E527-428B-94DA-FBB960B02E54}"/>
              </a:ext>
            </a:extLst>
          </p:cNvPr>
          <p:cNvSpPr>
            <a:spLocks noGrp="1"/>
          </p:cNvSpPr>
          <p:nvPr>
            <p:ph type="title"/>
          </p:nvPr>
        </p:nvSpPr>
        <p:spPr/>
        <p:txBody>
          <a:bodyPr/>
          <a:lstStyle/>
          <a:p>
            <a:r>
              <a:rPr lang="en-US" smtClean="0"/>
              <a:t>Click to edit Master title style</a:t>
            </a:r>
            <a:endParaRPr lang="en-AU"/>
          </a:p>
        </p:txBody>
      </p:sp>
      <p:sp>
        <p:nvSpPr>
          <p:cNvPr id="3" name="Vertical Text Placeholder 2">
            <a:extLst>
              <a:ext uri="{FF2B5EF4-FFF2-40B4-BE49-F238E27FC236}">
                <a16:creationId xmlns="" xmlns:a16="http://schemas.microsoft.com/office/drawing/2014/main" id="{23C1C0BB-30BB-45D4-A05D-5C8DDC147295}"/>
              </a:ext>
            </a:extLst>
          </p:cNvPr>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a:extLst>
              <a:ext uri="{FF2B5EF4-FFF2-40B4-BE49-F238E27FC236}">
                <a16:creationId xmlns="" xmlns:a16="http://schemas.microsoft.com/office/drawing/2014/main" id="{9D6A4DF1-DA3C-42E6-A9D1-B807F92884FB}"/>
              </a:ext>
            </a:extLst>
          </p:cNvPr>
          <p:cNvSpPr>
            <a:spLocks noGrp="1"/>
          </p:cNvSpPr>
          <p:nvPr>
            <p:ph type="dt" sz="half" idx="10"/>
          </p:nvPr>
        </p:nvSpPr>
        <p:spPr/>
        <p:txBody>
          <a:bodyPr/>
          <a:lstStyle/>
          <a:p>
            <a:fld id="{E263AF87-99E9-4E1C-B445-3EAD1561C7E0}" type="datetime1">
              <a:rPr lang="en-AU" smtClean="0"/>
              <a:t>11/02/2026</a:t>
            </a:fld>
            <a:endParaRPr lang="en-AU" dirty="0"/>
          </a:p>
        </p:txBody>
      </p:sp>
      <p:sp>
        <p:nvSpPr>
          <p:cNvPr id="5" name="Footer Placeholder 4">
            <a:extLst>
              <a:ext uri="{FF2B5EF4-FFF2-40B4-BE49-F238E27FC236}">
                <a16:creationId xmlns="" xmlns:a16="http://schemas.microsoft.com/office/drawing/2014/main" id="{F4B03447-FA4D-4FB3-8EA8-92EEBA64371A}"/>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 xmlns:a16="http://schemas.microsoft.com/office/drawing/2014/main" id="{41FA8BCD-CB8B-41BC-BA09-43A58BF8A0A9}"/>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4200964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D1B170A-0C49-44E5-9CEB-E34D00479D39}"/>
              </a:ext>
            </a:extLst>
          </p:cNvPr>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a:extLst>
              <a:ext uri="{FF2B5EF4-FFF2-40B4-BE49-F238E27FC236}">
                <a16:creationId xmlns="" xmlns:a16="http://schemas.microsoft.com/office/drawing/2014/main" id="{D2E26345-EA95-466A-A868-AF358482D2F3}"/>
              </a:ext>
            </a:extLst>
          </p:cNvPr>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a:extLst>
              <a:ext uri="{FF2B5EF4-FFF2-40B4-BE49-F238E27FC236}">
                <a16:creationId xmlns="" xmlns:a16="http://schemas.microsoft.com/office/drawing/2014/main" id="{23E50751-9A0A-4D85-BD89-F58E2DD2D4FC}"/>
              </a:ext>
            </a:extLst>
          </p:cNvPr>
          <p:cNvSpPr>
            <a:spLocks noGrp="1"/>
          </p:cNvSpPr>
          <p:nvPr>
            <p:ph type="dt" sz="half" idx="10"/>
          </p:nvPr>
        </p:nvSpPr>
        <p:spPr/>
        <p:txBody>
          <a:bodyPr/>
          <a:lstStyle/>
          <a:p>
            <a:fld id="{96E86B3E-45E0-40C0-BF95-DC501396704F}" type="datetime1">
              <a:rPr lang="en-AU" smtClean="0"/>
              <a:t>11/02/2026</a:t>
            </a:fld>
            <a:endParaRPr lang="en-AU" dirty="0"/>
          </a:p>
        </p:txBody>
      </p:sp>
      <p:sp>
        <p:nvSpPr>
          <p:cNvPr id="5" name="Footer Placeholder 4">
            <a:extLst>
              <a:ext uri="{FF2B5EF4-FFF2-40B4-BE49-F238E27FC236}">
                <a16:creationId xmlns="" xmlns:a16="http://schemas.microsoft.com/office/drawing/2014/main" id="{78C3466A-B481-472F-8349-31301AC32BBC}"/>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 xmlns:a16="http://schemas.microsoft.com/office/drawing/2014/main" id="{156164D8-60A4-4D6D-AC8E-944A64FB9CD1}"/>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4090599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CC5A2D3B-E2B1-45B1-A87B-9CE3565AE2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a:extLst>
              <a:ext uri="{FF2B5EF4-FFF2-40B4-BE49-F238E27FC236}">
                <a16:creationId xmlns="" xmlns:a16="http://schemas.microsoft.com/office/drawing/2014/main" id="{E8E1F910-679B-400B-90F8-3B7796EEB4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a:extLst>
              <a:ext uri="{FF2B5EF4-FFF2-40B4-BE49-F238E27FC236}">
                <a16:creationId xmlns="" xmlns:a16="http://schemas.microsoft.com/office/drawing/2014/main" id="{CD5CAEE6-87D8-4240-9F2E-BBBDC9B1F9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B17D19-1DFF-42E6-9FD7-87CE3960DADB}" type="datetime1">
              <a:rPr lang="en-AU" smtClean="0"/>
              <a:t>11/02/2026</a:t>
            </a:fld>
            <a:endParaRPr lang="en-AU" dirty="0"/>
          </a:p>
        </p:txBody>
      </p:sp>
      <p:sp>
        <p:nvSpPr>
          <p:cNvPr id="5" name="Footer Placeholder 4">
            <a:extLst>
              <a:ext uri="{FF2B5EF4-FFF2-40B4-BE49-F238E27FC236}">
                <a16:creationId xmlns="" xmlns:a16="http://schemas.microsoft.com/office/drawing/2014/main" id="{D1526242-9AC5-4511-B7FD-67946AD664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Prepared: by:  MS Odilia Tita</a:t>
            </a:r>
            <a:endParaRPr lang="en-AU" dirty="0"/>
          </a:p>
        </p:txBody>
      </p:sp>
      <p:sp>
        <p:nvSpPr>
          <p:cNvPr id="6" name="Slide Number Placeholder 5">
            <a:extLst>
              <a:ext uri="{FF2B5EF4-FFF2-40B4-BE49-F238E27FC236}">
                <a16:creationId xmlns="" xmlns:a16="http://schemas.microsoft.com/office/drawing/2014/main" id="{1BA7FC3C-7E7A-4752-B68D-DFDC7CFCF3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7D08D6-F5B7-4643-8830-2AE1BDB50066}" type="slidenum">
              <a:rPr lang="en-AU" smtClean="0"/>
              <a:t>‹#›</a:t>
            </a:fld>
            <a:endParaRPr lang="en-AU" dirty="0"/>
          </a:p>
        </p:txBody>
      </p:sp>
    </p:spTree>
    <p:extLst>
      <p:ext uri="{BB962C8B-B14F-4D97-AF65-F5344CB8AC3E}">
        <p14:creationId xmlns:p14="http://schemas.microsoft.com/office/powerpoint/2010/main" val="2869902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tmp"/></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1.tmp"/></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26.jpg"/><Relationship Id="rId5" Type="http://schemas.openxmlformats.org/officeDocument/2006/relationships/image" Target="../media/image25.jpg"/><Relationship Id="rId4" Type="http://schemas.openxmlformats.org/officeDocument/2006/relationships/image" Target="../media/image24.jpg"/></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43EFF1-6301-420A-9461-B3704C2C13E8}"/>
              </a:ext>
            </a:extLst>
          </p:cNvPr>
          <p:cNvSpPr>
            <a:spLocks noGrp="1"/>
          </p:cNvSpPr>
          <p:nvPr>
            <p:ph type="ctrTitle"/>
          </p:nvPr>
        </p:nvSpPr>
        <p:spPr>
          <a:xfrm>
            <a:off x="741871" y="1854201"/>
            <a:ext cx="10705381" cy="1655762"/>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Basic Computing &amp; Microsoft 365</a:t>
            </a:r>
            <a:endParaRPr lang="en-AU"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AD1FF088-C8BD-4AF1-93D2-BDB7D2018F9D}"/>
              </a:ext>
            </a:extLst>
          </p:cNvPr>
          <p:cNvSpPr>
            <a:spLocks noGrp="1"/>
          </p:cNvSpPr>
          <p:nvPr>
            <p:ph type="subTitle" idx="1"/>
          </p:nvPr>
        </p:nvSpPr>
        <p:spPr/>
        <p:txBody>
          <a:bodyPr>
            <a:normAutofit fontScale="70000" lnSpcReduction="20000"/>
          </a:bodyPr>
          <a:lstStyle/>
          <a:p>
            <a:r>
              <a:rPr lang="en-US" sz="9600" dirty="0" smtClean="0">
                <a:latin typeface="French Script MT" panose="03020402040607040605" pitchFamily="66" charset="0"/>
              </a:rPr>
              <a:t>1 Year Diploma &amp; Certificate Programs Foundation</a:t>
            </a:r>
            <a:endParaRPr lang="en-AU" sz="9600" dirty="0">
              <a:latin typeface="French Script MT" panose="03020402040607040605" pitchFamily="66" charset="0"/>
            </a:endParaRPr>
          </a:p>
        </p:txBody>
      </p:sp>
      <p:sp>
        <p:nvSpPr>
          <p:cNvPr id="9" name="Footer Placeholder 8"/>
          <p:cNvSpPr>
            <a:spLocks noGrp="1"/>
          </p:cNvSpPr>
          <p:nvPr>
            <p:ph type="ftr" sz="quarter" idx="11"/>
          </p:nvPr>
        </p:nvSpPr>
        <p:spPr>
          <a:xfrm>
            <a:off x="9338171" y="6492875"/>
            <a:ext cx="4114800" cy="365125"/>
          </a:xfrm>
        </p:spPr>
        <p:txBody>
          <a:bodyPr/>
          <a:lstStyle/>
          <a:p>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5" name="Picture 4">
            <a:extLst>
              <a:ext uri="{FF2B5EF4-FFF2-40B4-BE49-F238E27FC236}">
                <a16:creationId xmlns="" xmlns:a16="http://schemas.microsoft.com/office/drawing/2014/main" id="{EF1AEE37-577D-4DD9-AFF4-83BF60AAF5AB}"/>
              </a:ext>
            </a:extLst>
          </p:cNvPr>
          <p:cNvPicPr/>
          <p:nvPr/>
        </p:nvPicPr>
        <p:blipFill>
          <a:blip r:embed="rId2"/>
          <a:stretch>
            <a:fillRect/>
          </a:stretch>
        </p:blipFill>
        <p:spPr>
          <a:xfrm>
            <a:off x="10823275" y="129414"/>
            <a:ext cx="1285875" cy="1485952"/>
          </a:xfrm>
          <a:prstGeom prst="rect">
            <a:avLst/>
          </a:prstGeom>
        </p:spPr>
      </p:pic>
      <p:pic>
        <p:nvPicPr>
          <p:cNvPr id="2052" name="Picture 4" descr="Microsoft 365 (M365) - Information Technolog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629" y="129414"/>
            <a:ext cx="2106688" cy="1632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08850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Learning Objectives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After this lesson, students will be learn and know;</a:t>
            </a:r>
          </a:p>
          <a:p>
            <a:pPr marL="571500" indent="-571500">
              <a:buFont typeface="+mj-lt"/>
              <a:buAutoNum type="romanUcPeriod"/>
            </a:pPr>
            <a:r>
              <a:rPr lang="en-US" dirty="0" smtClean="0">
                <a:latin typeface="Times New Roman" panose="02020603050405020304" pitchFamily="18" charset="0"/>
                <a:cs typeface="Times New Roman" panose="02020603050405020304" pitchFamily="18" charset="0"/>
              </a:rPr>
              <a:t>The difference between MS 365 and the Microsoft Office Suite.</a:t>
            </a:r>
          </a:p>
          <a:p>
            <a:pPr marL="571500" indent="-571500">
              <a:buFont typeface="+mj-lt"/>
              <a:buAutoNum type="romanUcPeriod"/>
            </a:pPr>
            <a:r>
              <a:rPr lang="en-US" dirty="0" smtClean="0">
                <a:latin typeface="Times New Roman" panose="02020603050405020304" pitchFamily="18" charset="0"/>
                <a:cs typeface="Times New Roman" panose="02020603050405020304" pitchFamily="18" charset="0"/>
              </a:rPr>
              <a:t>What Operating System (OS) is Compatible with MS 365</a:t>
            </a:r>
            <a:endParaRPr lang="en-US" dirty="0">
              <a:latin typeface="Times New Roman" panose="02020603050405020304" pitchFamily="18" charset="0"/>
              <a:cs typeface="Times New Roman" panose="02020603050405020304" pitchFamily="18" charset="0"/>
            </a:endParaRPr>
          </a:p>
          <a:p>
            <a:pPr marL="571500" indent="-571500">
              <a:buFont typeface="+mj-lt"/>
              <a:buAutoNum type="romanUcPeriod"/>
            </a:pPr>
            <a:r>
              <a:rPr lang="en-US" dirty="0" smtClean="0">
                <a:latin typeface="Times New Roman" panose="02020603050405020304" pitchFamily="18" charset="0"/>
                <a:cs typeface="Times New Roman" panose="02020603050405020304" pitchFamily="18" charset="0"/>
              </a:rPr>
              <a:t>The main hardware devices</a:t>
            </a:r>
          </a:p>
          <a:p>
            <a:pPr marL="571500" indent="-571500">
              <a:buFont typeface="+mj-lt"/>
              <a:buAutoNum type="romanUcPeriod"/>
            </a:pPr>
            <a:r>
              <a:rPr lang="en-US" dirty="0" smtClean="0">
                <a:latin typeface="Times New Roman" panose="02020603050405020304" pitchFamily="18" charset="0"/>
                <a:cs typeface="Times New Roman" panose="02020603050405020304" pitchFamily="18" charset="0"/>
              </a:rPr>
              <a:t>Correct order to switch on devices</a:t>
            </a:r>
          </a:p>
          <a:p>
            <a:pPr marL="571500" indent="-571500">
              <a:buFont typeface="+mj-lt"/>
              <a:buAutoNum type="romanUcPeriod"/>
            </a:pPr>
            <a:r>
              <a:rPr lang="en-US" dirty="0">
                <a:latin typeface="Times New Roman" panose="02020603050405020304" pitchFamily="18" charset="0"/>
                <a:cs typeface="Times New Roman" panose="02020603050405020304" pitchFamily="18" charset="0"/>
              </a:rPr>
              <a:t>Correct order to switch </a:t>
            </a:r>
            <a:r>
              <a:rPr lang="en-US" dirty="0" smtClean="0">
                <a:latin typeface="Times New Roman" panose="02020603050405020304" pitchFamily="18" charset="0"/>
                <a:cs typeface="Times New Roman" panose="02020603050405020304" pitchFamily="18" charset="0"/>
              </a:rPr>
              <a:t>off </a:t>
            </a:r>
            <a:r>
              <a:rPr lang="en-US" dirty="0">
                <a:latin typeface="Times New Roman" panose="02020603050405020304" pitchFamily="18" charset="0"/>
                <a:cs typeface="Times New Roman" panose="02020603050405020304" pitchFamily="18" charset="0"/>
              </a:rPr>
              <a:t>devices</a:t>
            </a:r>
          </a:p>
          <a:p>
            <a:pPr marL="0" indent="0">
              <a:buNone/>
            </a:pPr>
            <a:endParaRPr lang="en-US" dirty="0" smtClean="0">
              <a:latin typeface="Times New Roman" panose="02020603050405020304" pitchFamily="18" charset="0"/>
              <a:cs typeface="Times New Roman" panose="02020603050405020304" pitchFamily="18" charset="0"/>
            </a:endParaRPr>
          </a:p>
          <a:p>
            <a:pPr marL="571500" indent="-571500">
              <a:buFont typeface="+mj-lt"/>
              <a:buAutoNum type="romanUcPeriod"/>
            </a:pPr>
            <a:endParaRPr lang="en-US" dirty="0" smtClean="0">
              <a:latin typeface="Times New Roman" panose="02020603050405020304" pitchFamily="18" charset="0"/>
              <a:cs typeface="Times New Roman" panose="02020603050405020304" pitchFamily="18" charset="0"/>
            </a:endParaRPr>
          </a:p>
        </p:txBody>
      </p:sp>
      <p:sp>
        <p:nvSpPr>
          <p:cNvPr id="4" name="Footer Placeholder 8"/>
          <p:cNvSpPr>
            <a:spLocks noGrp="1"/>
          </p:cNvSpPr>
          <p:nvPr>
            <p:ph type="ftr" sz="quarter" idx="11"/>
          </p:nvPr>
        </p:nvSpPr>
        <p:spPr>
          <a:xfrm>
            <a:off x="9338171" y="6492875"/>
            <a:ext cx="4114800" cy="365125"/>
          </a:xfrm>
        </p:spPr>
        <p:txBody>
          <a:bodyPr/>
          <a:lstStyle/>
          <a:p>
            <a:r>
              <a:rPr lang="en-US" sz="800" dirty="0" smtClean="0">
                <a:latin typeface="Comic Sans MS" panose="030F0702030302020204" pitchFamily="66" charset="0"/>
              </a:rPr>
              <a:t>Prepared: by:  MS Odilia Tita</a:t>
            </a:r>
            <a:endParaRPr lang="en-AU" sz="800" dirty="0">
              <a:latin typeface="Comic Sans MS" panose="030F0702030302020204" pitchFamily="66" charset="0"/>
            </a:endParaRPr>
          </a:p>
        </p:txBody>
      </p:sp>
    </p:spTree>
    <p:extLst>
      <p:ext uri="{BB962C8B-B14F-4D97-AF65-F5344CB8AC3E}">
        <p14:creationId xmlns:p14="http://schemas.microsoft.com/office/powerpoint/2010/main" val="22748023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43EFF1-6301-420A-9461-B3704C2C13E8}"/>
              </a:ext>
            </a:extLst>
          </p:cNvPr>
          <p:cNvSpPr>
            <a:spLocks noGrp="1"/>
          </p:cNvSpPr>
          <p:nvPr>
            <p:ph type="ctrTitle"/>
          </p:nvPr>
        </p:nvSpPr>
        <p:spPr>
          <a:xfrm>
            <a:off x="741871" y="1854201"/>
            <a:ext cx="10705381" cy="1655762"/>
          </a:xfrm>
        </p:spPr>
        <p:txBody>
          <a:bodyPr>
            <a:normAutofit/>
          </a:bodyPr>
          <a:lstStyle/>
          <a:p>
            <a:r>
              <a:rPr lang="en-AU" sz="9600" b="1" dirty="0" smtClean="0">
                <a:solidFill>
                  <a:srgbClr val="002060"/>
                </a:solidFill>
                <a:latin typeface="Script MT Bold" panose="03040602040607080904" pitchFamily="66" charset="0"/>
                <a:cs typeface="Times New Roman" panose="02020603050405020304" pitchFamily="18" charset="0"/>
              </a:rPr>
              <a:t>1.Basic Computing</a:t>
            </a:r>
            <a:endParaRPr lang="en-AU" sz="9600" b="1" dirty="0">
              <a:solidFill>
                <a:srgbClr val="002060"/>
              </a:solidFill>
              <a:latin typeface="Script MT Bold" panose="03040602040607080904" pitchFamily="66" charset="0"/>
              <a:cs typeface="Times New Roman" panose="02020603050405020304" pitchFamily="18" charset="0"/>
            </a:endParaRPr>
          </a:p>
        </p:txBody>
      </p:sp>
      <p:sp>
        <p:nvSpPr>
          <p:cNvPr id="9" name="Footer Placeholder 8"/>
          <p:cNvSpPr>
            <a:spLocks noGrp="1"/>
          </p:cNvSpPr>
          <p:nvPr>
            <p:ph type="ftr" sz="quarter" idx="11"/>
          </p:nvPr>
        </p:nvSpPr>
        <p:spPr>
          <a:xfrm>
            <a:off x="9338171" y="6492875"/>
            <a:ext cx="4114800" cy="365125"/>
          </a:xfrm>
        </p:spPr>
        <p:txBody>
          <a:bodyPr/>
          <a:lstStyle/>
          <a:p>
            <a:r>
              <a:rPr lang="en-US" sz="800" dirty="0" smtClean="0">
                <a:latin typeface="Comic Sans MS" panose="030F0702030302020204" pitchFamily="66" charset="0"/>
              </a:rPr>
              <a:t>Prepared: by:  MS Odilia Tita</a:t>
            </a:r>
            <a:endParaRPr lang="en-AU" sz="800" dirty="0">
              <a:latin typeface="Comic Sans MS" panose="030F0702030302020204" pitchFamily="66" charset="0"/>
            </a:endParaRPr>
          </a:p>
        </p:txBody>
      </p:sp>
    </p:spTree>
    <p:extLst>
      <p:ext uri="{BB962C8B-B14F-4D97-AF65-F5344CB8AC3E}">
        <p14:creationId xmlns:p14="http://schemas.microsoft.com/office/powerpoint/2010/main" val="19899444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Three Parts of Basic Computing</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571500" indent="-571500">
              <a:buFont typeface="+mj-lt"/>
              <a:buAutoNum type="arabicPeriod"/>
            </a:pPr>
            <a:r>
              <a:rPr lang="en-US" dirty="0" smtClean="0">
                <a:latin typeface="Times New Roman" panose="02020603050405020304" pitchFamily="18" charset="0"/>
                <a:cs typeface="Times New Roman" panose="02020603050405020304" pitchFamily="18" charset="0"/>
              </a:rPr>
              <a:t>Setting up the Hardware</a:t>
            </a:r>
          </a:p>
          <a:p>
            <a:pPr marL="571500" indent="-571500">
              <a:buFont typeface="+mj-lt"/>
              <a:buAutoNum type="arabicPeriod"/>
            </a:pPr>
            <a:r>
              <a:rPr lang="en-US" dirty="0" smtClean="0">
                <a:latin typeface="Times New Roman" panose="02020603050405020304" pitchFamily="18" charset="0"/>
                <a:cs typeface="Times New Roman" panose="02020603050405020304" pitchFamily="18" charset="0"/>
              </a:rPr>
              <a:t>The Correct Order to switch on</a:t>
            </a:r>
          </a:p>
          <a:p>
            <a:pPr marL="571500" indent="-571500">
              <a:buFont typeface="+mj-lt"/>
              <a:buAutoNum type="arabicPeriod"/>
            </a:pPr>
            <a:r>
              <a:rPr lang="en-US" dirty="0" smtClean="0">
                <a:latin typeface="Times New Roman" panose="02020603050405020304" pitchFamily="18" charset="0"/>
                <a:cs typeface="Times New Roman" panose="02020603050405020304" pitchFamily="18" charset="0"/>
              </a:rPr>
              <a:t>The correct order to switch off </a:t>
            </a:r>
            <a:endParaRPr lang="en-US" dirty="0">
              <a:latin typeface="Times New Roman" panose="02020603050405020304" pitchFamily="18" charset="0"/>
              <a:cs typeface="Times New Roman" panose="02020603050405020304" pitchFamily="18" charset="0"/>
            </a:endParaRPr>
          </a:p>
        </p:txBody>
      </p:sp>
      <p:sp>
        <p:nvSpPr>
          <p:cNvPr id="4" name="Footer Placeholder 8"/>
          <p:cNvSpPr>
            <a:spLocks noGrp="1"/>
          </p:cNvSpPr>
          <p:nvPr>
            <p:ph type="ftr" sz="quarter" idx="11"/>
          </p:nvPr>
        </p:nvSpPr>
        <p:spPr>
          <a:xfrm>
            <a:off x="9338171" y="6492875"/>
            <a:ext cx="4114800" cy="365125"/>
          </a:xfrm>
        </p:spPr>
        <p:txBody>
          <a:bodyPr/>
          <a:lstStyle/>
          <a:p>
            <a:r>
              <a:rPr lang="en-US" sz="800" dirty="0" smtClean="0">
                <a:latin typeface="Comic Sans MS" panose="030F0702030302020204" pitchFamily="66" charset="0"/>
              </a:rPr>
              <a:t>Prepared: by:  MS Odilia Tita</a:t>
            </a:r>
            <a:endParaRPr lang="en-AU" sz="800" dirty="0">
              <a:latin typeface="Comic Sans MS" panose="030F0702030302020204" pitchFamily="66" charset="0"/>
            </a:endParaRPr>
          </a:p>
        </p:txBody>
      </p:sp>
    </p:spTree>
    <p:extLst>
      <p:ext uri="{BB962C8B-B14F-4D97-AF65-F5344CB8AC3E}">
        <p14:creationId xmlns:p14="http://schemas.microsoft.com/office/powerpoint/2010/main" val="20986278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1. Setting up the Hardware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22425"/>
            <a:ext cx="10515600" cy="4351338"/>
          </a:xfrm>
        </p:spPr>
        <p:txBody>
          <a:bodyPr>
            <a:normAutofit fontScale="85000" lnSpcReduction="20000"/>
          </a:bodyPr>
          <a:lstStyle/>
          <a:p>
            <a:r>
              <a:rPr lang="en-US" dirty="0" smtClean="0">
                <a:latin typeface="Times New Roman" panose="02020603050405020304" pitchFamily="18" charset="0"/>
                <a:cs typeface="Times New Roman" panose="02020603050405020304" pitchFamily="18" charset="0"/>
              </a:rPr>
              <a:t>System Unit</a:t>
            </a:r>
          </a:p>
          <a:p>
            <a:r>
              <a:rPr lang="en-US" dirty="0" smtClean="0">
                <a:latin typeface="Times New Roman" panose="02020603050405020304" pitchFamily="18" charset="0"/>
                <a:cs typeface="Times New Roman" panose="02020603050405020304" pitchFamily="18" charset="0"/>
              </a:rPr>
              <a:t>Monitor</a:t>
            </a:r>
          </a:p>
          <a:p>
            <a:r>
              <a:rPr lang="en-US" dirty="0" smtClean="0">
                <a:latin typeface="Times New Roman" panose="02020603050405020304" pitchFamily="18" charset="0"/>
                <a:cs typeface="Times New Roman" panose="02020603050405020304" pitchFamily="18" charset="0"/>
              </a:rPr>
              <a:t>UPS (Uninterrupted Power Supply)</a:t>
            </a:r>
          </a:p>
          <a:p>
            <a:r>
              <a:rPr lang="en-US" dirty="0" smtClean="0">
                <a:latin typeface="Times New Roman" panose="02020603050405020304" pitchFamily="18" charset="0"/>
                <a:cs typeface="Times New Roman" panose="02020603050405020304" pitchFamily="18" charset="0"/>
              </a:rPr>
              <a:t>Printer</a:t>
            </a:r>
          </a:p>
          <a:p>
            <a:r>
              <a:rPr lang="en-US" dirty="0" smtClean="0">
                <a:latin typeface="Times New Roman" panose="02020603050405020304" pitchFamily="18" charset="0"/>
                <a:cs typeface="Times New Roman" panose="02020603050405020304" pitchFamily="18" charset="0"/>
              </a:rPr>
              <a:t>Socket Switch</a:t>
            </a:r>
          </a:p>
          <a:p>
            <a:endParaRPr lang="en-US" dirty="0">
              <a:latin typeface="Times New Roman" panose="02020603050405020304" pitchFamily="18" charset="0"/>
              <a:cs typeface="Times New Roman" panose="02020603050405020304" pitchFamily="18" charset="0"/>
            </a:endParaRPr>
          </a:p>
          <a:p>
            <a:pPr marL="0" indent="0">
              <a:buNone/>
            </a:pPr>
            <a:r>
              <a:rPr lang="en-US" b="1" u="sng" dirty="0" smtClean="0">
                <a:latin typeface="Times New Roman" panose="02020603050405020304" pitchFamily="18" charset="0"/>
                <a:cs typeface="Times New Roman" panose="02020603050405020304" pitchFamily="18" charset="0"/>
              </a:rPr>
              <a:t>Analogy</a:t>
            </a:r>
          </a:p>
          <a:p>
            <a:pPr marL="0" indent="0">
              <a:buNone/>
            </a:pPr>
            <a:r>
              <a:rPr lang="en-US" dirty="0" smtClean="0">
                <a:latin typeface="Times New Roman" panose="02020603050405020304" pitchFamily="18" charset="0"/>
                <a:cs typeface="Times New Roman" panose="02020603050405020304" pitchFamily="18" charset="0"/>
              </a:rPr>
              <a:t>The</a:t>
            </a:r>
            <a:r>
              <a:rPr lang="en-US" b="1" dirty="0" smtClean="0">
                <a:latin typeface="Times New Roman" panose="02020603050405020304" pitchFamily="18" charset="0"/>
                <a:cs typeface="Times New Roman" panose="02020603050405020304" pitchFamily="18" charset="0"/>
              </a:rPr>
              <a:t> System Unit </a:t>
            </a:r>
            <a:r>
              <a:rPr lang="en-US" dirty="0" smtClean="0">
                <a:latin typeface="Times New Roman" panose="02020603050405020304" pitchFamily="18" charset="0"/>
                <a:cs typeface="Times New Roman" panose="02020603050405020304" pitchFamily="18" charset="0"/>
              </a:rPr>
              <a:t>is the brain</a:t>
            </a:r>
          </a:p>
          <a:p>
            <a:pPr marL="0" indent="0">
              <a:buNone/>
            </a:pPr>
            <a:r>
              <a:rPr lang="en-US" dirty="0" smtClean="0">
                <a:latin typeface="Times New Roman" panose="02020603050405020304" pitchFamily="18" charset="0"/>
                <a:cs typeface="Times New Roman" panose="02020603050405020304" pitchFamily="18" charset="0"/>
              </a:rPr>
              <a:t>The</a:t>
            </a:r>
            <a:r>
              <a:rPr lang="en-US" b="1" dirty="0" smtClean="0">
                <a:latin typeface="Times New Roman" panose="02020603050405020304" pitchFamily="18" charset="0"/>
                <a:cs typeface="Times New Roman" panose="02020603050405020304" pitchFamily="18" charset="0"/>
              </a:rPr>
              <a:t> monitor </a:t>
            </a:r>
            <a:r>
              <a:rPr lang="en-US" dirty="0" smtClean="0">
                <a:latin typeface="Times New Roman" panose="02020603050405020304" pitchFamily="18" charset="0"/>
                <a:cs typeface="Times New Roman" panose="02020603050405020304" pitchFamily="18" charset="0"/>
              </a:rPr>
              <a:t>is the face</a:t>
            </a:r>
          </a:p>
          <a:p>
            <a:pPr marL="0" indent="0">
              <a:buNone/>
            </a:pPr>
            <a:r>
              <a:rPr lang="en-US" dirty="0" smtClean="0">
                <a:latin typeface="Times New Roman" panose="02020603050405020304" pitchFamily="18" charset="0"/>
                <a:cs typeface="Times New Roman" panose="02020603050405020304" pitchFamily="18" charset="0"/>
              </a:rPr>
              <a:t>The</a:t>
            </a:r>
            <a:r>
              <a:rPr lang="en-US" b="1" dirty="0" smtClean="0">
                <a:latin typeface="Times New Roman" panose="02020603050405020304" pitchFamily="18" charset="0"/>
                <a:cs typeface="Times New Roman" panose="02020603050405020304" pitchFamily="18" charset="0"/>
              </a:rPr>
              <a:t> UPS </a:t>
            </a:r>
            <a:r>
              <a:rPr lang="en-US" dirty="0" smtClean="0">
                <a:latin typeface="Times New Roman" panose="02020603050405020304" pitchFamily="18" charset="0"/>
                <a:cs typeface="Times New Roman" panose="02020603050405020304" pitchFamily="18" charset="0"/>
              </a:rPr>
              <a:t>is the Heart/Power Source</a:t>
            </a:r>
          </a:p>
          <a:p>
            <a:pPr marL="0" indent="0">
              <a:buNone/>
            </a:pPr>
            <a:r>
              <a:rPr lang="en-US" dirty="0" smtClean="0">
                <a:latin typeface="Times New Roman" panose="02020603050405020304" pitchFamily="18" charset="0"/>
                <a:cs typeface="Times New Roman" panose="02020603050405020304" pitchFamily="18" charset="0"/>
              </a:rPr>
              <a:t>The</a:t>
            </a:r>
            <a:r>
              <a:rPr lang="en-US" b="1" dirty="0" smtClean="0">
                <a:latin typeface="Times New Roman" panose="02020603050405020304" pitchFamily="18" charset="0"/>
                <a:cs typeface="Times New Roman" panose="02020603050405020304" pitchFamily="18" charset="0"/>
              </a:rPr>
              <a:t> cables </a:t>
            </a:r>
            <a:r>
              <a:rPr lang="en-US" dirty="0" smtClean="0">
                <a:latin typeface="Times New Roman" panose="02020603050405020304" pitchFamily="18" charset="0"/>
                <a:cs typeface="Times New Roman" panose="02020603050405020304" pitchFamily="18" charset="0"/>
              </a:rPr>
              <a:t>are like nerves</a:t>
            </a:r>
          </a:p>
        </p:txBody>
      </p:sp>
    </p:spTree>
    <p:extLst>
      <p:ext uri="{BB962C8B-B14F-4D97-AF65-F5344CB8AC3E}">
        <p14:creationId xmlns:p14="http://schemas.microsoft.com/office/powerpoint/2010/main" val="35206078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279" y="149749"/>
            <a:ext cx="10515600" cy="1325563"/>
          </a:xfrm>
        </p:spPr>
        <p:txBody>
          <a:bodyPr>
            <a:normAutofit fontScale="90000"/>
          </a:bodyPr>
          <a:lstStyle/>
          <a:p>
            <a:pPr algn="ctr"/>
            <a:r>
              <a:rPr lang="en-US" sz="4800" b="1" dirty="0" smtClean="0">
                <a:latin typeface="Times New Roman" panose="02020603050405020304" pitchFamily="18" charset="0"/>
                <a:cs typeface="Times New Roman" panose="02020603050405020304" pitchFamily="18" charset="0"/>
              </a:rPr>
              <a:t>2. The Correct Order to Switch on Devices</a:t>
            </a:r>
            <a:endParaRPr lang="en-US" sz="4800" b="1" dirty="0">
              <a:latin typeface="Times New Roman" panose="02020603050405020304" pitchFamily="18" charset="0"/>
              <a:cs typeface="Times New Roman" panose="02020603050405020304" pitchFamily="18" charset="0"/>
            </a:endParaRPr>
          </a:p>
        </p:txBody>
      </p:sp>
      <p:grpSp>
        <p:nvGrpSpPr>
          <p:cNvPr id="9" name="Group 8"/>
          <p:cNvGrpSpPr/>
          <p:nvPr/>
        </p:nvGrpSpPr>
        <p:grpSpPr>
          <a:xfrm>
            <a:off x="160867" y="1862668"/>
            <a:ext cx="11751733" cy="3615265"/>
            <a:chOff x="1356252" y="2336024"/>
            <a:chExt cx="9422872" cy="1858271"/>
          </a:xfrm>
        </p:grpSpPr>
        <p:sp>
          <p:nvSpPr>
            <p:cNvPr id="4" name="Right Arrow 3"/>
            <p:cNvSpPr/>
            <p:nvPr/>
          </p:nvSpPr>
          <p:spPr>
            <a:xfrm>
              <a:off x="2722033" y="2820457"/>
              <a:ext cx="516467" cy="26246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p>
          </p:txBody>
        </p:sp>
        <p:sp>
          <p:nvSpPr>
            <p:cNvPr id="5" name="Right Arrow 4"/>
            <p:cNvSpPr/>
            <p:nvPr/>
          </p:nvSpPr>
          <p:spPr>
            <a:xfrm>
              <a:off x="4406898" y="2786589"/>
              <a:ext cx="516467" cy="26246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p>
          </p:txBody>
        </p:sp>
        <p:sp>
          <p:nvSpPr>
            <p:cNvPr id="6" name="Right Arrow 5"/>
            <p:cNvSpPr/>
            <p:nvPr/>
          </p:nvSpPr>
          <p:spPr>
            <a:xfrm>
              <a:off x="6599765" y="2778121"/>
              <a:ext cx="516467" cy="26246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p>
          </p:txBody>
        </p:sp>
        <p:sp>
          <p:nvSpPr>
            <p:cNvPr id="7" name="Right Arrow 6"/>
            <p:cNvSpPr/>
            <p:nvPr/>
          </p:nvSpPr>
          <p:spPr>
            <a:xfrm>
              <a:off x="8398926" y="2786589"/>
              <a:ext cx="516467" cy="26246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p>
          </p:txBody>
        </p:sp>
        <p:pic>
          <p:nvPicPr>
            <p:cNvPr id="1026" name="Picture 2" descr="SCHNEIDER 2 GANG SWITCH SOCKET A3GT25 | Switches, Sockets &amp; Plugs | Horme  Singapore"/>
            <p:cNvPicPr>
              <a:picLocks noChangeAspect="1" noChangeArrowheads="1"/>
            </p:cNvPicPr>
            <p:nvPr/>
          </p:nvPicPr>
          <p:blipFill rotWithShape="1">
            <a:blip r:embed="rId2">
              <a:extLst>
                <a:ext uri="{28A0092B-C50C-407E-A947-70E740481C1C}">
                  <a14:useLocalDpi xmlns:a14="http://schemas.microsoft.com/office/drawing/2010/main" val="0"/>
                </a:ext>
              </a:extLst>
            </a:blip>
            <a:srcRect t="16370" b="16606"/>
            <a:stretch/>
          </p:blipFill>
          <p:spPr bwMode="auto">
            <a:xfrm>
              <a:off x="1430866" y="2562224"/>
              <a:ext cx="1134533" cy="77893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uy UPS for Office and Home Legend 650 | No. 1 Brand Microtek"/>
            <p:cNvPicPr>
              <a:picLocks noChangeAspect="1" noChangeArrowheads="1"/>
            </p:cNvPicPr>
            <p:nvPr/>
          </p:nvPicPr>
          <p:blipFill rotWithShape="1">
            <a:blip r:embed="rId3">
              <a:extLst>
                <a:ext uri="{28A0092B-C50C-407E-A947-70E740481C1C}">
                  <a14:useLocalDpi xmlns:a14="http://schemas.microsoft.com/office/drawing/2010/main" val="0"/>
                </a:ext>
              </a:extLst>
            </a:blip>
            <a:srcRect l="19261" t="21702" r="17942" b="14973"/>
            <a:stretch/>
          </p:blipFill>
          <p:spPr bwMode="auto">
            <a:xfrm>
              <a:off x="3337981" y="2443691"/>
              <a:ext cx="935567" cy="89746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onitor Full HD LCD monitor 24E1N1300A/00 | Philips"/>
            <p:cNvPicPr>
              <a:picLocks noChangeAspect="1" noChangeArrowheads="1"/>
            </p:cNvPicPr>
            <p:nvPr/>
          </p:nvPicPr>
          <p:blipFill rotWithShape="1">
            <a:blip r:embed="rId4">
              <a:extLst>
                <a:ext uri="{28A0092B-C50C-407E-A947-70E740481C1C}">
                  <a14:useLocalDpi xmlns:a14="http://schemas.microsoft.com/office/drawing/2010/main" val="0"/>
                </a:ext>
              </a:extLst>
            </a:blip>
            <a:srcRect l="6876" t="17088" r="7786" b="15234"/>
            <a:stretch/>
          </p:blipFill>
          <p:spPr bwMode="auto">
            <a:xfrm>
              <a:off x="5046131" y="2443691"/>
              <a:ext cx="1397000" cy="110789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omputer system unit | Premium Photo"/>
            <p:cNvPicPr>
              <a:picLocks noChangeAspect="1" noChangeArrowheads="1"/>
            </p:cNvPicPr>
            <p:nvPr/>
          </p:nvPicPr>
          <p:blipFill rotWithShape="1">
            <a:blip r:embed="rId5">
              <a:extLst>
                <a:ext uri="{28A0092B-C50C-407E-A947-70E740481C1C}">
                  <a14:useLocalDpi xmlns:a14="http://schemas.microsoft.com/office/drawing/2010/main" val="0"/>
                </a:ext>
              </a:extLst>
            </a:blip>
            <a:srcRect l="11695" t="6603" r="14070" b="3657"/>
            <a:stretch/>
          </p:blipFill>
          <p:spPr bwMode="auto">
            <a:xfrm flipV="1">
              <a:off x="7272867" y="2336024"/>
              <a:ext cx="965200" cy="132322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Epson EcoTank L1210 A4 Ink Tank Printer | Office Warehouse, Inc."/>
            <p:cNvPicPr>
              <a:picLocks noChangeAspect="1" noChangeArrowheads="1"/>
            </p:cNvPicPr>
            <p:nvPr/>
          </p:nvPicPr>
          <p:blipFill rotWithShape="1">
            <a:blip r:embed="rId6">
              <a:extLst>
                <a:ext uri="{28A0092B-C50C-407E-A947-70E740481C1C}">
                  <a14:useLocalDpi xmlns:a14="http://schemas.microsoft.com/office/drawing/2010/main" val="0"/>
                </a:ext>
              </a:extLst>
            </a:blip>
            <a:srcRect l="10642" t="28172" r="8524" b="12199"/>
            <a:stretch/>
          </p:blipFill>
          <p:spPr bwMode="auto">
            <a:xfrm>
              <a:off x="9000066" y="2562224"/>
              <a:ext cx="1517987" cy="83984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1356252" y="3794185"/>
              <a:ext cx="1717675" cy="400110"/>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Socket Switch</a:t>
              </a:r>
              <a:endParaRPr lang="en-US" sz="2000" b="1" dirty="0"/>
            </a:p>
          </p:txBody>
        </p:sp>
        <p:sp>
          <p:nvSpPr>
            <p:cNvPr id="14" name="TextBox 13"/>
            <p:cNvSpPr txBox="1"/>
            <p:nvPr/>
          </p:nvSpPr>
          <p:spPr>
            <a:xfrm>
              <a:off x="3513400" y="3777323"/>
              <a:ext cx="750889" cy="400110"/>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UPS</a:t>
              </a:r>
              <a:endParaRPr lang="en-US" sz="2000" b="1" dirty="0"/>
            </a:p>
          </p:txBody>
        </p:sp>
        <p:sp>
          <p:nvSpPr>
            <p:cNvPr id="15" name="TextBox 14"/>
            <p:cNvSpPr txBox="1"/>
            <p:nvPr/>
          </p:nvSpPr>
          <p:spPr>
            <a:xfrm>
              <a:off x="5309654" y="3778971"/>
              <a:ext cx="1133477" cy="400110"/>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Monitor</a:t>
              </a:r>
              <a:endParaRPr lang="en-US" sz="2000" b="1" dirty="0"/>
            </a:p>
          </p:txBody>
        </p:sp>
        <p:sp>
          <p:nvSpPr>
            <p:cNvPr id="16" name="TextBox 15"/>
            <p:cNvSpPr txBox="1"/>
            <p:nvPr/>
          </p:nvSpPr>
          <p:spPr>
            <a:xfrm>
              <a:off x="6939489" y="3794185"/>
              <a:ext cx="1717675" cy="400110"/>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System Unit</a:t>
              </a:r>
              <a:endParaRPr lang="en-US" sz="2000" b="1" dirty="0"/>
            </a:p>
          </p:txBody>
        </p:sp>
        <p:sp>
          <p:nvSpPr>
            <p:cNvPr id="17" name="TextBox 16"/>
            <p:cNvSpPr txBox="1"/>
            <p:nvPr/>
          </p:nvSpPr>
          <p:spPr>
            <a:xfrm>
              <a:off x="9061449" y="3777323"/>
              <a:ext cx="1717675" cy="400110"/>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Printer</a:t>
              </a:r>
              <a:endParaRPr lang="en-US" sz="2000" b="1" dirty="0"/>
            </a:p>
          </p:txBody>
        </p:sp>
      </p:grpSp>
      <p:sp>
        <p:nvSpPr>
          <p:cNvPr id="19" name="Footer Placeholder 8"/>
          <p:cNvSpPr>
            <a:spLocks noGrp="1"/>
          </p:cNvSpPr>
          <p:nvPr>
            <p:ph type="ftr" sz="quarter" idx="11"/>
          </p:nvPr>
        </p:nvSpPr>
        <p:spPr>
          <a:xfrm>
            <a:off x="9338171" y="6492875"/>
            <a:ext cx="4114800" cy="365125"/>
          </a:xfrm>
        </p:spPr>
        <p:txBody>
          <a:bodyPr/>
          <a:lstStyle/>
          <a:p>
            <a:r>
              <a:rPr lang="en-US" sz="800" dirty="0" smtClean="0">
                <a:latin typeface="Comic Sans MS" panose="030F0702030302020204" pitchFamily="66" charset="0"/>
              </a:rPr>
              <a:t>Prepared: by:  MS Odilia Tita</a:t>
            </a:r>
            <a:endParaRPr lang="en-AU" sz="800" dirty="0">
              <a:latin typeface="Comic Sans MS" panose="030F0702030302020204" pitchFamily="66" charset="0"/>
            </a:endParaRPr>
          </a:p>
        </p:txBody>
      </p:sp>
    </p:spTree>
    <p:extLst>
      <p:ext uri="{BB962C8B-B14F-4D97-AF65-F5344CB8AC3E}">
        <p14:creationId xmlns:p14="http://schemas.microsoft.com/office/powerpoint/2010/main" val="2707591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800" b="1" dirty="0" smtClean="0">
                <a:latin typeface="Times New Roman" panose="02020603050405020304" pitchFamily="18" charset="0"/>
                <a:cs typeface="Times New Roman" panose="02020603050405020304" pitchFamily="18" charset="0"/>
              </a:rPr>
              <a:t>3. The Correct Order to Switch off Devices</a:t>
            </a:r>
            <a:endParaRPr lang="en-US" sz="4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7530" y="5396610"/>
            <a:ext cx="11938078" cy="1432490"/>
          </a:xfrm>
        </p:spPr>
        <p:txBody>
          <a:bodyPr>
            <a:normAutofit/>
          </a:bodyPr>
          <a:lstStyle/>
          <a:p>
            <a:pPr>
              <a:buFont typeface="Wingdings" panose="05000000000000000000" pitchFamily="2" charset="2"/>
              <a:buChar char="v"/>
            </a:pPr>
            <a:r>
              <a:rPr lang="en-US" sz="2400" dirty="0">
                <a:solidFill>
                  <a:srgbClr val="002060"/>
                </a:solidFill>
                <a:latin typeface="Times New Roman" panose="02020603050405020304" pitchFamily="18" charset="0"/>
                <a:cs typeface="Times New Roman" panose="02020603050405020304" pitchFamily="18" charset="0"/>
              </a:rPr>
              <a:t>The </a:t>
            </a:r>
            <a:r>
              <a:rPr lang="en-US" sz="2400" b="1" dirty="0">
                <a:solidFill>
                  <a:srgbClr val="002060"/>
                </a:solidFill>
                <a:latin typeface="Times New Roman" panose="02020603050405020304" pitchFamily="18" charset="0"/>
                <a:cs typeface="Times New Roman" panose="02020603050405020304" pitchFamily="18" charset="0"/>
              </a:rPr>
              <a:t>GOLDEN</a:t>
            </a:r>
            <a:r>
              <a:rPr lang="en-US" sz="2400" dirty="0">
                <a:solidFill>
                  <a:srgbClr val="002060"/>
                </a:solidFill>
                <a:latin typeface="Times New Roman" panose="02020603050405020304" pitchFamily="18" charset="0"/>
                <a:cs typeface="Times New Roman" panose="02020603050405020304" pitchFamily="18" charset="0"/>
              </a:rPr>
              <a:t> Rule</a:t>
            </a:r>
          </a:p>
          <a:p>
            <a:pPr marL="0" indent="0">
              <a:buNone/>
            </a:pPr>
            <a:r>
              <a:rPr lang="en-US" sz="2400" dirty="0">
                <a:solidFill>
                  <a:srgbClr val="002060"/>
                </a:solidFill>
                <a:latin typeface="Times New Roman" panose="02020603050405020304" pitchFamily="18" charset="0"/>
                <a:cs typeface="Times New Roman" panose="02020603050405020304" pitchFamily="18" charset="0"/>
              </a:rPr>
              <a:t>Start from the power source and move out to the devices. This is like turning on the main water valve before you open a tap.</a:t>
            </a:r>
          </a:p>
          <a:p>
            <a:pPr marL="0" indent="0">
              <a:buNone/>
            </a:pPr>
            <a:endParaRPr lang="en-US" sz="2400" dirty="0"/>
          </a:p>
        </p:txBody>
      </p:sp>
      <p:grpSp>
        <p:nvGrpSpPr>
          <p:cNvPr id="10" name="Group 9"/>
          <p:cNvGrpSpPr/>
          <p:nvPr/>
        </p:nvGrpSpPr>
        <p:grpSpPr>
          <a:xfrm>
            <a:off x="659598" y="1581180"/>
            <a:ext cx="11651901" cy="3875681"/>
            <a:chOff x="905131" y="1496514"/>
            <a:chExt cx="11651901" cy="3875681"/>
          </a:xfrm>
        </p:grpSpPr>
        <p:sp>
          <p:nvSpPr>
            <p:cNvPr id="4" name="Right Arrow 3"/>
            <p:cNvSpPr/>
            <p:nvPr/>
          </p:nvSpPr>
          <p:spPr>
            <a:xfrm>
              <a:off x="2897085" y="2611241"/>
              <a:ext cx="644112" cy="517803"/>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p>
          </p:txBody>
        </p:sp>
        <p:sp>
          <p:nvSpPr>
            <p:cNvPr id="5" name="Right Arrow 4"/>
            <p:cNvSpPr/>
            <p:nvPr/>
          </p:nvSpPr>
          <p:spPr>
            <a:xfrm>
              <a:off x="4937834" y="2621308"/>
              <a:ext cx="644112" cy="517803"/>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p>
          </p:txBody>
        </p:sp>
        <p:sp>
          <p:nvSpPr>
            <p:cNvPr id="6" name="Right Arrow 5"/>
            <p:cNvSpPr/>
            <p:nvPr/>
          </p:nvSpPr>
          <p:spPr>
            <a:xfrm>
              <a:off x="7521808" y="2594608"/>
              <a:ext cx="644112" cy="517803"/>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p>
          </p:txBody>
        </p:sp>
        <p:sp>
          <p:nvSpPr>
            <p:cNvPr id="7" name="Right Arrow 6"/>
            <p:cNvSpPr/>
            <p:nvPr/>
          </p:nvSpPr>
          <p:spPr>
            <a:xfrm>
              <a:off x="9529197" y="2581726"/>
              <a:ext cx="644112" cy="517803"/>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p>
          </p:txBody>
        </p:sp>
        <p:pic>
          <p:nvPicPr>
            <p:cNvPr id="1026" name="Picture 2" descr="SCHNEIDER 2 GANG SWITCH SOCKET A3GT25 | Switches, Sockets &amp; Plugs | Horme  Singapore"/>
            <p:cNvPicPr>
              <a:picLocks noChangeAspect="1" noChangeArrowheads="1"/>
            </p:cNvPicPr>
            <p:nvPr/>
          </p:nvPicPr>
          <p:blipFill rotWithShape="1">
            <a:blip r:embed="rId2">
              <a:extLst>
                <a:ext uri="{28A0092B-C50C-407E-A947-70E740481C1C}">
                  <a14:useLocalDpi xmlns:a14="http://schemas.microsoft.com/office/drawing/2010/main" val="0"/>
                </a:ext>
              </a:extLst>
            </a:blip>
            <a:srcRect t="16370" b="16606"/>
            <a:stretch/>
          </p:blipFill>
          <p:spPr bwMode="auto">
            <a:xfrm>
              <a:off x="10270967" y="2033413"/>
              <a:ext cx="1414933" cy="153670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uy UPS for Office and Home Legend 650 | No. 1 Brand Microtek"/>
            <p:cNvPicPr>
              <a:picLocks noChangeAspect="1" noChangeArrowheads="1"/>
            </p:cNvPicPr>
            <p:nvPr/>
          </p:nvPicPr>
          <p:blipFill rotWithShape="1">
            <a:blip r:embed="rId3">
              <a:extLst>
                <a:ext uri="{28A0092B-C50C-407E-A947-70E740481C1C}">
                  <a14:useLocalDpi xmlns:a14="http://schemas.microsoft.com/office/drawing/2010/main" val="0"/>
                </a:ext>
              </a:extLst>
            </a:blip>
            <a:srcRect l="19261" t="21702" r="17942" b="14973"/>
            <a:stretch/>
          </p:blipFill>
          <p:spPr bwMode="auto">
            <a:xfrm>
              <a:off x="8264717" y="1994933"/>
              <a:ext cx="1166792" cy="177055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onitor Full HD LCD monitor 24E1N1300A/00 | Philips"/>
            <p:cNvPicPr>
              <a:picLocks noChangeAspect="1" noChangeArrowheads="1"/>
            </p:cNvPicPr>
            <p:nvPr/>
          </p:nvPicPr>
          <p:blipFill rotWithShape="1">
            <a:blip r:embed="rId4">
              <a:extLst>
                <a:ext uri="{28A0092B-C50C-407E-A947-70E740481C1C}">
                  <a14:useLocalDpi xmlns:a14="http://schemas.microsoft.com/office/drawing/2010/main" val="0"/>
                </a:ext>
              </a:extLst>
            </a:blip>
            <a:srcRect l="6876" t="17088" r="7786" b="15234"/>
            <a:stretch/>
          </p:blipFill>
          <p:spPr bwMode="auto">
            <a:xfrm>
              <a:off x="5680743" y="1708924"/>
              <a:ext cx="1742268" cy="218568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omputer system unit | Premium Photo"/>
            <p:cNvPicPr>
              <a:picLocks noChangeAspect="1" noChangeArrowheads="1"/>
            </p:cNvPicPr>
            <p:nvPr/>
          </p:nvPicPr>
          <p:blipFill rotWithShape="1">
            <a:blip r:embed="rId5">
              <a:extLst>
                <a:ext uri="{28A0092B-C50C-407E-A947-70E740481C1C}">
                  <a14:useLocalDpi xmlns:a14="http://schemas.microsoft.com/office/drawing/2010/main" val="0"/>
                </a:ext>
              </a:extLst>
            </a:blip>
            <a:srcRect l="11695" t="6603" r="14070" b="3657"/>
            <a:stretch/>
          </p:blipFill>
          <p:spPr bwMode="auto">
            <a:xfrm flipV="1">
              <a:off x="3621204" y="1496514"/>
              <a:ext cx="1203749" cy="261050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Epson EcoTank L1210 A4 Ink Tank Printer | Office Warehouse, Inc."/>
            <p:cNvPicPr>
              <a:picLocks noChangeAspect="1" noChangeArrowheads="1"/>
            </p:cNvPicPr>
            <p:nvPr/>
          </p:nvPicPr>
          <p:blipFill rotWithShape="1">
            <a:blip r:embed="rId6">
              <a:extLst>
                <a:ext uri="{28A0092B-C50C-407E-A947-70E740481C1C}">
                  <a14:useLocalDpi xmlns:a14="http://schemas.microsoft.com/office/drawing/2010/main" val="0"/>
                </a:ext>
              </a:extLst>
            </a:blip>
            <a:srcRect l="10642" t="28172" r="8524" b="12199"/>
            <a:stretch/>
          </p:blipFill>
          <p:spPr bwMode="auto">
            <a:xfrm>
              <a:off x="905131" y="2070412"/>
              <a:ext cx="1893157" cy="165688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10414834" y="4530137"/>
              <a:ext cx="2142198" cy="789352"/>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Socket Switch</a:t>
              </a:r>
              <a:endParaRPr lang="en-US" sz="2000" b="1" dirty="0"/>
            </a:p>
          </p:txBody>
        </p:sp>
        <p:sp>
          <p:nvSpPr>
            <p:cNvPr id="14" name="TextBox 13"/>
            <p:cNvSpPr txBox="1"/>
            <p:nvPr/>
          </p:nvSpPr>
          <p:spPr>
            <a:xfrm>
              <a:off x="8711397" y="4515222"/>
              <a:ext cx="936471" cy="789352"/>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UPS</a:t>
              </a:r>
              <a:endParaRPr lang="en-US" sz="2000" b="1" dirty="0"/>
            </a:p>
          </p:txBody>
        </p:sp>
        <p:sp>
          <p:nvSpPr>
            <p:cNvPr id="15" name="TextBox 14"/>
            <p:cNvSpPr txBox="1"/>
            <p:nvPr/>
          </p:nvSpPr>
          <p:spPr>
            <a:xfrm>
              <a:off x="6442102" y="4582843"/>
              <a:ext cx="1413616" cy="789352"/>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Monitor</a:t>
              </a:r>
              <a:endParaRPr lang="en-US" sz="2000" b="1" dirty="0"/>
            </a:p>
          </p:txBody>
        </p:sp>
        <p:sp>
          <p:nvSpPr>
            <p:cNvPr id="16" name="TextBox 15"/>
            <p:cNvSpPr txBox="1"/>
            <p:nvPr/>
          </p:nvSpPr>
          <p:spPr>
            <a:xfrm>
              <a:off x="3444225" y="4582843"/>
              <a:ext cx="2142198" cy="789352"/>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System Unit</a:t>
              </a:r>
              <a:endParaRPr lang="en-US" sz="2000" b="1" dirty="0"/>
            </a:p>
          </p:txBody>
        </p:sp>
        <p:sp>
          <p:nvSpPr>
            <p:cNvPr id="17" name="TextBox 16"/>
            <p:cNvSpPr txBox="1"/>
            <p:nvPr/>
          </p:nvSpPr>
          <p:spPr>
            <a:xfrm>
              <a:off x="1302027" y="4483066"/>
              <a:ext cx="2142198" cy="789352"/>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Printer</a:t>
              </a:r>
              <a:endParaRPr lang="en-US" sz="2000" b="1" dirty="0"/>
            </a:p>
          </p:txBody>
        </p:sp>
      </p:grpSp>
      <p:sp>
        <p:nvSpPr>
          <p:cNvPr id="20" name="Footer Placeholder 8"/>
          <p:cNvSpPr>
            <a:spLocks noGrp="1"/>
          </p:cNvSpPr>
          <p:nvPr>
            <p:ph type="ftr" sz="quarter" idx="11"/>
          </p:nvPr>
        </p:nvSpPr>
        <p:spPr>
          <a:xfrm>
            <a:off x="9338171" y="6492875"/>
            <a:ext cx="4114800" cy="365125"/>
          </a:xfrm>
        </p:spPr>
        <p:txBody>
          <a:bodyPr/>
          <a:lstStyle/>
          <a:p>
            <a:r>
              <a:rPr lang="en-US" sz="800" dirty="0" smtClean="0">
                <a:latin typeface="Comic Sans MS" panose="030F0702030302020204" pitchFamily="66" charset="0"/>
              </a:rPr>
              <a:t>Prepared: by:  MS Odilia Tita</a:t>
            </a:r>
            <a:endParaRPr lang="en-AU" sz="800" dirty="0">
              <a:latin typeface="Comic Sans MS" panose="030F0702030302020204" pitchFamily="66" charset="0"/>
            </a:endParaRPr>
          </a:p>
        </p:txBody>
      </p:sp>
    </p:spTree>
    <p:extLst>
      <p:ext uri="{BB962C8B-B14F-4D97-AF65-F5344CB8AC3E}">
        <p14:creationId xmlns:p14="http://schemas.microsoft.com/office/powerpoint/2010/main" val="15424900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43EFF1-6301-420A-9461-B3704C2C13E8}"/>
              </a:ext>
            </a:extLst>
          </p:cNvPr>
          <p:cNvSpPr>
            <a:spLocks noGrp="1"/>
          </p:cNvSpPr>
          <p:nvPr>
            <p:ph type="ctrTitle"/>
          </p:nvPr>
        </p:nvSpPr>
        <p:spPr>
          <a:xfrm>
            <a:off x="741871" y="1854201"/>
            <a:ext cx="10705381" cy="1655762"/>
          </a:xfrm>
        </p:spPr>
        <p:txBody>
          <a:bodyPr>
            <a:normAutofit/>
          </a:bodyPr>
          <a:lstStyle/>
          <a:p>
            <a:r>
              <a:rPr lang="en-AU" sz="9600" b="1" dirty="0">
                <a:solidFill>
                  <a:srgbClr val="002060"/>
                </a:solidFill>
                <a:latin typeface="Script MT Bold" panose="03040602040607080904" pitchFamily="66" charset="0"/>
                <a:cs typeface="Times New Roman" panose="02020603050405020304" pitchFamily="18" charset="0"/>
              </a:rPr>
              <a:t>2</a:t>
            </a:r>
            <a:r>
              <a:rPr lang="en-AU" sz="9600" b="1" dirty="0" smtClean="0">
                <a:solidFill>
                  <a:srgbClr val="002060"/>
                </a:solidFill>
                <a:latin typeface="Script MT Bold" panose="03040602040607080904" pitchFamily="66" charset="0"/>
                <a:cs typeface="Times New Roman" panose="02020603050405020304" pitchFamily="18" charset="0"/>
              </a:rPr>
              <a:t>.Microsoft 365</a:t>
            </a:r>
            <a:endParaRPr lang="en-AU" sz="9600" b="1" dirty="0">
              <a:solidFill>
                <a:srgbClr val="002060"/>
              </a:solidFill>
              <a:latin typeface="Script MT Bold" panose="03040602040607080904" pitchFamily="66" charset="0"/>
              <a:cs typeface="Times New Roman" panose="02020603050405020304" pitchFamily="18" charset="0"/>
            </a:endParaRPr>
          </a:p>
        </p:txBody>
      </p:sp>
      <p:sp>
        <p:nvSpPr>
          <p:cNvPr id="9" name="Footer Placeholder 8"/>
          <p:cNvSpPr>
            <a:spLocks noGrp="1"/>
          </p:cNvSpPr>
          <p:nvPr>
            <p:ph type="ftr" sz="quarter" idx="11"/>
          </p:nvPr>
        </p:nvSpPr>
        <p:spPr>
          <a:xfrm>
            <a:off x="9338171" y="6492875"/>
            <a:ext cx="4114800" cy="365125"/>
          </a:xfrm>
        </p:spPr>
        <p:txBody>
          <a:bodyPr/>
          <a:lstStyle/>
          <a:p>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spTree>
    <p:extLst>
      <p:ext uri="{BB962C8B-B14F-4D97-AF65-F5344CB8AC3E}">
        <p14:creationId xmlns:p14="http://schemas.microsoft.com/office/powerpoint/2010/main" val="6888953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7133" y="365125"/>
            <a:ext cx="11006667" cy="1325563"/>
          </a:xfrm>
        </p:spPr>
        <p:txBody>
          <a:bodyPr/>
          <a:lstStyle/>
          <a:p>
            <a:r>
              <a:rPr lang="en-US" b="1" dirty="0" smtClean="0">
                <a:latin typeface="Times New Roman" panose="02020603050405020304" pitchFamily="18" charset="0"/>
                <a:cs typeface="Times New Roman" panose="02020603050405020304" pitchFamily="18" charset="0"/>
              </a:rPr>
              <a:t>What is the difference between the MS365 and Microsoft Office Suite?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47133" y="1825625"/>
            <a:ext cx="11006667" cy="4351338"/>
          </a:xfrm>
        </p:spPr>
        <p:txBody>
          <a:bodyPr>
            <a:normAutofit fontScale="92500" lnSpcReduction="10000"/>
          </a:bodyPr>
          <a:lstStyle/>
          <a:p>
            <a:pPr marL="0" indent="0">
              <a:buNone/>
            </a:pPr>
            <a:r>
              <a:rPr lang="en-US" dirty="0" smtClean="0">
                <a:latin typeface="Times New Roman" panose="02020603050405020304" pitchFamily="18" charset="0"/>
                <a:cs typeface="Times New Roman" panose="02020603050405020304" pitchFamily="18" charset="0"/>
              </a:rPr>
              <a:t>It is a cloud based subscription service from Microsoft. It is more than just apps, it is a complete ,integrated productivity platform. When you  subscribe then you can use it.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In short: Microsoft 365 =  Office Apps + Cloud Services + Collaboration tools + continuous updates (via subscription)</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This traditionally refers  to a one time purchase of the software suite. You pay the cost  of buying the specific version of the software but you don’t receive  new feature updates, and it does not include </a:t>
            </a:r>
            <a:r>
              <a:rPr lang="en-US" dirty="0" err="1" smtClean="0">
                <a:latin typeface="Times New Roman" panose="02020603050405020304" pitchFamily="18" charset="0"/>
                <a:cs typeface="Times New Roman" panose="02020603050405020304" pitchFamily="18" charset="0"/>
              </a:rPr>
              <a:t>clud</a:t>
            </a:r>
            <a:r>
              <a:rPr lang="en-US" dirty="0" smtClean="0">
                <a:latin typeface="Times New Roman" panose="02020603050405020304" pitchFamily="18" charset="0"/>
                <a:cs typeface="Times New Roman" panose="02020603050405020304" pitchFamily="18" charset="0"/>
              </a:rPr>
              <a:t> services and if new major  versions comes out  you have to pay for the full price  to get its latest features.</a:t>
            </a:r>
            <a:endParaRPr lang="en-US" dirty="0">
              <a:latin typeface="Times New Roman" panose="02020603050405020304" pitchFamily="18" charset="0"/>
              <a:cs typeface="Times New Roman" panose="02020603050405020304" pitchFamily="18" charset="0"/>
            </a:endParaRPr>
          </a:p>
        </p:txBody>
      </p:sp>
      <p:sp>
        <p:nvSpPr>
          <p:cNvPr id="4" name="Footer Placeholder 8"/>
          <p:cNvSpPr>
            <a:spLocks noGrp="1"/>
          </p:cNvSpPr>
          <p:nvPr>
            <p:ph type="ftr" sz="quarter" idx="11"/>
          </p:nvPr>
        </p:nvSpPr>
        <p:spPr>
          <a:xfrm>
            <a:off x="9338171" y="6492875"/>
            <a:ext cx="4114800" cy="365125"/>
          </a:xfrm>
        </p:spPr>
        <p:txBody>
          <a:bodyPr/>
          <a:lstStyle/>
          <a:p>
            <a:r>
              <a:rPr lang="en-US" sz="800" dirty="0" smtClean="0">
                <a:latin typeface="Comic Sans MS" panose="030F0702030302020204" pitchFamily="66" charset="0"/>
              </a:rPr>
              <a:t>Prepared: by:  MS Odilia Tita</a:t>
            </a:r>
            <a:endParaRPr lang="en-AU" sz="800" dirty="0">
              <a:latin typeface="Comic Sans MS" panose="030F0702030302020204" pitchFamily="66" charset="0"/>
            </a:endParaRPr>
          </a:p>
        </p:txBody>
      </p:sp>
    </p:spTree>
    <p:extLst>
      <p:ext uri="{BB962C8B-B14F-4D97-AF65-F5344CB8AC3E}">
        <p14:creationId xmlns:p14="http://schemas.microsoft.com/office/powerpoint/2010/main" val="40290890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Operating System Compatible for MS65</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00225"/>
            <a:ext cx="10515600" cy="4351338"/>
          </a:xfrm>
        </p:spPr>
        <p:txBody>
          <a:bodyPr/>
          <a:lstStyle/>
          <a:p>
            <a:pPr marL="0" indent="0">
              <a:buNone/>
            </a:pPr>
            <a:r>
              <a:rPr lang="en-US" dirty="0" smtClean="0">
                <a:latin typeface="Times New Roman" panose="02020603050405020304" pitchFamily="18" charset="0"/>
                <a:cs typeface="Times New Roman" panose="02020603050405020304" pitchFamily="18" charset="0"/>
              </a:rPr>
              <a:t>Windows 11 is fully compatible with Microsoft 365</a:t>
            </a:r>
            <a:r>
              <a:rPr lang="en-US" dirty="0">
                <a:latin typeface="Times New Roman" panose="02020603050405020304" pitchFamily="18" charset="0"/>
                <a:cs typeface="Times New Roman" panose="02020603050405020304" pitchFamily="18" charset="0"/>
              </a:rPr>
              <a:t> (formerly Office 365). The desktop versions of Word, Excel, PowerPoint, and Outlook are designed to work seamlessly on Windows 11, including both 32-bit and 64-bit installations. Users can install and run these apps directly on the OS. </a:t>
            </a:r>
          </a:p>
        </p:txBody>
      </p:sp>
      <p:sp>
        <p:nvSpPr>
          <p:cNvPr id="4" name="Footer Placeholder 8"/>
          <p:cNvSpPr>
            <a:spLocks noGrp="1"/>
          </p:cNvSpPr>
          <p:nvPr>
            <p:ph type="ftr" sz="quarter" idx="11"/>
          </p:nvPr>
        </p:nvSpPr>
        <p:spPr>
          <a:xfrm>
            <a:off x="9338171" y="6492875"/>
            <a:ext cx="4114800" cy="365125"/>
          </a:xfrm>
        </p:spPr>
        <p:txBody>
          <a:bodyPr/>
          <a:lstStyle/>
          <a:p>
            <a:r>
              <a:rPr lang="en-US" sz="800" dirty="0" smtClean="0">
                <a:latin typeface="Comic Sans MS" panose="030F0702030302020204" pitchFamily="66" charset="0"/>
              </a:rPr>
              <a:t>Prepared: by:  MS Odilia Tita</a:t>
            </a:r>
            <a:endParaRPr lang="en-AU" sz="800" dirty="0">
              <a:latin typeface="Comic Sans MS" panose="030F0702030302020204" pitchFamily="66" charset="0"/>
            </a:endParaRPr>
          </a:p>
        </p:txBody>
      </p:sp>
    </p:spTree>
    <p:extLst>
      <p:ext uri="{BB962C8B-B14F-4D97-AF65-F5344CB8AC3E}">
        <p14:creationId xmlns:p14="http://schemas.microsoft.com/office/powerpoint/2010/main" val="14527897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10515600" cy="1325563"/>
          </a:xfrm>
        </p:spPr>
        <p:txBody>
          <a:bodyPr/>
          <a:lstStyle/>
          <a:p>
            <a:r>
              <a:rPr lang="en-US" b="1" dirty="0" smtClean="0">
                <a:latin typeface="Times New Roman" panose="02020603050405020304" pitchFamily="18" charset="0"/>
                <a:cs typeface="Times New Roman" panose="02020603050405020304" pitchFamily="18" charset="0"/>
              </a:rPr>
              <a:t>Starting a Microsoft 365 Application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1284624"/>
            <a:ext cx="11904133" cy="2077508"/>
          </a:xfrm>
        </p:spPr>
        <p:txBody>
          <a:bodyPr/>
          <a:lstStyle/>
          <a:p>
            <a:pPr marL="0" indent="0">
              <a:buNone/>
            </a:pPr>
            <a:r>
              <a:rPr lang="en-US" dirty="0">
                <a:latin typeface="Times New Roman" panose="02020603050405020304" pitchFamily="18" charset="0"/>
                <a:cs typeface="Times New Roman" panose="02020603050405020304" pitchFamily="18" charset="0"/>
              </a:rPr>
              <a:t>For all Microsoft 365 applications such as Word, PowerPoint, Excel or Outlook the user must first launch it by opening the specific application on their computer.</a:t>
            </a: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
        <p:nvSpPr>
          <p:cNvPr id="10" name="TextBox 9"/>
          <p:cNvSpPr txBox="1"/>
          <p:nvPr/>
        </p:nvSpPr>
        <p:spPr>
          <a:xfrm>
            <a:off x="155366" y="6033184"/>
            <a:ext cx="4924634" cy="276999"/>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a:t>
            </a:r>
            <a:r>
              <a:rPr lang="en-US" sz="1200" b="1" i="1" dirty="0" smtClean="0">
                <a:latin typeface="Times New Roman" panose="02020603050405020304" pitchFamily="18" charset="0"/>
                <a:cs typeface="Times New Roman" panose="02020603050405020304" pitchFamily="18" charset="0"/>
              </a:rPr>
              <a:t>5.8: shows how to start the Microsoft 365 Application</a:t>
            </a:r>
            <a:endParaRPr lang="en-US" sz="1200" b="1" i="1"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2">
            <a:extLst>
              <a:ext uri="{28A0092B-C50C-407E-A947-70E740481C1C}">
                <a14:useLocalDpi xmlns:a14="http://schemas.microsoft.com/office/drawing/2010/main" val="0"/>
              </a:ext>
            </a:extLst>
          </a:blip>
          <a:stretch>
            <a:fillRect/>
          </a:stretch>
        </p:blipFill>
        <p:spPr>
          <a:xfrm>
            <a:off x="155366" y="2283212"/>
            <a:ext cx="4364355" cy="3651921"/>
          </a:xfrm>
          <a:prstGeom prst="rect">
            <a:avLst/>
          </a:prstGeom>
        </p:spPr>
      </p:pic>
      <p:pic>
        <p:nvPicPr>
          <p:cNvPr id="9" name="Picture 8"/>
          <p:cNvPicPr/>
          <p:nvPr/>
        </p:nvPicPr>
        <p:blipFill>
          <a:blip r:embed="rId3" cstate="print">
            <a:extLst>
              <a:ext uri="{28A0092B-C50C-407E-A947-70E740481C1C}">
                <a14:useLocalDpi xmlns:a14="http://schemas.microsoft.com/office/drawing/2010/main" val="0"/>
              </a:ext>
            </a:extLst>
          </a:blip>
          <a:stretch>
            <a:fillRect/>
          </a:stretch>
        </p:blipFill>
        <p:spPr>
          <a:xfrm>
            <a:off x="8263467" y="3080067"/>
            <a:ext cx="3906099" cy="3458845"/>
          </a:xfrm>
          <a:prstGeom prst="rect">
            <a:avLst/>
          </a:prstGeom>
        </p:spPr>
      </p:pic>
      <p:sp>
        <p:nvSpPr>
          <p:cNvPr id="11" name="Content Placeholder 2"/>
          <p:cNvSpPr txBox="1">
            <a:spLocks/>
          </p:cNvSpPr>
          <p:nvPr/>
        </p:nvSpPr>
        <p:spPr>
          <a:xfrm>
            <a:off x="4519721" y="2283212"/>
            <a:ext cx="3743746" cy="207750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Times New Roman" panose="02020603050405020304" pitchFamily="18" charset="0"/>
                <a:cs typeface="Times New Roman" panose="02020603050405020304" pitchFamily="18" charset="0"/>
              </a:rPr>
              <a:t>For example, to open Word office application Users must click on </a:t>
            </a:r>
            <a:r>
              <a:rPr lang="en-US" b="1" dirty="0">
                <a:latin typeface="Times New Roman" panose="02020603050405020304" pitchFamily="18" charset="0"/>
                <a:cs typeface="Times New Roman" panose="02020603050405020304" pitchFamily="18" charset="0"/>
              </a:rPr>
              <a:t>Start</a:t>
            </a:r>
            <a:r>
              <a:rPr lang="en-US" b="1" i="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Menu</a:t>
            </a:r>
            <a:r>
              <a:rPr lang="en-US" dirty="0">
                <a:latin typeface="Times New Roman" panose="02020603050405020304" pitchFamily="18" charset="0"/>
                <a:cs typeface="Times New Roman" panose="02020603050405020304" pitchFamily="18" charset="0"/>
              </a:rPr>
              <a:t> on the Task bar, then click on All Programs to display applications, and click </a:t>
            </a:r>
            <a:r>
              <a:rPr lang="en-US" dirty="0" smtClean="0">
                <a:latin typeface="Times New Roman" panose="02020603050405020304" pitchFamily="18" charset="0"/>
                <a:cs typeface="Times New Roman" panose="02020603050405020304" pitchFamily="18" charset="0"/>
              </a:rPr>
              <a:t>on Word.</a:t>
            </a:r>
            <a:endParaRPr lang="en-US"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 xmlns:a16="http://schemas.microsoft.com/office/drawing/2014/main" id="{EF1AEE37-577D-4DD9-AFF4-83BF60AAF5AB}"/>
              </a:ext>
            </a:extLst>
          </p:cNvPr>
          <p:cNvPicPr/>
          <p:nvPr/>
        </p:nvPicPr>
        <p:blipFill>
          <a:blip r:embed="rId4"/>
          <a:stretch>
            <a:fillRect/>
          </a:stretch>
        </p:blipFill>
        <p:spPr>
          <a:xfrm>
            <a:off x="10718800" y="0"/>
            <a:ext cx="1185333" cy="1219200"/>
          </a:xfrm>
          <a:prstGeom prst="rect">
            <a:avLst/>
          </a:prstGeom>
        </p:spPr>
      </p:pic>
    </p:spTree>
    <p:extLst>
      <p:ext uri="{BB962C8B-B14F-4D97-AF65-F5344CB8AC3E}">
        <p14:creationId xmlns:p14="http://schemas.microsoft.com/office/powerpoint/2010/main" val="16138307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10515600" cy="1325563"/>
          </a:xfrm>
        </p:spPr>
        <p:txBody>
          <a:bodyPr/>
          <a:lstStyle/>
          <a:p>
            <a:r>
              <a:rPr lang="en-US" b="1" dirty="0">
                <a:latin typeface="Times New Roman" panose="02020603050405020304" pitchFamily="18" charset="0"/>
                <a:cs typeface="Times New Roman" panose="02020603050405020304" pitchFamily="18" charset="0"/>
              </a:rPr>
              <a:t>L</a:t>
            </a:r>
            <a:r>
              <a:rPr lang="en-US" b="1" dirty="0" smtClean="0">
                <a:latin typeface="Times New Roman" panose="02020603050405020304" pitchFamily="18" charset="0"/>
                <a:cs typeface="Times New Roman" panose="02020603050405020304" pitchFamily="18" charset="0"/>
              </a:rPr>
              <a:t>ocating Applications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3266" y="1063625"/>
            <a:ext cx="10515600" cy="2077508"/>
          </a:xfrm>
        </p:spPr>
        <p:txBody>
          <a:bodyPr/>
          <a:lstStyle/>
          <a:p>
            <a:r>
              <a:rPr lang="en-US" dirty="0">
                <a:latin typeface="Times New Roman" panose="02020603050405020304" pitchFamily="18" charset="0"/>
                <a:cs typeface="Times New Roman" panose="02020603050405020304" pitchFamily="18" charset="0"/>
              </a:rPr>
              <a:t>Two methods of locating applications. </a:t>
            </a:r>
            <a:endParaRPr lang="en-US" dirty="0" smtClean="0">
              <a:latin typeface="Times New Roman" panose="02020603050405020304" pitchFamily="18" charset="0"/>
              <a:cs typeface="Times New Roman" panose="02020603050405020304" pitchFamily="18" charset="0"/>
            </a:endParaRPr>
          </a:p>
          <a:p>
            <a:pPr marL="514350" indent="-514350">
              <a:buAutoNum type="arabicPeriod"/>
            </a:pPr>
            <a:r>
              <a:rPr lang="en-US" dirty="0" smtClean="0">
                <a:latin typeface="Times New Roman" panose="02020603050405020304" pitchFamily="18" charset="0"/>
                <a:cs typeface="Times New Roman" panose="02020603050405020304" pitchFamily="18" charset="0"/>
              </a:rPr>
              <a:t>Use </a:t>
            </a:r>
            <a:r>
              <a:rPr lang="en-US" dirty="0">
                <a:latin typeface="Times New Roman" panose="02020603050405020304" pitchFamily="18" charset="0"/>
                <a:cs typeface="Times New Roman" panose="02020603050405020304" pitchFamily="18" charset="0"/>
              </a:rPr>
              <a:t>the Start Menu or Search Bar to find </a:t>
            </a:r>
            <a:r>
              <a:rPr lang="en-US" dirty="0" smtClean="0">
                <a:latin typeface="Times New Roman" panose="02020603050405020304" pitchFamily="18" charset="0"/>
                <a:cs typeface="Times New Roman" panose="02020603050405020304" pitchFamily="18" charset="0"/>
              </a:rPr>
              <a:t>apps.</a:t>
            </a:r>
          </a:p>
          <a:p>
            <a:pPr marL="514350" indent="-514350">
              <a:buAutoNum type="arabicPeriod"/>
            </a:pPr>
            <a:r>
              <a:rPr lang="en-US" dirty="0" smtClean="0">
                <a:latin typeface="Times New Roman" panose="02020603050405020304" pitchFamily="18" charset="0"/>
                <a:cs typeface="Times New Roman" panose="02020603050405020304" pitchFamily="18" charset="0"/>
              </a:rPr>
              <a:t> Inside </a:t>
            </a:r>
            <a:r>
              <a:rPr lang="en-US" dirty="0">
                <a:latin typeface="Times New Roman" panose="02020603050405020304" pitchFamily="18" charset="0"/>
                <a:cs typeface="Times New Roman" panose="02020603050405020304" pitchFamily="18" charset="0"/>
              </a:rPr>
              <a:t>the start menu click the All-Apps list to show everything installed on the computer</a:t>
            </a:r>
          </a:p>
        </p:txBody>
      </p:sp>
      <p:sp>
        <p:nvSpPr>
          <p:cNvPr id="10" name="TextBox 9"/>
          <p:cNvSpPr txBox="1"/>
          <p:nvPr/>
        </p:nvSpPr>
        <p:spPr>
          <a:xfrm>
            <a:off x="654685" y="6356350"/>
            <a:ext cx="3949702" cy="646331"/>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5.4: Windows 11 locating applications</a:t>
            </a:r>
          </a:p>
          <a:p>
            <a:r>
              <a:rPr lang="en-US" sz="1200" b="1" i="1" dirty="0">
                <a:latin typeface="Times New Roman" panose="02020603050405020304" pitchFamily="18" charset="0"/>
                <a:cs typeface="Times New Roman" panose="02020603050405020304" pitchFamily="18" charset="0"/>
              </a:rPr>
              <a:t/>
            </a:r>
            <a:br>
              <a:rPr lang="en-US" sz="1200" b="1" i="1" dirty="0">
                <a:latin typeface="Times New Roman" panose="02020603050405020304" pitchFamily="18" charset="0"/>
                <a:cs typeface="Times New Roman" panose="02020603050405020304" pitchFamily="18" charset="0"/>
              </a:rPr>
            </a:br>
            <a:endParaRPr lang="en-US" sz="1200" b="1" i="1"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690035" y="2533869"/>
            <a:ext cx="7298267" cy="3822481"/>
          </a:xfrm>
          <a:prstGeom prst="rect">
            <a:avLst/>
          </a:prstGeom>
        </p:spPr>
      </p:pic>
      <p:sp>
        <p:nvSpPr>
          <p:cNvPr id="7" name="Footer Placeholder 8"/>
          <p:cNvSpPr txBox="1">
            <a:spLocks/>
          </p:cNvSpPr>
          <p:nvPr/>
        </p:nvSpPr>
        <p:spPr>
          <a:xfrm>
            <a:off x="9338171"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spTree>
    <p:extLst>
      <p:ext uri="{BB962C8B-B14F-4D97-AF65-F5344CB8AC3E}">
        <p14:creationId xmlns:p14="http://schemas.microsoft.com/office/powerpoint/2010/main" val="34202833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77800" y="1690688"/>
            <a:ext cx="10515600" cy="4351338"/>
          </a:xfrm>
        </p:spPr>
        <p:txBody>
          <a:bodyPr>
            <a:normAutofit/>
          </a:bodyPr>
          <a:lstStyle/>
          <a:p>
            <a:pPr marL="0" indent="0">
              <a:buNone/>
            </a:pPr>
            <a:r>
              <a:rPr lang="en-US" sz="6000" dirty="0" smtClean="0">
                <a:latin typeface="French Script MT" panose="03020402040607040605" pitchFamily="66" charset="0"/>
              </a:rPr>
              <a:t>      </a:t>
            </a:r>
          </a:p>
          <a:p>
            <a:pPr marL="0" indent="0">
              <a:buNone/>
            </a:pPr>
            <a:endParaRPr lang="en-US" sz="6000" dirty="0">
              <a:latin typeface="French Script MT" panose="03020402040607040605" pitchFamily="66" charset="0"/>
            </a:endParaRPr>
          </a:p>
          <a:p>
            <a:pPr marL="0" indent="0">
              <a:buNone/>
            </a:pPr>
            <a:r>
              <a:rPr lang="en-US" sz="8000" dirty="0" smtClean="0">
                <a:latin typeface="French Script MT" panose="03020402040607040605" pitchFamily="66" charset="0"/>
              </a:rPr>
              <a:t>                 Thank you !!</a:t>
            </a:r>
            <a:endParaRPr lang="en-US" sz="8000" dirty="0">
              <a:latin typeface="French Script MT" panose="03020402040607040605" pitchFamily="66" charset="0"/>
            </a:endParaRPr>
          </a:p>
        </p:txBody>
      </p:sp>
      <p:sp>
        <p:nvSpPr>
          <p:cNvPr id="4" name="Footer Placeholder 3"/>
          <p:cNvSpPr>
            <a:spLocks noGrp="1"/>
          </p:cNvSpPr>
          <p:nvPr>
            <p:ph type="ftr" sz="quarter" idx="11"/>
          </p:nvPr>
        </p:nvSpPr>
        <p:spPr>
          <a:xfrm>
            <a:off x="-1101812" y="6587010"/>
            <a:ext cx="4114800" cy="365125"/>
          </a:xfrm>
        </p:spPr>
        <p:txBody>
          <a:bodyPr/>
          <a:lstStyle/>
          <a:p>
            <a:r>
              <a:rPr lang="en-US" sz="600" smtClean="0">
                <a:latin typeface="Comic Sans MS" panose="030F0702030302020204" pitchFamily="66" charset="0"/>
              </a:rPr>
              <a:t>Prepared: by:  MS Odilia Tita</a:t>
            </a:r>
            <a:endParaRPr lang="en-AU" sz="600" dirty="0">
              <a:latin typeface="Comic Sans MS" panose="030F0702030302020204" pitchFamily="66" charset="0"/>
            </a:endParaRPr>
          </a:p>
        </p:txBody>
      </p:sp>
    </p:spTree>
    <p:extLst>
      <p:ext uri="{BB962C8B-B14F-4D97-AF65-F5344CB8AC3E}">
        <p14:creationId xmlns:p14="http://schemas.microsoft.com/office/powerpoint/2010/main" val="42505057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tx2">
                <a:lumMod val="40000"/>
                <a:lumOff val="60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43EFF1-6301-420A-9461-B3704C2C13E8}"/>
              </a:ext>
            </a:extLst>
          </p:cNvPr>
          <p:cNvSpPr>
            <a:spLocks noGrp="1"/>
          </p:cNvSpPr>
          <p:nvPr>
            <p:ph type="ctrTitle"/>
          </p:nvPr>
        </p:nvSpPr>
        <p:spPr>
          <a:xfrm>
            <a:off x="1524000" y="1854201"/>
            <a:ext cx="9144000" cy="1655762"/>
          </a:xfrm>
        </p:spPr>
        <p:txBody>
          <a:bodyPr>
            <a:normAutofit/>
          </a:bodyPr>
          <a:lstStyle/>
          <a:p>
            <a:r>
              <a:rPr lang="en-US" b="1" dirty="0" smtClean="0">
                <a:latin typeface="Times New Roman" panose="02020603050405020304" pitchFamily="18" charset="0"/>
                <a:cs typeface="Times New Roman" panose="02020603050405020304" pitchFamily="18" charset="0"/>
              </a:rPr>
              <a:t>Introduction</a:t>
            </a:r>
            <a:endParaRPr lang="en-AU"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xmlns="" id="{AD1FF088-C8BD-4AF1-93D2-BDB7D2018F9D}"/>
              </a:ext>
            </a:extLst>
          </p:cNvPr>
          <p:cNvSpPr>
            <a:spLocks noGrp="1"/>
          </p:cNvSpPr>
          <p:nvPr>
            <p:ph type="subTitle" idx="1"/>
          </p:nvPr>
        </p:nvSpPr>
        <p:spPr/>
        <p:txBody>
          <a:bodyPr>
            <a:normAutofit/>
          </a:bodyPr>
          <a:lstStyle/>
          <a:p>
            <a:r>
              <a:rPr lang="en-US" sz="9600" dirty="0">
                <a:latin typeface="French Script MT" panose="03020402040607040605" pitchFamily="66" charset="0"/>
              </a:rPr>
              <a:t>Chapter 1</a:t>
            </a:r>
            <a:endParaRPr lang="en-AU" sz="9600" dirty="0">
              <a:latin typeface="French Script MT" panose="03020402040607040605" pitchFamily="66" charset="0"/>
            </a:endParaRPr>
          </a:p>
        </p:txBody>
      </p:sp>
      <p:sp>
        <p:nvSpPr>
          <p:cNvPr id="9" name="Footer Placeholder 8"/>
          <p:cNvSpPr>
            <a:spLocks noGrp="1"/>
          </p:cNvSpPr>
          <p:nvPr>
            <p:ph type="ftr" sz="quarter" idx="11"/>
          </p:nvPr>
        </p:nvSpPr>
        <p:spPr>
          <a:xfrm>
            <a:off x="9338171" y="6492875"/>
            <a:ext cx="4114800" cy="365125"/>
          </a:xfrm>
        </p:spPr>
        <p:txBody>
          <a:bodyPr/>
          <a:lstStyle/>
          <a:p>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5" name="Picture 4">
            <a:extLst>
              <a:ext uri="{FF2B5EF4-FFF2-40B4-BE49-F238E27FC236}">
                <a16:creationId xmlns:a16="http://schemas.microsoft.com/office/drawing/2014/main" xmlns="" id="{EF1AEE37-577D-4DD9-AFF4-83BF60AAF5AB}"/>
              </a:ext>
            </a:extLst>
          </p:cNvPr>
          <p:cNvPicPr/>
          <p:nvPr/>
        </p:nvPicPr>
        <p:blipFill>
          <a:blip r:embed="rId2"/>
          <a:stretch>
            <a:fillRect/>
          </a:stretch>
        </p:blipFill>
        <p:spPr>
          <a:xfrm>
            <a:off x="10823275" y="129414"/>
            <a:ext cx="1285875" cy="1485952"/>
          </a:xfrm>
          <a:prstGeom prst="rect">
            <a:avLst/>
          </a:prstGeom>
        </p:spPr>
      </p:pic>
      <p:pic>
        <p:nvPicPr>
          <p:cNvPr id="2052" name="Picture 4" descr="Microsoft 365 (M365) - Information Technolog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629" y="129414"/>
            <a:ext cx="2106688" cy="1632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59439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2229209" y="89080"/>
            <a:ext cx="7439025" cy="1325563"/>
          </a:xfrm>
        </p:spPr>
        <p:txBody>
          <a:bodyPr/>
          <a:lstStyle/>
          <a:p>
            <a:r>
              <a:rPr lang="en-US" b="1" dirty="0">
                <a:latin typeface="Times New Roman" panose="02020603050405020304" pitchFamily="18" charset="0"/>
                <a:cs typeface="Times New Roman" panose="02020603050405020304" pitchFamily="18" charset="0"/>
              </a:rPr>
              <a:t>LEARNING OUTCOMES</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165340" y="1414643"/>
            <a:ext cx="10515600" cy="4351338"/>
          </a:xfrm>
        </p:spPr>
        <p:txBody>
          <a:bodyPr/>
          <a:lstStyle/>
          <a:p>
            <a:pPr marL="0" indent="0">
              <a:buNone/>
            </a:pPr>
            <a:r>
              <a:rPr lang="en-US" sz="3600" dirty="0">
                <a:latin typeface="Times New Roman" panose="02020603050405020304" pitchFamily="18" charset="0"/>
                <a:cs typeface="Times New Roman" panose="02020603050405020304" pitchFamily="18" charset="0"/>
              </a:rPr>
              <a:t>By the end of this session, students should be able to;</a:t>
            </a:r>
          </a:p>
          <a:p>
            <a:pPr lvl="1"/>
            <a:r>
              <a:rPr lang="en-US" sz="3200" dirty="0" smtClean="0">
                <a:latin typeface="Times New Roman" panose="02020603050405020304" pitchFamily="18" charset="0"/>
                <a:cs typeface="Times New Roman" panose="02020603050405020304" pitchFamily="18" charset="0"/>
              </a:rPr>
              <a:t>Evolution of  Computer</a:t>
            </a:r>
          </a:p>
          <a:p>
            <a:pPr lvl="1"/>
            <a:r>
              <a:rPr lang="en-US" sz="3200" dirty="0" smtClean="0">
                <a:latin typeface="Times New Roman" panose="02020603050405020304" pitchFamily="18" charset="0"/>
                <a:cs typeface="Times New Roman" panose="02020603050405020304" pitchFamily="18" charset="0"/>
              </a:rPr>
              <a:t>Computer Definition</a:t>
            </a:r>
          </a:p>
          <a:p>
            <a:pPr lvl="1"/>
            <a:r>
              <a:rPr lang="en-US" sz="3200" dirty="0" smtClean="0">
                <a:latin typeface="Times New Roman" panose="02020603050405020304" pitchFamily="18" charset="0"/>
                <a:cs typeface="Times New Roman" panose="02020603050405020304" pitchFamily="18" charset="0"/>
              </a:rPr>
              <a:t>Social Effects of Computer</a:t>
            </a:r>
            <a:endParaRPr lang="en-AU"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10"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579691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821DF0-3940-490D-A245-0C1997FAE7DD}"/>
              </a:ext>
            </a:extLst>
          </p:cNvPr>
          <p:cNvSpPr>
            <a:spLocks noGrp="1"/>
          </p:cNvSpPr>
          <p:nvPr>
            <p:ph type="title"/>
          </p:nvPr>
        </p:nvSpPr>
        <p:spPr>
          <a:xfrm>
            <a:off x="1544127" y="1"/>
            <a:ext cx="10532853" cy="1466849"/>
          </a:xfrm>
        </p:spPr>
        <p:txBody>
          <a:bodyPr>
            <a:normAutofit/>
          </a:bodyPr>
          <a:lstStyle/>
          <a:p>
            <a:pPr algn="ctr"/>
            <a:r>
              <a:rPr lang="en-US" b="1" dirty="0">
                <a:latin typeface="Times New Roman" panose="02020603050405020304" pitchFamily="18" charset="0"/>
                <a:cs typeface="Times New Roman" panose="02020603050405020304" pitchFamily="18" charset="0"/>
              </a:rPr>
              <a:t>INTRODUCTION TO MICROSOFT OFFICE </a:t>
            </a:r>
            <a:r>
              <a:rPr lang="en-US" b="1" dirty="0" smtClean="0">
                <a:latin typeface="Times New Roman" panose="02020603050405020304" pitchFamily="18" charset="0"/>
                <a:cs typeface="Times New Roman" panose="02020603050405020304" pitchFamily="18" charset="0"/>
              </a:rPr>
              <a:t>365</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B96C51A3-EDB6-48E4-A301-975952B11D9B}"/>
              </a:ext>
            </a:extLst>
          </p:cNvPr>
          <p:cNvSpPr>
            <a:spLocks noGrp="1"/>
          </p:cNvSpPr>
          <p:nvPr>
            <p:ph idx="1"/>
          </p:nvPr>
        </p:nvSpPr>
        <p:spPr>
          <a:xfrm>
            <a:off x="672860" y="1552755"/>
            <a:ext cx="11628678" cy="4917056"/>
          </a:xfrm>
        </p:spPr>
        <p:txBody>
          <a:bodyPr>
            <a:normAutofit lnSpcReduction="10000"/>
          </a:bodyPr>
          <a:lstStyle/>
          <a:p>
            <a:pPr>
              <a:buFont typeface="Wingdings" panose="05000000000000000000" pitchFamily="2" charset="2"/>
              <a:buChar char="Ø"/>
            </a:pPr>
            <a:r>
              <a:rPr lang="en-US" sz="3600" dirty="0" smtClean="0">
                <a:latin typeface="Times New Roman" panose="02020603050405020304" pitchFamily="18" charset="0"/>
                <a:cs typeface="Times New Roman" panose="02020603050405020304" pitchFamily="18" charset="0"/>
              </a:rPr>
              <a:t>This chapter briefly explains the following;</a:t>
            </a:r>
          </a:p>
          <a:p>
            <a:pPr marL="839787" indent="-571500"/>
            <a:r>
              <a:rPr lang="en-US" sz="3600" dirty="0">
                <a:latin typeface="Times New Roman" panose="02020603050405020304" pitchFamily="18" charset="0"/>
                <a:cs typeface="Times New Roman" panose="02020603050405020304" pitchFamily="18" charset="0"/>
              </a:rPr>
              <a:t>T</a:t>
            </a:r>
            <a:r>
              <a:rPr lang="en-US" sz="3600" dirty="0" smtClean="0">
                <a:latin typeface="Times New Roman" panose="02020603050405020304" pitchFamily="18" charset="0"/>
                <a:cs typeface="Times New Roman" panose="02020603050405020304" pitchFamily="18" charset="0"/>
              </a:rPr>
              <a:t>he evolution of Computers some 200 years back in the 19</a:t>
            </a:r>
            <a:r>
              <a:rPr lang="en-US" sz="3600" baseline="30000" dirty="0" smtClean="0">
                <a:latin typeface="Times New Roman" panose="02020603050405020304" pitchFamily="18" charset="0"/>
                <a:cs typeface="Times New Roman" panose="02020603050405020304" pitchFamily="18" charset="0"/>
              </a:rPr>
              <a:t>th</a:t>
            </a:r>
            <a:r>
              <a:rPr lang="en-US" sz="3600" dirty="0" smtClean="0">
                <a:latin typeface="Times New Roman" panose="02020603050405020304" pitchFamily="18" charset="0"/>
                <a:cs typeface="Times New Roman" panose="02020603050405020304" pitchFamily="18" charset="0"/>
              </a:rPr>
              <a:t> century.</a:t>
            </a:r>
          </a:p>
          <a:p>
            <a:pPr marL="800100" indent="-571500"/>
            <a:r>
              <a:rPr lang="en-US" sz="3600" dirty="0" smtClean="0">
                <a:latin typeface="Times New Roman" panose="02020603050405020304" pitchFamily="18" charset="0"/>
                <a:cs typeface="Times New Roman" panose="02020603050405020304" pitchFamily="18" charset="0"/>
              </a:rPr>
              <a:t>The five generations of computers which brings light on  	how  the computer was initially developed and used.</a:t>
            </a:r>
          </a:p>
          <a:p>
            <a:pPr marL="839787" indent="-571500"/>
            <a:r>
              <a:rPr lang="en-US" sz="3600" dirty="0" smtClean="0">
                <a:latin typeface="Times New Roman" panose="02020603050405020304" pitchFamily="18" charset="0"/>
                <a:cs typeface="Times New Roman" panose="02020603050405020304" pitchFamily="18" charset="0"/>
              </a:rPr>
              <a:t>The advantages and disadvantages of each generation of Computer.</a:t>
            </a:r>
          </a:p>
          <a:p>
            <a:pPr marL="839787" lvl="1" indent="-571500"/>
            <a:r>
              <a:rPr lang="en-US" sz="3600" dirty="0">
                <a:latin typeface="Times New Roman" panose="02020603050405020304" pitchFamily="18" charset="0"/>
                <a:cs typeface="Times New Roman" panose="02020603050405020304" pitchFamily="18" charset="0"/>
              </a:rPr>
              <a:t>The use of computer has many positive impacts in both personal and business </a:t>
            </a:r>
            <a:r>
              <a:rPr lang="en-US" sz="3600" dirty="0" smtClean="0">
                <a:latin typeface="Times New Roman" panose="02020603050405020304" pitchFamily="18" charset="0"/>
                <a:cs typeface="Times New Roman" panose="02020603050405020304" pitchFamily="18" charset="0"/>
              </a:rPr>
              <a:t>environment.</a:t>
            </a:r>
          </a:p>
          <a:p>
            <a:endParaRPr lang="en-US" dirty="0"/>
          </a:p>
        </p:txBody>
      </p:sp>
      <p:sp>
        <p:nvSpPr>
          <p:cNvPr id="12" name="Footer Placeholder 11"/>
          <p:cNvSpPr>
            <a:spLocks noGrp="1"/>
          </p:cNvSpPr>
          <p:nvPr>
            <p:ph type="ftr" sz="quarter" idx="11"/>
          </p:nvPr>
        </p:nvSpPr>
        <p:spPr>
          <a:xfrm>
            <a:off x="9349256" y="6535738"/>
            <a:ext cx="4114800" cy="365125"/>
          </a:xfrm>
        </p:spPr>
        <p:txBody>
          <a:bodyPr/>
          <a:lstStyle/>
          <a:p>
            <a:r>
              <a:rPr lang="en-US" sz="900" smtClean="0">
                <a:latin typeface="Comic Sans MS" panose="030F0702030302020204" pitchFamily="66" charset="0"/>
              </a:rPr>
              <a:t>Prepared: by:  MS Odilia Tita</a:t>
            </a:r>
            <a:endParaRPr lang="en-AU" sz="900" dirty="0">
              <a:latin typeface="Comic Sans MS" panose="030F0702030302020204" pitchFamily="66" charset="0"/>
            </a:endParaRPr>
          </a:p>
        </p:txBody>
      </p:sp>
      <p:pic>
        <p:nvPicPr>
          <p:cNvPr id="14" name="Picture 2" descr="Microsoft 365 Copilot - Apps on Google Play"/>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69276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2292569" y="94285"/>
            <a:ext cx="7439025" cy="1325563"/>
          </a:xfrm>
        </p:spPr>
        <p:txBody>
          <a:bodyPr/>
          <a:lstStyle/>
          <a:p>
            <a:r>
              <a:rPr lang="en-AU" b="1" dirty="0" smtClean="0">
                <a:latin typeface="Times New Roman" panose="02020603050405020304" pitchFamily="18" charset="0"/>
                <a:cs typeface="Times New Roman" panose="02020603050405020304" pitchFamily="18" charset="0"/>
              </a:rPr>
              <a:t>Evolution of Computers</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203199" y="1557868"/>
            <a:ext cx="11778593" cy="5300132"/>
          </a:xfrm>
        </p:spPr>
        <p:txBody>
          <a:bodyPr>
            <a:normAutofit fontScale="92500" lnSpcReduction="20000"/>
          </a:bodyPr>
          <a:lstStyle/>
          <a:p>
            <a:r>
              <a:rPr lang="en-US" sz="3200" dirty="0">
                <a:latin typeface="Times New Roman" panose="02020603050405020304" pitchFamily="18" charset="0"/>
                <a:cs typeface="Times New Roman" panose="02020603050405020304" pitchFamily="18" charset="0"/>
              </a:rPr>
              <a:t>From the primitive era to the digital era, computers have changed the way we interact and do things at home, education, businesses and almost in our daily lives.</a:t>
            </a:r>
          </a:p>
          <a:p>
            <a:r>
              <a:rPr lang="en-US" sz="3200" dirty="0">
                <a:latin typeface="Times New Roman" panose="02020603050405020304" pitchFamily="18" charset="0"/>
                <a:cs typeface="Times New Roman" panose="02020603050405020304" pitchFamily="18" charset="0"/>
              </a:rPr>
              <a:t>Computers </a:t>
            </a:r>
            <a:r>
              <a:rPr lang="en-US" sz="3200" dirty="0" smtClean="0">
                <a:latin typeface="Times New Roman" panose="02020603050405020304" pitchFamily="18" charset="0"/>
                <a:cs typeface="Times New Roman" panose="02020603050405020304" pitchFamily="18" charset="0"/>
              </a:rPr>
              <a:t>today comes </a:t>
            </a:r>
            <a:r>
              <a:rPr lang="en-US" sz="3200" dirty="0">
                <a:latin typeface="Times New Roman" panose="02020603050405020304" pitchFamily="18" charset="0"/>
                <a:cs typeface="Times New Roman" panose="02020603050405020304" pitchFamily="18" charset="0"/>
              </a:rPr>
              <a:t>in the form of personal desktop computers, laptops and tablets have become such an important part of everyday living that it can be difficult to remember a time when they did not exist. In reality, computers as they are known and used today are still relatively new. Although computers have technically been in use since the abacus approximately 5000 years ago, it is modern computers that have had the greatest and most profound effect on society. The first full-sized digital computer in history was developed in </a:t>
            </a:r>
            <a:r>
              <a:rPr lang="en-US" sz="3200" dirty="0" smtClean="0">
                <a:latin typeface="Times New Roman" panose="02020603050405020304" pitchFamily="18" charset="0"/>
                <a:cs typeface="Times New Roman" panose="02020603050405020304" pitchFamily="18" charset="0"/>
              </a:rPr>
              <a:t>1944 called </a:t>
            </a:r>
            <a:r>
              <a:rPr lang="en-US" sz="3200" dirty="0">
                <a:latin typeface="Times New Roman" panose="02020603050405020304" pitchFamily="18" charset="0"/>
                <a:cs typeface="Times New Roman" panose="02020603050405020304" pitchFamily="18" charset="0"/>
              </a:rPr>
              <a:t>the Mark I, this computer was used only for calculations and weighed five tons. Despite its size and limited ability, it was the first of many that would start off generations of computer development and growth as discussed below</a:t>
            </a:r>
            <a:r>
              <a:rPr lang="en-US" sz="3200" dirty="0" smtClean="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535738"/>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8" name="Picture 2" descr="Microsoft 365 Copilot - Apps on Google Play"/>
          <p:cNvPicPr>
            <a:picLocks noChangeAspect="1" noChangeArrowheads="1"/>
          </p:cNvPicPr>
          <p:nvPr/>
        </p:nvPicPr>
        <p:blipFill rotWithShape="1">
          <a:blip r:embed="rId2">
            <a:extLst>
              <a:ext uri="{28A0092B-C50C-407E-A947-70E740481C1C}">
                <a14:useLocalDpi xmlns:a14="http://schemas.microsoft.com/office/drawing/2010/main" val="0"/>
              </a:ext>
            </a:extLst>
          </a:blip>
          <a:srcRect l="13620" t="14329" r="13966" b="15520"/>
          <a:stretch/>
        </p:blipFill>
        <p:spPr bwMode="auto">
          <a:xfrm>
            <a:off x="38815" y="47285"/>
            <a:ext cx="1637586" cy="141956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36005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chemeClr val="tx2">
                <a:lumMod val="20000"/>
                <a:lumOff val="80000"/>
              </a:schemeClr>
            </a:gs>
            <a:gs pos="9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2324100" y="365125"/>
            <a:ext cx="7439025" cy="1325563"/>
          </a:xfrm>
        </p:spPr>
        <p:txBody>
          <a:bodyPr/>
          <a:lstStyle/>
          <a:p>
            <a:r>
              <a:rPr lang="en-AU" b="1" dirty="0" smtClean="0">
                <a:latin typeface="Times New Roman" panose="02020603050405020304" pitchFamily="18" charset="0"/>
                <a:cs typeface="Times New Roman" panose="02020603050405020304" pitchFamily="18" charset="0"/>
              </a:rPr>
              <a:t>Evolution of Computers</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118533" y="1490133"/>
            <a:ext cx="12200467" cy="5002742"/>
          </a:xfrm>
        </p:spPr>
        <p:txBody>
          <a:bodyPr/>
          <a:lstStyle/>
          <a:p>
            <a:pPr marL="514350" indent="-514350">
              <a:buFont typeface="+mj-lt"/>
              <a:buAutoNum type="arabicPeriod"/>
            </a:pPr>
            <a:r>
              <a:rPr lang="en-US" sz="3200" dirty="0" smtClean="0">
                <a:latin typeface="Times New Roman" panose="02020603050405020304" pitchFamily="18" charset="0"/>
                <a:cs typeface="Times New Roman" panose="02020603050405020304" pitchFamily="18" charset="0"/>
              </a:rPr>
              <a:t>First Generation of Computers </a:t>
            </a:r>
            <a:r>
              <a:rPr lang="en-US" sz="3200" i="1" dirty="0" smtClean="0">
                <a:latin typeface="Times New Roman" panose="02020603050405020304" pitchFamily="18" charset="0"/>
                <a:cs typeface="Times New Roman" panose="02020603050405020304" pitchFamily="18" charset="0"/>
              </a:rPr>
              <a:t>(Vacuum tube)</a:t>
            </a:r>
            <a:r>
              <a:rPr lang="en-US" sz="3200" dirty="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1940 - 1956 </a:t>
            </a:r>
            <a:endParaRPr lang="en-US" sz="32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3200" dirty="0" smtClean="0">
                <a:latin typeface="Times New Roman" panose="02020603050405020304" pitchFamily="18" charset="0"/>
                <a:cs typeface="Times New Roman" panose="02020603050405020304" pitchFamily="18" charset="0"/>
              </a:rPr>
              <a:t>Second Generation of Computers </a:t>
            </a:r>
            <a:r>
              <a:rPr lang="en-US" sz="3200" i="1" dirty="0" smtClean="0">
                <a:latin typeface="Times New Roman" panose="02020603050405020304" pitchFamily="18" charset="0"/>
                <a:cs typeface="Times New Roman" panose="02020603050405020304" pitchFamily="18" charset="0"/>
              </a:rPr>
              <a:t>(Transistor):</a:t>
            </a:r>
            <a:r>
              <a:rPr lang="en-US" sz="3200" dirty="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1956 - 1963</a:t>
            </a:r>
          </a:p>
          <a:p>
            <a:pPr marL="514350" indent="-514350">
              <a:buFont typeface="+mj-lt"/>
              <a:buAutoNum type="arabicPeriod"/>
            </a:pPr>
            <a:r>
              <a:rPr lang="en-US" sz="3200" dirty="0" smtClean="0">
                <a:latin typeface="Times New Roman" panose="02020603050405020304" pitchFamily="18" charset="0"/>
                <a:cs typeface="Times New Roman" panose="02020603050405020304" pitchFamily="18" charset="0"/>
              </a:rPr>
              <a:t>Third Generation Computers </a:t>
            </a:r>
            <a:r>
              <a:rPr lang="en-US" sz="3200" i="1" dirty="0" smtClean="0">
                <a:latin typeface="Times New Roman" panose="02020603050405020304" pitchFamily="18" charset="0"/>
                <a:cs typeface="Times New Roman" panose="02020603050405020304" pitchFamily="18" charset="0"/>
              </a:rPr>
              <a:t>(Integrated Circuit(IC):</a:t>
            </a:r>
            <a:r>
              <a:rPr lang="en-US" sz="3200" dirty="0" smtClean="0">
                <a:latin typeface="Times New Roman" panose="02020603050405020304" pitchFamily="18" charset="0"/>
                <a:cs typeface="Times New Roman" panose="02020603050405020304" pitchFamily="18" charset="0"/>
              </a:rPr>
              <a:t>1964-1971 </a:t>
            </a:r>
          </a:p>
          <a:p>
            <a:pPr marL="514350" indent="-514350">
              <a:buFont typeface="+mj-lt"/>
              <a:buAutoNum type="arabicPeriod"/>
            </a:pPr>
            <a:r>
              <a:rPr lang="en-US" sz="3200" dirty="0" smtClean="0">
                <a:latin typeface="Times New Roman" panose="02020603050405020304" pitchFamily="18" charset="0"/>
                <a:cs typeface="Times New Roman" panose="02020603050405020304" pitchFamily="18" charset="0"/>
              </a:rPr>
              <a:t>Fourth Generation Computers </a:t>
            </a:r>
            <a:r>
              <a:rPr lang="en-US" sz="3200" i="1" dirty="0" smtClean="0">
                <a:latin typeface="Times New Roman" panose="02020603050405020304" pitchFamily="18" charset="0"/>
                <a:cs typeface="Times New Roman" panose="02020603050405020304" pitchFamily="18" charset="0"/>
              </a:rPr>
              <a:t>(Microprocessor):</a:t>
            </a:r>
            <a:r>
              <a:rPr lang="en-US" sz="3200" dirty="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1971-2010</a:t>
            </a:r>
            <a:endParaRPr lang="en-US" sz="3200" i="1" dirty="0" smtClean="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3200" dirty="0" smtClean="0">
                <a:latin typeface="Times New Roman" panose="02020603050405020304" pitchFamily="18" charset="0"/>
                <a:cs typeface="Times New Roman" panose="02020603050405020304" pitchFamily="18" charset="0"/>
              </a:rPr>
              <a:t>Fifth Generation Computers </a:t>
            </a:r>
            <a:r>
              <a:rPr lang="en-US" sz="3200" i="1" dirty="0" smtClean="0">
                <a:latin typeface="Times New Roman" panose="02020603050405020304" pitchFamily="18" charset="0"/>
                <a:cs typeface="Times New Roman" panose="02020603050405020304" pitchFamily="18" charset="0"/>
              </a:rPr>
              <a:t>(AI): </a:t>
            </a:r>
            <a:r>
              <a:rPr lang="en-US" sz="3200" dirty="0">
                <a:latin typeface="Times New Roman" panose="02020603050405020304" pitchFamily="18" charset="0"/>
                <a:cs typeface="Times New Roman" panose="02020603050405020304" pitchFamily="18" charset="0"/>
              </a:rPr>
              <a:t>Present and Beyond</a:t>
            </a:r>
            <a:endParaRPr lang="en-AU"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26325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1490134" y="299491"/>
            <a:ext cx="10701866" cy="1325563"/>
          </a:xfrm>
        </p:spPr>
        <p:txBody>
          <a:bodyPr/>
          <a:lstStyle/>
          <a:p>
            <a:r>
              <a:rPr lang="en-AU" b="1" dirty="0" smtClean="0">
                <a:latin typeface="Times New Roman" panose="02020603050405020304" pitchFamily="18" charset="0"/>
                <a:cs typeface="Times New Roman" panose="02020603050405020304" pitchFamily="18" charset="0"/>
              </a:rPr>
              <a:t>1. First Generation of Computers (Vacuum Tube)</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228600" y="1825625"/>
            <a:ext cx="11125200" cy="4351338"/>
          </a:xfrm>
        </p:spPr>
        <p:txBody>
          <a:bodyPr>
            <a:normAutofit fontScale="92500" lnSpcReduction="20000"/>
          </a:bodyPr>
          <a:lstStyle/>
          <a:p>
            <a:pPr marL="0" indent="0">
              <a:buNone/>
            </a:pPr>
            <a:r>
              <a:rPr lang="en-US" sz="3200" dirty="0">
                <a:latin typeface="Times New Roman" panose="02020603050405020304" pitchFamily="18" charset="0"/>
                <a:cs typeface="Times New Roman" panose="02020603050405020304" pitchFamily="18" charset="0"/>
              </a:rPr>
              <a:t>First generation computers bore little resemblance to computers of today, either in appearance or performance. The first generation of computers took place from 1940 to 1956 and was extremely large in size. The inner workings of the computers at that time were unsophisticated. These early machines required magnetic drums for memory and vacuum tubes that worked as switches and amplifiers. It was the vacuum tubes that were mainly responsible for the large size of the machines and the massive amounts of heat that they released. These computers produced so much heat that they regularly overheated despite large cooling units. First generation computers also used a very basic programming language that is referred to as machine language. </a:t>
            </a:r>
            <a:r>
              <a:rPr lang="en-US" sz="3200" b="1" i="1" dirty="0">
                <a:latin typeface="Times New Roman" panose="02020603050405020304" pitchFamily="18" charset="0"/>
                <a:cs typeface="Times New Roman" panose="02020603050405020304" pitchFamily="18" charset="0"/>
              </a:rPr>
              <a:t>Fig 1.1 shows Vacuum Tubes</a:t>
            </a:r>
            <a:r>
              <a:rPr lang="en-US" sz="3200" i="1" dirty="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a:p>
            <a:pPr marL="0" indent="0">
              <a:buNone/>
            </a:pPr>
            <a:endParaRPr lang="en-AU" sz="3200" b="1" i="1"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10"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549790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1466850" y="81347"/>
            <a:ext cx="10668327" cy="1325563"/>
          </a:xfrm>
        </p:spPr>
        <p:txBody>
          <a:bodyPr/>
          <a:lstStyle/>
          <a:p>
            <a:r>
              <a:rPr lang="en-AU" b="1" dirty="0" smtClean="0">
                <a:latin typeface="Times New Roman" panose="02020603050405020304" pitchFamily="18" charset="0"/>
                <a:cs typeface="Times New Roman" panose="02020603050405020304" pitchFamily="18" charset="0"/>
              </a:rPr>
              <a:t>First Generation of Computers (Vacuum Tube)</a:t>
            </a:r>
            <a:endParaRPr lang="en-AU" b="1" dirty="0">
              <a:latin typeface="Times New Roman" panose="02020603050405020304" pitchFamily="18" charset="0"/>
              <a:cs typeface="Times New Roman" panose="02020603050405020304" pitchFamily="18" charset="0"/>
            </a:endParaRPr>
          </a:p>
        </p:txBody>
      </p:sp>
      <p:pic>
        <p:nvPicPr>
          <p:cNvPr id="6" name="Content Placeholder 5"/>
          <p:cNvPicPr>
            <a:picLocks noGrp="1"/>
          </p:cNvPicPr>
          <p:nvPr>
            <p:ph idx="1"/>
          </p:nvPr>
        </p:nvPicPr>
        <p:blipFill rotWithShape="1">
          <a:blip r:embed="rId2">
            <a:extLst>
              <a:ext uri="{28A0092B-C50C-407E-A947-70E740481C1C}">
                <a14:useLocalDpi xmlns:a14="http://schemas.microsoft.com/office/drawing/2010/main" val="0"/>
              </a:ext>
            </a:extLst>
          </a:blip>
          <a:srcRect t="12319" b="5435"/>
          <a:stretch/>
        </p:blipFill>
        <p:spPr bwMode="auto">
          <a:xfrm>
            <a:off x="329737" y="1525687"/>
            <a:ext cx="2857500" cy="2162165"/>
          </a:xfrm>
          <a:prstGeom prst="rect">
            <a:avLst/>
          </a:prstGeom>
          <a:noFill/>
          <a:ln>
            <a:noFill/>
          </a:ln>
          <a:extLst>
            <a:ext uri="{53640926-AAD7-44D8-BBD7-CCE9431645EC}">
              <a14:shadowObscured xmlns:a14="http://schemas.microsoft.com/office/drawing/2010/main"/>
            </a:ext>
          </a:extLst>
        </p:spPr>
      </p:pic>
      <p:sp>
        <p:nvSpPr>
          <p:cNvPr id="9" name="Footer Placeholder 8"/>
          <p:cNvSpPr>
            <a:spLocks noGrp="1"/>
          </p:cNvSpPr>
          <p:nvPr>
            <p:ph type="ftr" sz="quarter" idx="11"/>
          </p:nvPr>
        </p:nvSpPr>
        <p:spPr>
          <a:xfrm>
            <a:off x="8020378"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8" name="Picture 7"/>
          <p:cNvPicPr/>
          <p:nvPr/>
        </p:nvPicPr>
        <p:blipFill>
          <a:blip r:embed="rId3">
            <a:extLst>
              <a:ext uri="{28A0092B-C50C-407E-A947-70E740481C1C}">
                <a14:useLocalDpi xmlns:a14="http://schemas.microsoft.com/office/drawing/2010/main" val="0"/>
              </a:ext>
            </a:extLst>
          </a:blip>
          <a:stretch>
            <a:fillRect/>
          </a:stretch>
        </p:blipFill>
        <p:spPr>
          <a:xfrm>
            <a:off x="329737" y="3687852"/>
            <a:ext cx="2857500" cy="1847850"/>
          </a:xfrm>
          <a:prstGeom prst="rect">
            <a:avLst/>
          </a:prstGeom>
        </p:spPr>
      </p:pic>
      <p:sp>
        <p:nvSpPr>
          <p:cNvPr id="4" name="Rectangle 3"/>
          <p:cNvSpPr/>
          <p:nvPr/>
        </p:nvSpPr>
        <p:spPr>
          <a:xfrm>
            <a:off x="-399051" y="5661779"/>
            <a:ext cx="4845169" cy="369332"/>
          </a:xfrm>
          <a:prstGeom prst="rect">
            <a:avLst/>
          </a:prstGeom>
        </p:spPr>
        <p:txBody>
          <a:bodyPr wrap="square">
            <a:spAutoFit/>
          </a:bodyPr>
          <a:lstStyle/>
          <a:p>
            <a:pPr marL="457200" algn="just">
              <a:lnSpc>
                <a:spcPct val="150000"/>
              </a:lnSpc>
              <a:spcAft>
                <a:spcPts val="0"/>
              </a:spcAft>
            </a:pPr>
            <a:r>
              <a:rPr lang="en-US" sz="1200" b="1" i="1" dirty="0">
                <a:latin typeface="Times New Roman" panose="02020603050405020304" pitchFamily="18" charset="0"/>
                <a:ea typeface="Calibri" panose="020F0502020204030204" pitchFamily="34" charset="0"/>
                <a:cs typeface="Times New Roman" panose="02020603050405020304" pitchFamily="18" charset="0"/>
              </a:rPr>
              <a:t>Fig 1.1 showing different vacuum tubes using in ENIAC</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4"/>
          <p:cNvSpPr/>
          <p:nvPr/>
        </p:nvSpPr>
        <p:spPr>
          <a:xfrm>
            <a:off x="4119751" y="902855"/>
            <a:ext cx="8527148" cy="5262979"/>
          </a:xfrm>
          <a:prstGeom prst="rect">
            <a:avLst/>
          </a:prstGeom>
        </p:spPr>
        <p:txBody>
          <a:bodyPr wrap="square">
            <a:spAutoFit/>
          </a:bodyPr>
          <a:lstStyle/>
          <a:p>
            <a:pPr>
              <a:lnSpc>
                <a:spcPct val="150000"/>
              </a:lnSpc>
              <a:spcAft>
                <a:spcPts val="0"/>
              </a:spcAft>
            </a:pPr>
            <a:r>
              <a:rPr lang="en-US" sz="3200" dirty="0" smtClean="0">
                <a:latin typeface="Times New Roman" panose="02020603050405020304" pitchFamily="18" charset="0"/>
                <a:ea typeface="Times New Roman" panose="02020603050405020304" pitchFamily="18" charset="0"/>
                <a:cs typeface="Times New Roman" panose="02020603050405020304" pitchFamily="18" charset="0"/>
              </a:rPr>
              <a:t>These </a:t>
            </a:r>
            <a:r>
              <a:rPr lang="en-US" sz="3200" dirty="0">
                <a:latin typeface="Times New Roman" panose="02020603050405020304" pitchFamily="18" charset="0"/>
                <a:ea typeface="Times New Roman" panose="02020603050405020304" pitchFamily="18" charset="0"/>
                <a:cs typeface="Times New Roman" panose="02020603050405020304" pitchFamily="18" charset="0"/>
              </a:rPr>
              <a:t>are examples of first generation of computer: </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50000"/>
              </a:lnSpc>
              <a:spcAft>
                <a:spcPts val="0"/>
              </a:spcAft>
              <a:buFont typeface="Wingdings" panose="05000000000000000000" pitchFamily="2" charset="2"/>
              <a:buChar char="ü"/>
              <a:tabLst>
                <a:tab pos="457200" algn="l"/>
              </a:tabLst>
            </a:pPr>
            <a:r>
              <a:rPr lang="en-US" sz="3200" dirty="0">
                <a:latin typeface="Times New Roman" panose="02020603050405020304" pitchFamily="18" charset="0"/>
                <a:ea typeface="Calibri" panose="020F0502020204030204" pitchFamily="34" charset="0"/>
                <a:cs typeface="Times New Roman" panose="02020603050405020304" pitchFamily="18" charset="0"/>
              </a:rPr>
              <a:t>ENIAC</a:t>
            </a:r>
          </a:p>
          <a:p>
            <a:pPr marL="342900" lvl="0" indent="-342900">
              <a:lnSpc>
                <a:spcPct val="150000"/>
              </a:lnSpc>
              <a:spcAft>
                <a:spcPts val="0"/>
              </a:spcAft>
              <a:buFont typeface="Wingdings" panose="05000000000000000000" pitchFamily="2" charset="2"/>
              <a:buChar char="ü"/>
              <a:tabLst>
                <a:tab pos="457200" algn="l"/>
              </a:tabLst>
            </a:pPr>
            <a:r>
              <a:rPr lang="en-US" sz="3200" dirty="0">
                <a:latin typeface="Times New Roman" panose="02020603050405020304" pitchFamily="18" charset="0"/>
                <a:ea typeface="Calibri" panose="020F0502020204030204" pitchFamily="34" charset="0"/>
                <a:cs typeface="Times New Roman" panose="02020603050405020304" pitchFamily="18" charset="0"/>
              </a:rPr>
              <a:t>EDVAC</a:t>
            </a:r>
          </a:p>
          <a:p>
            <a:pPr marL="342900" lvl="0" indent="-342900">
              <a:lnSpc>
                <a:spcPct val="150000"/>
              </a:lnSpc>
              <a:spcAft>
                <a:spcPts val="0"/>
              </a:spcAft>
              <a:buFont typeface="Wingdings" panose="05000000000000000000" pitchFamily="2" charset="2"/>
              <a:buChar char="ü"/>
              <a:tabLst>
                <a:tab pos="457200" algn="l"/>
              </a:tabLst>
            </a:pPr>
            <a:r>
              <a:rPr lang="en-US" sz="3200" dirty="0">
                <a:latin typeface="Times New Roman" panose="02020603050405020304" pitchFamily="18" charset="0"/>
                <a:ea typeface="Calibri" panose="020F0502020204030204" pitchFamily="34" charset="0"/>
                <a:cs typeface="Times New Roman" panose="02020603050405020304" pitchFamily="18" charset="0"/>
              </a:rPr>
              <a:t>UNIVAC</a:t>
            </a:r>
          </a:p>
          <a:p>
            <a:pPr marL="342900" lvl="0" indent="-342900">
              <a:lnSpc>
                <a:spcPct val="150000"/>
              </a:lnSpc>
              <a:spcAft>
                <a:spcPts val="0"/>
              </a:spcAft>
              <a:buFont typeface="Wingdings" panose="05000000000000000000" pitchFamily="2" charset="2"/>
              <a:buChar char="ü"/>
              <a:tabLst>
                <a:tab pos="457200" algn="l"/>
              </a:tabLst>
            </a:pPr>
            <a:r>
              <a:rPr lang="en-US" sz="3200" dirty="0">
                <a:latin typeface="Times New Roman" panose="02020603050405020304" pitchFamily="18" charset="0"/>
                <a:ea typeface="Calibri" panose="020F0502020204030204" pitchFamily="34" charset="0"/>
                <a:cs typeface="Times New Roman" panose="02020603050405020304" pitchFamily="18" charset="0"/>
              </a:rPr>
              <a:t>IBM-701</a:t>
            </a:r>
          </a:p>
          <a:p>
            <a:pPr marL="342900" lvl="0" indent="-342900">
              <a:lnSpc>
                <a:spcPct val="150000"/>
              </a:lnSpc>
              <a:spcAft>
                <a:spcPts val="0"/>
              </a:spcAft>
              <a:buFont typeface="Wingdings" panose="05000000000000000000" pitchFamily="2" charset="2"/>
              <a:buChar char="ü"/>
              <a:tabLst>
                <a:tab pos="457200" algn="l"/>
              </a:tabLst>
            </a:pPr>
            <a:r>
              <a:rPr lang="en-US" sz="3200" dirty="0">
                <a:latin typeface="Times New Roman" panose="02020603050405020304" pitchFamily="18" charset="0"/>
                <a:ea typeface="Calibri" panose="020F0502020204030204" pitchFamily="34" charset="0"/>
                <a:cs typeface="Times New Roman" panose="02020603050405020304" pitchFamily="18" charset="0"/>
              </a:rPr>
              <a:t>IBM-650</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1" name="Picture 2" descr="Microsoft 365 Copilot - Apps on Google Play"/>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73534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1462154" y="8120"/>
            <a:ext cx="10729846" cy="1325563"/>
          </a:xfrm>
        </p:spPr>
        <p:txBody>
          <a:bodyPr>
            <a:normAutofit/>
          </a:bodyPr>
          <a:lstStyle/>
          <a:p>
            <a:r>
              <a:rPr lang="en-AU" b="1" dirty="0" smtClean="0">
                <a:latin typeface="Times New Roman" panose="02020603050405020304" pitchFamily="18" charset="0"/>
                <a:cs typeface="Times New Roman" panose="02020603050405020304" pitchFamily="18" charset="0"/>
              </a:rPr>
              <a:t>First Generation of Computers (Vacuum Tube) Advantages &amp; Disadvantages</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276225" y="1333683"/>
            <a:ext cx="11077575" cy="4857052"/>
          </a:xfrm>
        </p:spPr>
        <p:txBody>
          <a:bodyPr>
            <a:noAutofit/>
          </a:bodyPr>
          <a:lstStyle/>
          <a:p>
            <a:r>
              <a:rPr lang="en-US" sz="2000" b="1" dirty="0">
                <a:latin typeface="Times New Roman" panose="02020603050405020304" pitchFamily="18" charset="0"/>
                <a:cs typeface="Times New Roman" panose="02020603050405020304" pitchFamily="18" charset="0"/>
              </a:rPr>
              <a:t>Advantages:</a:t>
            </a:r>
            <a:r>
              <a:rPr lang="en-US" sz="2000" dirty="0">
                <a:latin typeface="Times New Roman" panose="02020603050405020304" pitchFamily="18" charset="0"/>
                <a:cs typeface="Times New Roman" panose="02020603050405020304" pitchFamily="18" charset="0"/>
              </a:rPr>
              <a:t> </a:t>
            </a:r>
          </a:p>
          <a:p>
            <a:pPr lvl="0"/>
            <a:r>
              <a:rPr lang="en-US" sz="2000" dirty="0">
                <a:latin typeface="Times New Roman" panose="02020603050405020304" pitchFamily="18" charset="0"/>
                <a:cs typeface="Times New Roman" panose="02020603050405020304" pitchFamily="18" charset="0"/>
              </a:rPr>
              <a:t>It made use of vacuum tubes which are the only electronic component available during those days.</a:t>
            </a:r>
          </a:p>
          <a:p>
            <a:pPr lvl="0"/>
            <a:r>
              <a:rPr lang="en-US" sz="2000" dirty="0">
                <a:latin typeface="Times New Roman" panose="02020603050405020304" pitchFamily="18" charset="0"/>
                <a:cs typeface="Times New Roman" panose="02020603050405020304" pitchFamily="18" charset="0"/>
              </a:rPr>
              <a:t>These computers could calculate in milliseconds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Disadvantages:</a:t>
            </a:r>
            <a:r>
              <a:rPr lang="en-US" sz="2000" dirty="0">
                <a:latin typeface="Times New Roman" panose="02020603050405020304" pitchFamily="18" charset="0"/>
                <a:cs typeface="Times New Roman" panose="02020603050405020304" pitchFamily="18" charset="0"/>
              </a:rPr>
              <a:t> </a:t>
            </a:r>
          </a:p>
          <a:p>
            <a:pPr lvl="0"/>
            <a:r>
              <a:rPr lang="en-US" sz="2000" dirty="0">
                <a:latin typeface="Times New Roman" panose="02020603050405020304" pitchFamily="18" charset="0"/>
                <a:cs typeface="Times New Roman" panose="02020603050405020304" pitchFamily="18" charset="0"/>
              </a:rPr>
              <a:t>These were very big in size; weight was about 30 tones.</a:t>
            </a:r>
          </a:p>
          <a:p>
            <a:pPr lvl="0"/>
            <a:r>
              <a:rPr lang="en-US" sz="2000" dirty="0">
                <a:latin typeface="Times New Roman" panose="02020603050405020304" pitchFamily="18" charset="0"/>
                <a:cs typeface="Times New Roman" panose="02020603050405020304" pitchFamily="18" charset="0"/>
              </a:rPr>
              <a:t>These computers were based on vacuum tubes.</a:t>
            </a:r>
          </a:p>
          <a:p>
            <a:pPr lvl="0"/>
            <a:r>
              <a:rPr lang="en-US" sz="2000" dirty="0">
                <a:latin typeface="Times New Roman" panose="02020603050405020304" pitchFamily="18" charset="0"/>
                <a:cs typeface="Times New Roman" panose="02020603050405020304" pitchFamily="18" charset="0"/>
              </a:rPr>
              <a:t>These computers were very costly.</a:t>
            </a:r>
          </a:p>
          <a:p>
            <a:pPr lvl="0"/>
            <a:r>
              <a:rPr lang="en-US" sz="2000" dirty="0">
                <a:latin typeface="Times New Roman" panose="02020603050405020304" pitchFamily="18" charset="0"/>
                <a:cs typeface="Times New Roman" panose="02020603050405020304" pitchFamily="18" charset="0"/>
              </a:rPr>
              <a:t>It could store only a small amount of information due to the presence of magnetic drums.</a:t>
            </a:r>
          </a:p>
          <a:p>
            <a:pPr lvl="0"/>
            <a:r>
              <a:rPr lang="en-US" sz="2000" dirty="0">
                <a:latin typeface="Times New Roman" panose="02020603050405020304" pitchFamily="18" charset="0"/>
                <a:cs typeface="Times New Roman" panose="02020603050405020304" pitchFamily="18" charset="0"/>
              </a:rPr>
              <a:t>As the invention of first-generation computers involves vacuum tubes, so another disadvantage of these computers was, vacuum tubes require a large cooling system.</a:t>
            </a:r>
          </a:p>
          <a:p>
            <a:pPr lvl="0"/>
            <a:r>
              <a:rPr lang="en-US" sz="2000" dirty="0">
                <a:latin typeface="Times New Roman" panose="02020603050405020304" pitchFamily="18" charset="0"/>
                <a:cs typeface="Times New Roman" panose="02020603050405020304" pitchFamily="18" charset="0"/>
              </a:rPr>
              <a:t>Very less work efficiency.</a:t>
            </a:r>
          </a:p>
          <a:p>
            <a:pPr lvl="0"/>
            <a:r>
              <a:rPr lang="en-US" sz="2000" dirty="0">
                <a:latin typeface="Times New Roman" panose="02020603050405020304" pitchFamily="18" charset="0"/>
                <a:cs typeface="Times New Roman" panose="02020603050405020304" pitchFamily="18" charset="0"/>
              </a:rPr>
              <a:t>Limited programming capabilities and punch cards were used to take inputs.</a:t>
            </a:r>
          </a:p>
          <a:p>
            <a:pPr lvl="0"/>
            <a:r>
              <a:rPr lang="en-US" sz="2000" dirty="0">
                <a:latin typeface="Times New Roman" panose="02020603050405020304" pitchFamily="18" charset="0"/>
                <a:cs typeface="Times New Roman" panose="02020603050405020304" pitchFamily="18" charset="0"/>
              </a:rPr>
              <a:t> Large amount of energy consumption.</a:t>
            </a:r>
          </a:p>
          <a:p>
            <a:pPr lvl="0"/>
            <a:r>
              <a:rPr lang="en-US" sz="2000" dirty="0">
                <a:latin typeface="Times New Roman" panose="02020603050405020304" pitchFamily="18" charset="0"/>
                <a:cs typeface="Times New Roman" panose="02020603050405020304" pitchFamily="18" charset="0"/>
              </a:rPr>
              <a:t>Not reliable and constant maintenance is required</a:t>
            </a:r>
          </a:p>
          <a:p>
            <a:pPr marL="0" indent="0">
              <a:buNone/>
            </a:pPr>
            <a:endParaRPr lang="en-AU" sz="2000" b="1" i="1"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7915275"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6"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49108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1752600" y="47285"/>
            <a:ext cx="10337800" cy="1325563"/>
          </a:xfrm>
        </p:spPr>
        <p:txBody>
          <a:bodyPr/>
          <a:lstStyle/>
          <a:p>
            <a:r>
              <a:rPr lang="en-AU" b="1" dirty="0" smtClean="0">
                <a:latin typeface="Times New Roman" panose="02020603050405020304" pitchFamily="18" charset="0"/>
                <a:cs typeface="Times New Roman" panose="02020603050405020304" pitchFamily="18" charset="0"/>
              </a:rPr>
              <a:t>1. Second Generation of Computers (Transistor)</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220133" y="1566333"/>
            <a:ext cx="11811000" cy="4610630"/>
          </a:xfrm>
        </p:spPr>
        <p:txBody>
          <a:bodyPr>
            <a:normAutofit/>
          </a:bodyPr>
          <a:lstStyle/>
          <a:p>
            <a:r>
              <a:rPr lang="en-US" sz="3200" dirty="0">
                <a:latin typeface="Times New Roman" panose="02020603050405020304" pitchFamily="18" charset="0"/>
                <a:cs typeface="Times New Roman" panose="02020603050405020304" pitchFamily="18" charset="0"/>
              </a:rPr>
              <a:t>The second generation (from 1956 to 1963) of computers managed to do away with vacuum tubes in lieu of transistors. This allowed them to use less electricity and generate less heat. Second generation computers were also significantly faster than their predecessors. Another significant change was in the size of the computers, which were smaller. Transistor computers also developed core memory which they used alongside magnetic storage.</a:t>
            </a:r>
            <a:r>
              <a:rPr lang="en-US" sz="3200" i="1" dirty="0">
                <a:latin typeface="Times New Roman" panose="02020603050405020304" pitchFamily="18" charset="0"/>
                <a:cs typeface="Times New Roman" panose="02020603050405020304" pitchFamily="18" charset="0"/>
              </a:rPr>
              <a:t> </a:t>
            </a:r>
            <a:r>
              <a:rPr lang="en-US" sz="3200" b="1" i="1" dirty="0">
                <a:latin typeface="Times New Roman" panose="02020603050405020304" pitchFamily="18" charset="0"/>
                <a:cs typeface="Times New Roman" panose="02020603050405020304" pitchFamily="18" charset="0"/>
              </a:rPr>
              <a:t>Fig 1.2 shows Transistors</a:t>
            </a:r>
            <a:r>
              <a:rPr lang="en-US" sz="3200" i="1" dirty="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8" name="Picture 2" descr="Microsoft 365 Copilot - Apps on Google Play"/>
          <p:cNvPicPr>
            <a:picLocks noChangeAspect="1" noChangeArrowheads="1"/>
          </p:cNvPicPr>
          <p:nvPr/>
        </p:nvPicPr>
        <p:blipFill rotWithShape="1">
          <a:blip r:embed="rId2">
            <a:extLst>
              <a:ext uri="{28A0092B-C50C-407E-A947-70E740481C1C}">
                <a14:useLocalDpi xmlns:a14="http://schemas.microsoft.com/office/drawing/2010/main" val="0"/>
              </a:ext>
            </a:extLst>
          </a:blip>
          <a:srcRect l="13620" t="14329" r="13966" b="15520"/>
          <a:stretch/>
        </p:blipFill>
        <p:spPr bwMode="auto">
          <a:xfrm>
            <a:off x="38815" y="47285"/>
            <a:ext cx="1637586" cy="141956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059292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2057400" y="299491"/>
            <a:ext cx="9735207" cy="1325563"/>
          </a:xfrm>
        </p:spPr>
        <p:txBody>
          <a:bodyPr/>
          <a:lstStyle/>
          <a:p>
            <a:r>
              <a:rPr lang="en-AU" b="1" dirty="0" smtClean="0">
                <a:latin typeface="Times New Roman" panose="02020603050405020304" pitchFamily="18" charset="0"/>
                <a:cs typeface="Times New Roman" panose="02020603050405020304" pitchFamily="18" charset="0"/>
              </a:rPr>
              <a:t>Second Generation of Computers (Transistor)</a:t>
            </a:r>
            <a:endParaRPr lang="en-AU" b="1"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20378"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sp>
        <p:nvSpPr>
          <p:cNvPr id="4" name="Rectangle 3"/>
          <p:cNvSpPr/>
          <p:nvPr/>
        </p:nvSpPr>
        <p:spPr>
          <a:xfrm>
            <a:off x="406340" y="5930695"/>
            <a:ext cx="4845169" cy="276999"/>
          </a:xfrm>
          <a:prstGeom prst="rect">
            <a:avLst/>
          </a:prstGeom>
        </p:spPr>
        <p:txBody>
          <a:bodyPr wrap="square">
            <a:spAutoFit/>
          </a:bodyPr>
          <a:lstStyle/>
          <a:p>
            <a:r>
              <a:rPr lang="en-US" sz="1200" b="1" i="1" dirty="0">
                <a:latin typeface="Times New Roman" panose="02020603050405020304" pitchFamily="18" charset="0"/>
                <a:cs typeface="Times New Roman" panose="02020603050405020304" pitchFamily="18" charset="0"/>
              </a:rPr>
              <a:t>Fig 1.2 showing different transistors</a:t>
            </a:r>
            <a:endParaRPr lang="en-US" sz="1200" dirty="0">
              <a:latin typeface="Times New Roman" panose="02020603050405020304" pitchFamily="18" charset="0"/>
              <a:cs typeface="Times New Roman" panose="02020603050405020304" pitchFamily="18" charset="0"/>
            </a:endParaRPr>
          </a:p>
        </p:txBody>
      </p:sp>
      <p:sp>
        <p:nvSpPr>
          <p:cNvPr id="5" name="Rectangle 4"/>
          <p:cNvSpPr/>
          <p:nvPr/>
        </p:nvSpPr>
        <p:spPr>
          <a:xfrm>
            <a:off x="4114800" y="1875334"/>
            <a:ext cx="7811156" cy="2308324"/>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Below are examples of second generation of computer: </a:t>
            </a:r>
          </a:p>
          <a:p>
            <a:pPr lvl="0"/>
            <a:r>
              <a:rPr lang="en-US" sz="2400" dirty="0">
                <a:latin typeface="Times New Roman" panose="02020603050405020304" pitchFamily="18" charset="0"/>
                <a:cs typeface="Times New Roman" panose="02020603050405020304" pitchFamily="18" charset="0"/>
              </a:rPr>
              <a:t>Honeywell 400</a:t>
            </a:r>
          </a:p>
          <a:p>
            <a:pPr lvl="0"/>
            <a:r>
              <a:rPr lang="en-US" sz="2400" dirty="0">
                <a:latin typeface="Times New Roman" panose="02020603050405020304" pitchFamily="18" charset="0"/>
                <a:cs typeface="Times New Roman" panose="02020603050405020304" pitchFamily="18" charset="0"/>
              </a:rPr>
              <a:t>IBM 7094</a:t>
            </a:r>
          </a:p>
          <a:p>
            <a:pPr lvl="0"/>
            <a:r>
              <a:rPr lang="en-US" sz="2400" dirty="0">
                <a:latin typeface="Times New Roman" panose="02020603050405020304" pitchFamily="18" charset="0"/>
                <a:cs typeface="Times New Roman" panose="02020603050405020304" pitchFamily="18" charset="0"/>
              </a:rPr>
              <a:t>CDC 1604</a:t>
            </a:r>
          </a:p>
          <a:p>
            <a:pPr lvl="0"/>
            <a:r>
              <a:rPr lang="en-US" sz="2400" dirty="0">
                <a:latin typeface="Times New Roman" panose="02020603050405020304" pitchFamily="18" charset="0"/>
                <a:cs typeface="Times New Roman" panose="02020603050405020304" pitchFamily="18" charset="0"/>
              </a:rPr>
              <a:t>CDC 3600</a:t>
            </a:r>
          </a:p>
          <a:p>
            <a:pPr lvl="0"/>
            <a:r>
              <a:rPr lang="en-US" sz="2400" dirty="0">
                <a:latin typeface="Times New Roman" panose="02020603050405020304" pitchFamily="18" charset="0"/>
                <a:cs typeface="Times New Roman" panose="02020603050405020304" pitchFamily="18" charset="0"/>
              </a:rPr>
              <a:t>UNIVAC 1108</a:t>
            </a:r>
          </a:p>
        </p:txBody>
      </p:sp>
      <p:pic>
        <p:nvPicPr>
          <p:cNvPr id="7" name="Picture 6"/>
          <p:cNvPicPr>
            <a:picLocks noChangeAspect="1"/>
          </p:cNvPicPr>
          <p:nvPr/>
        </p:nvPicPr>
        <p:blipFill>
          <a:blip r:embed="rId2"/>
          <a:stretch>
            <a:fillRect/>
          </a:stretch>
        </p:blipFill>
        <p:spPr>
          <a:xfrm>
            <a:off x="266044" y="1825625"/>
            <a:ext cx="3649089" cy="986778"/>
          </a:xfrm>
          <a:prstGeom prst="rect">
            <a:avLst/>
          </a:prstGeom>
        </p:spPr>
      </p:pic>
      <p:pic>
        <p:nvPicPr>
          <p:cNvPr id="11" name="Content Placeholder 10"/>
          <p:cNvPicPr>
            <a:picLocks noGrp="1"/>
          </p:cNvPicPr>
          <p:nvPr>
            <p:ph idx="1"/>
          </p:nvPr>
        </p:nvPicPr>
        <p:blipFill>
          <a:blip r:embed="rId3">
            <a:extLst>
              <a:ext uri="{28A0092B-C50C-407E-A947-70E740481C1C}">
                <a14:useLocalDpi xmlns:a14="http://schemas.microsoft.com/office/drawing/2010/main" val="0"/>
              </a:ext>
            </a:extLst>
          </a:blip>
          <a:stretch>
            <a:fillRect/>
          </a:stretch>
        </p:blipFill>
        <p:spPr>
          <a:xfrm>
            <a:off x="266044" y="2860665"/>
            <a:ext cx="3649089" cy="2949925"/>
          </a:xfrm>
          <a:prstGeom prst="rect">
            <a:avLst/>
          </a:prstGeom>
        </p:spPr>
      </p:pic>
      <p:pic>
        <p:nvPicPr>
          <p:cNvPr id="12" name="Picture 2" descr="Microsoft 365 Copilot - Apps on Google Play"/>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49989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1927821" y="36931"/>
            <a:ext cx="10340379" cy="1325563"/>
          </a:xfrm>
        </p:spPr>
        <p:txBody>
          <a:bodyPr>
            <a:normAutofit/>
          </a:bodyPr>
          <a:lstStyle/>
          <a:p>
            <a:r>
              <a:rPr lang="en-AU" b="1" dirty="0" smtClean="0">
                <a:latin typeface="Times New Roman" panose="02020603050405020304" pitchFamily="18" charset="0"/>
                <a:cs typeface="Times New Roman" panose="02020603050405020304" pitchFamily="18" charset="0"/>
              </a:rPr>
              <a:t>Second Generation of Computers (Transistor) Advantages &amp; Disadvantages</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285750" y="1338316"/>
            <a:ext cx="11077575" cy="4857052"/>
          </a:xfrm>
        </p:spPr>
        <p:txBody>
          <a:bodyPr>
            <a:noAutofit/>
          </a:bodyPr>
          <a:lstStyle/>
          <a:p>
            <a:pPr marL="0" indent="0">
              <a:buNone/>
            </a:pPr>
            <a:r>
              <a:rPr lang="en-US" sz="2100" b="1" dirty="0">
                <a:latin typeface="Times New Roman" panose="02020603050405020304" pitchFamily="18" charset="0"/>
                <a:cs typeface="Times New Roman" panose="02020603050405020304" pitchFamily="18" charset="0"/>
              </a:rPr>
              <a:t>Advantages:</a:t>
            </a:r>
            <a:r>
              <a:rPr lang="en-US" sz="2100" dirty="0">
                <a:latin typeface="Times New Roman" panose="02020603050405020304" pitchFamily="18" charset="0"/>
                <a:cs typeface="Times New Roman" panose="02020603050405020304" pitchFamily="18" charset="0"/>
              </a:rPr>
              <a:t> </a:t>
            </a:r>
          </a:p>
          <a:p>
            <a:pPr lvl="0"/>
            <a:r>
              <a:rPr lang="en-US" sz="2100" dirty="0">
                <a:latin typeface="Times New Roman" panose="02020603050405020304" pitchFamily="18" charset="0"/>
                <a:cs typeface="Times New Roman" panose="02020603050405020304" pitchFamily="18" charset="0"/>
              </a:rPr>
              <a:t>Due to the presence of transistors instead of vacuum tubes, the size of electron component decreased. This resulted in reducing the size of a computer as compared to first generation computers.</a:t>
            </a:r>
          </a:p>
          <a:p>
            <a:pPr lvl="0"/>
            <a:r>
              <a:rPr lang="en-US" sz="2100" dirty="0">
                <a:latin typeface="Times New Roman" panose="02020603050405020304" pitchFamily="18" charset="0"/>
                <a:cs typeface="Times New Roman" panose="02020603050405020304" pitchFamily="18" charset="0"/>
              </a:rPr>
              <a:t>Less energy and not produce as much heat as the first generation.</a:t>
            </a:r>
          </a:p>
          <a:p>
            <a:pPr lvl="0"/>
            <a:r>
              <a:rPr lang="en-US" sz="2100" dirty="0">
                <a:latin typeface="Times New Roman" panose="02020603050405020304" pitchFamily="18" charset="0"/>
                <a:cs typeface="Times New Roman" panose="02020603050405020304" pitchFamily="18" charset="0"/>
              </a:rPr>
              <a:t>Assembly language and punch cards were used for input.</a:t>
            </a:r>
          </a:p>
          <a:p>
            <a:pPr lvl="0"/>
            <a:r>
              <a:rPr lang="en-US" sz="2100" dirty="0">
                <a:latin typeface="Times New Roman" panose="02020603050405020304" pitchFamily="18" charset="0"/>
                <a:cs typeface="Times New Roman" panose="02020603050405020304" pitchFamily="18" charset="0"/>
              </a:rPr>
              <a:t>Low cost than first generation computers.</a:t>
            </a:r>
          </a:p>
          <a:p>
            <a:pPr lvl="0"/>
            <a:r>
              <a:rPr lang="en-US" sz="2100" dirty="0">
                <a:latin typeface="Times New Roman" panose="02020603050405020304" pitchFamily="18" charset="0"/>
                <a:cs typeface="Times New Roman" panose="02020603050405020304" pitchFamily="18" charset="0"/>
              </a:rPr>
              <a:t>Better speed, calculate data in microseconds.</a:t>
            </a:r>
          </a:p>
          <a:p>
            <a:pPr lvl="0"/>
            <a:r>
              <a:rPr lang="en-US" sz="2100" dirty="0">
                <a:latin typeface="Times New Roman" panose="02020603050405020304" pitchFamily="18" charset="0"/>
                <a:cs typeface="Times New Roman" panose="02020603050405020304" pitchFamily="18" charset="0"/>
              </a:rPr>
              <a:t>Better portability as compared to first </a:t>
            </a:r>
            <a:r>
              <a:rPr lang="en-US" sz="2100" dirty="0" smtClean="0">
                <a:latin typeface="Times New Roman" panose="02020603050405020304" pitchFamily="18" charset="0"/>
                <a:cs typeface="Times New Roman" panose="02020603050405020304" pitchFamily="18" charset="0"/>
              </a:rPr>
              <a:t>generation</a:t>
            </a:r>
          </a:p>
          <a:p>
            <a:pPr marL="0" lvl="0" indent="0">
              <a:buNone/>
            </a:pPr>
            <a:endParaRPr lang="en-US" sz="2100" dirty="0">
              <a:latin typeface="Times New Roman" panose="02020603050405020304" pitchFamily="18" charset="0"/>
              <a:cs typeface="Times New Roman" panose="02020603050405020304" pitchFamily="18" charset="0"/>
            </a:endParaRPr>
          </a:p>
          <a:p>
            <a:pPr marL="0" indent="0">
              <a:buNone/>
            </a:pPr>
            <a:r>
              <a:rPr lang="en-US" sz="2100" b="1" dirty="0" smtClean="0">
                <a:latin typeface="Times New Roman" panose="02020603050405020304" pitchFamily="18" charset="0"/>
                <a:cs typeface="Times New Roman" panose="02020603050405020304" pitchFamily="18" charset="0"/>
              </a:rPr>
              <a:t>Disadvantages</a:t>
            </a:r>
            <a:r>
              <a:rPr lang="en-US" sz="2100" b="1" dirty="0">
                <a:latin typeface="Times New Roman" panose="02020603050405020304" pitchFamily="18" charset="0"/>
                <a:cs typeface="Times New Roman" panose="02020603050405020304" pitchFamily="18" charset="0"/>
              </a:rPr>
              <a:t>:</a:t>
            </a:r>
            <a:r>
              <a:rPr lang="en-US" sz="2100" dirty="0">
                <a:latin typeface="Times New Roman" panose="02020603050405020304" pitchFamily="18" charset="0"/>
                <a:cs typeface="Times New Roman" panose="02020603050405020304" pitchFamily="18" charset="0"/>
              </a:rPr>
              <a:t> </a:t>
            </a:r>
          </a:p>
          <a:p>
            <a:pPr lvl="0"/>
            <a:r>
              <a:rPr lang="en-US" sz="2100" dirty="0">
                <a:latin typeface="Times New Roman" panose="02020603050405020304" pitchFamily="18" charset="0"/>
                <a:cs typeface="Times New Roman" panose="02020603050405020304" pitchFamily="18" charset="0"/>
              </a:rPr>
              <a:t>A cooling system was required.</a:t>
            </a:r>
          </a:p>
          <a:p>
            <a:pPr lvl="0"/>
            <a:r>
              <a:rPr lang="en-US" sz="2100" dirty="0">
                <a:latin typeface="Times New Roman" panose="02020603050405020304" pitchFamily="18" charset="0"/>
                <a:cs typeface="Times New Roman" panose="02020603050405020304" pitchFamily="18" charset="0"/>
              </a:rPr>
              <a:t>Constant maintenance was required.</a:t>
            </a:r>
          </a:p>
          <a:p>
            <a:pPr lvl="0"/>
            <a:r>
              <a:rPr lang="en-US" sz="2100" dirty="0">
                <a:latin typeface="Times New Roman" panose="02020603050405020304" pitchFamily="18" charset="0"/>
                <a:cs typeface="Times New Roman" panose="02020603050405020304" pitchFamily="18" charset="0"/>
              </a:rPr>
              <a:t>Only used for specific purposes.</a:t>
            </a:r>
          </a:p>
        </p:txBody>
      </p:sp>
      <p:sp>
        <p:nvSpPr>
          <p:cNvPr id="9" name="Footer Placeholder 8"/>
          <p:cNvSpPr>
            <a:spLocks noGrp="1"/>
          </p:cNvSpPr>
          <p:nvPr>
            <p:ph type="ftr" sz="quarter" idx="11"/>
          </p:nvPr>
        </p:nvSpPr>
        <p:spPr>
          <a:xfrm>
            <a:off x="7915275"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7"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2028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2057400" y="299491"/>
            <a:ext cx="9735207" cy="1325563"/>
          </a:xfrm>
        </p:spPr>
        <p:txBody>
          <a:bodyPr/>
          <a:lstStyle/>
          <a:p>
            <a:r>
              <a:rPr lang="en-AU" b="1" dirty="0">
                <a:latin typeface="Times New Roman" panose="02020603050405020304" pitchFamily="18" charset="0"/>
                <a:cs typeface="Times New Roman" panose="02020603050405020304" pitchFamily="18" charset="0"/>
              </a:rPr>
              <a:t>3</a:t>
            </a:r>
            <a:r>
              <a:rPr lang="en-AU" b="1" dirty="0" smtClean="0">
                <a:latin typeface="Times New Roman" panose="02020603050405020304" pitchFamily="18" charset="0"/>
                <a:cs typeface="Times New Roman" panose="02020603050405020304" pitchFamily="18" charset="0"/>
              </a:rPr>
              <a:t>. Third Generation of Computers (Transistor)</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857608" y="1797050"/>
            <a:ext cx="10515600" cy="4351338"/>
          </a:xfrm>
        </p:spPr>
        <p:txBody>
          <a:bodyPr>
            <a:normAutofit lnSpcReduction="10000"/>
          </a:bodyPr>
          <a:lstStyle/>
          <a:p>
            <a:r>
              <a:rPr lang="en-US" sz="3200" dirty="0">
                <a:latin typeface="Times New Roman" panose="02020603050405020304" pitchFamily="18" charset="0"/>
                <a:cs typeface="Times New Roman" panose="02020603050405020304" pitchFamily="18" charset="0"/>
              </a:rPr>
              <a:t>From 1964 to 1971 computers went through a significant change in terms of speed, courtesy of integrated circuits. Integrated circuits, or semiconductor chips, were large numbers of miniature transistors packed on silicon chips. This not only increased the speed of computers but also made them smaller, more powerful, and less expensive. In addition, instead of the punch cards and the printouts of previous systems, keyboards and monitors were now allowing people to interact with computing machines. </a:t>
            </a:r>
            <a:r>
              <a:rPr lang="en-US" sz="3200" i="1" dirty="0">
                <a:latin typeface="Times New Roman" panose="02020603050405020304" pitchFamily="18" charset="0"/>
                <a:cs typeface="Times New Roman" panose="02020603050405020304" pitchFamily="18" charset="0"/>
              </a:rPr>
              <a:t> </a:t>
            </a:r>
            <a:r>
              <a:rPr lang="en-US" sz="3200" b="1" i="1" dirty="0">
                <a:latin typeface="Times New Roman" panose="02020603050405020304" pitchFamily="18" charset="0"/>
                <a:cs typeface="Times New Roman" panose="02020603050405020304" pitchFamily="18" charset="0"/>
              </a:rPr>
              <a:t>Fig 1.3a shows Integrated Circuits with different sizes.</a:t>
            </a:r>
            <a:endParaRPr lang="en-US" sz="3200" b="1"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8" name="Picture 2" descr="Microsoft 365 Copilot - Apps on Google Play"/>
          <p:cNvPicPr>
            <a:picLocks noChangeAspect="1" noChangeArrowheads="1"/>
          </p:cNvPicPr>
          <p:nvPr/>
        </p:nvPicPr>
        <p:blipFill rotWithShape="1">
          <a:blip r:embed="rId2">
            <a:extLst>
              <a:ext uri="{28A0092B-C50C-407E-A947-70E740481C1C}">
                <a14:useLocalDpi xmlns:a14="http://schemas.microsoft.com/office/drawing/2010/main" val="0"/>
              </a:ext>
            </a:extLst>
          </a:blip>
          <a:srcRect l="13620" t="14329" r="13966" b="15520"/>
          <a:stretch/>
        </p:blipFill>
        <p:spPr bwMode="auto">
          <a:xfrm>
            <a:off x="38815" y="47285"/>
            <a:ext cx="1637586" cy="141956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842003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2057400" y="299491"/>
            <a:ext cx="9735207" cy="1325563"/>
          </a:xfrm>
        </p:spPr>
        <p:txBody>
          <a:bodyPr/>
          <a:lstStyle/>
          <a:p>
            <a:r>
              <a:rPr lang="en-AU" b="1" dirty="0" smtClean="0">
                <a:latin typeface="Times New Roman" panose="02020603050405020304" pitchFamily="18" charset="0"/>
                <a:cs typeface="Times New Roman" panose="02020603050405020304" pitchFamily="18" charset="0"/>
              </a:rPr>
              <a:t> Third Generation of Computers (Integrated Circuit-IC)</a:t>
            </a:r>
            <a:endParaRPr lang="en-AU" b="1"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20378"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sp>
        <p:nvSpPr>
          <p:cNvPr id="4" name="Rectangle 3"/>
          <p:cNvSpPr/>
          <p:nvPr/>
        </p:nvSpPr>
        <p:spPr>
          <a:xfrm>
            <a:off x="40481" y="2911475"/>
            <a:ext cx="3756084" cy="646331"/>
          </a:xfrm>
          <a:prstGeom prst="rect">
            <a:avLst/>
          </a:prstGeom>
        </p:spPr>
        <p:txBody>
          <a:bodyPr wrap="square">
            <a:spAutoFit/>
          </a:bodyPr>
          <a:lstStyle/>
          <a:p>
            <a:r>
              <a:rPr lang="en-US" sz="1200" b="1" i="1" dirty="0">
                <a:latin typeface="Times New Roman" panose="02020603050405020304" pitchFamily="18" charset="0"/>
                <a:cs typeface="Times New Roman" panose="02020603050405020304" pitchFamily="18" charset="0"/>
              </a:rPr>
              <a:t>Fig 1.3a showing structural view of integrated circuit (IC) with different sizes. </a:t>
            </a:r>
            <a:endParaRPr lang="en-US" sz="1200" dirty="0">
              <a:latin typeface="Times New Roman" panose="02020603050405020304" pitchFamily="18" charset="0"/>
              <a:cs typeface="Times New Roman" panose="02020603050405020304" pitchFamily="18" charset="0"/>
            </a:endParaRPr>
          </a:p>
          <a:p>
            <a:r>
              <a:rPr lang="en-US" sz="1200" b="1" i="1"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p:sp>
        <p:nvSpPr>
          <p:cNvPr id="5" name="Rectangle 4"/>
          <p:cNvSpPr/>
          <p:nvPr/>
        </p:nvSpPr>
        <p:spPr>
          <a:xfrm>
            <a:off x="4744528" y="1774815"/>
            <a:ext cx="7811156" cy="2677656"/>
          </a:xfrm>
          <a:prstGeom prst="rect">
            <a:avLst/>
          </a:prstGeom>
        </p:spPr>
        <p:txBody>
          <a:bodyPr wrap="square">
            <a:spAutoFit/>
          </a:bodyPr>
          <a:lstStyle/>
          <a:p>
            <a:r>
              <a:rPr lang="en-US" sz="2400" dirty="0" smtClean="0">
                <a:latin typeface="Times New Roman" panose="02020603050405020304" pitchFamily="18" charset="0"/>
                <a:cs typeface="Times New Roman" panose="02020603050405020304" pitchFamily="18" charset="0"/>
              </a:rPr>
              <a:t>These </a:t>
            </a:r>
            <a:r>
              <a:rPr lang="en-US" sz="2400" dirty="0">
                <a:latin typeface="Times New Roman" panose="02020603050405020304" pitchFamily="18" charset="0"/>
                <a:cs typeface="Times New Roman" panose="02020603050405020304" pitchFamily="18" charset="0"/>
              </a:rPr>
              <a:t>are examples of third generation of computer: </a:t>
            </a:r>
          </a:p>
          <a:p>
            <a:r>
              <a:rPr lang="en-US" sz="2400" dirty="0">
                <a:latin typeface="Times New Roman" panose="02020603050405020304" pitchFamily="18" charset="0"/>
                <a:cs typeface="Times New Roman" panose="02020603050405020304" pitchFamily="18" charset="0"/>
              </a:rPr>
              <a:t> </a:t>
            </a:r>
          </a:p>
          <a:p>
            <a:pPr lvl="0"/>
            <a:r>
              <a:rPr lang="en-US" sz="2400" dirty="0">
                <a:latin typeface="Times New Roman" panose="02020603050405020304" pitchFamily="18" charset="0"/>
                <a:cs typeface="Times New Roman" panose="02020603050405020304" pitchFamily="18" charset="0"/>
              </a:rPr>
              <a:t>PDP-8</a:t>
            </a:r>
          </a:p>
          <a:p>
            <a:pPr lvl="0"/>
            <a:r>
              <a:rPr lang="en-US" sz="2400" dirty="0">
                <a:latin typeface="Times New Roman" panose="02020603050405020304" pitchFamily="18" charset="0"/>
                <a:cs typeface="Times New Roman" panose="02020603050405020304" pitchFamily="18" charset="0"/>
              </a:rPr>
              <a:t>PDP-11</a:t>
            </a:r>
          </a:p>
          <a:p>
            <a:pPr lvl="0"/>
            <a:r>
              <a:rPr lang="en-US" sz="2400" dirty="0">
                <a:latin typeface="Times New Roman" panose="02020603050405020304" pitchFamily="18" charset="0"/>
                <a:cs typeface="Times New Roman" panose="02020603050405020304" pitchFamily="18" charset="0"/>
              </a:rPr>
              <a:t>ICL 2900</a:t>
            </a:r>
          </a:p>
          <a:p>
            <a:pPr lvl="0"/>
            <a:r>
              <a:rPr lang="en-US" sz="2400" dirty="0">
                <a:latin typeface="Times New Roman" panose="02020603050405020304" pitchFamily="18" charset="0"/>
                <a:cs typeface="Times New Roman" panose="02020603050405020304" pitchFamily="18" charset="0"/>
              </a:rPr>
              <a:t>IBM 360</a:t>
            </a:r>
          </a:p>
          <a:p>
            <a:pPr lvl="0"/>
            <a:r>
              <a:rPr lang="en-US" sz="2400" dirty="0">
                <a:latin typeface="Times New Roman" panose="02020603050405020304" pitchFamily="18" charset="0"/>
                <a:cs typeface="Times New Roman" panose="02020603050405020304" pitchFamily="18" charset="0"/>
              </a:rPr>
              <a:t>IBM 370</a:t>
            </a:r>
          </a:p>
        </p:txBody>
      </p:sp>
      <p:pic>
        <p:nvPicPr>
          <p:cNvPr id="12"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 name="Picture 9"/>
          <p:cNvPicPr/>
          <p:nvPr/>
        </p:nvPicPr>
        <p:blipFill rotWithShape="1">
          <a:blip r:embed="rId3">
            <a:extLst>
              <a:ext uri="{28A0092B-C50C-407E-A947-70E740481C1C}">
                <a14:useLocalDpi xmlns:a14="http://schemas.microsoft.com/office/drawing/2010/main" val="0"/>
              </a:ext>
            </a:extLst>
          </a:blip>
          <a:srcRect l="8306" t="8377" r="7973" b="5236"/>
          <a:stretch/>
        </p:blipFill>
        <p:spPr bwMode="auto">
          <a:xfrm>
            <a:off x="40481" y="2230561"/>
            <a:ext cx="1362075" cy="523875"/>
          </a:xfrm>
          <a:prstGeom prst="rect">
            <a:avLst/>
          </a:prstGeom>
          <a:noFill/>
          <a:ln>
            <a:noFill/>
          </a:ln>
          <a:extLst>
            <a:ext uri="{53640926-AAD7-44D8-BBD7-CCE9431645EC}">
              <a14:shadowObscured xmlns:a14="http://schemas.microsoft.com/office/drawing/2010/main"/>
            </a:ext>
          </a:extLst>
        </p:spPr>
      </p:pic>
      <p:pic>
        <p:nvPicPr>
          <p:cNvPr id="13" name="Picture 12"/>
          <p:cNvPicPr/>
          <p:nvPr/>
        </p:nvPicPr>
        <p:blipFill>
          <a:blip r:embed="rId4">
            <a:extLst>
              <a:ext uri="{28A0092B-C50C-407E-A947-70E740481C1C}">
                <a14:useLocalDpi xmlns:a14="http://schemas.microsoft.com/office/drawing/2010/main" val="0"/>
              </a:ext>
            </a:extLst>
          </a:blip>
          <a:stretch>
            <a:fillRect/>
          </a:stretch>
        </p:blipFill>
        <p:spPr>
          <a:xfrm>
            <a:off x="1468040" y="1774815"/>
            <a:ext cx="2581275" cy="1085850"/>
          </a:xfrm>
          <a:prstGeom prst="rect">
            <a:avLst/>
          </a:prstGeom>
        </p:spPr>
      </p:pic>
      <p:sp>
        <p:nvSpPr>
          <p:cNvPr id="14" name="Rectangle 13"/>
          <p:cNvSpPr/>
          <p:nvPr/>
        </p:nvSpPr>
        <p:spPr>
          <a:xfrm>
            <a:off x="40481" y="3587073"/>
            <a:ext cx="3756084" cy="830997"/>
          </a:xfrm>
          <a:prstGeom prst="rect">
            <a:avLst/>
          </a:prstGeom>
        </p:spPr>
        <p:txBody>
          <a:bodyPr wrap="square">
            <a:spAutoFit/>
          </a:bodyPr>
          <a:lstStyle/>
          <a:p>
            <a:r>
              <a:rPr lang="en-US" sz="1600" dirty="0">
                <a:latin typeface="Times New Roman" panose="02020603050405020304" pitchFamily="18" charset="0"/>
                <a:cs typeface="Times New Roman" panose="02020603050405020304" pitchFamily="18" charset="0"/>
              </a:rPr>
              <a:t>A single modern CPU can have millions or even billions of transistors as </a:t>
            </a:r>
            <a:r>
              <a:rPr lang="en-US" sz="1600" i="1" dirty="0">
                <a:latin typeface="Times New Roman" panose="02020603050405020304" pitchFamily="18" charset="0"/>
                <a:cs typeface="Times New Roman" panose="02020603050405020304" pitchFamily="18" charset="0"/>
              </a:rPr>
              <a:t>shown below in Fig 1.4</a:t>
            </a:r>
            <a:r>
              <a:rPr lang="en-US" sz="1200" b="1" i="1"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p:pic>
        <p:nvPicPr>
          <p:cNvPr id="16" name="Picture 15"/>
          <p:cNvPicPr/>
          <p:nvPr/>
        </p:nvPicPr>
        <p:blipFill rotWithShape="1">
          <a:blip r:embed="rId5" cstate="print">
            <a:extLst>
              <a:ext uri="{28A0092B-C50C-407E-A947-70E740481C1C}">
                <a14:useLocalDpi xmlns:a14="http://schemas.microsoft.com/office/drawing/2010/main" val="0"/>
              </a:ext>
            </a:extLst>
          </a:blip>
          <a:srcRect l="23558" t="18528" r="20513" b="30993"/>
          <a:stretch/>
        </p:blipFill>
        <p:spPr bwMode="auto">
          <a:xfrm>
            <a:off x="33336" y="5155073"/>
            <a:ext cx="1228725" cy="571500"/>
          </a:xfrm>
          <a:prstGeom prst="rect">
            <a:avLst/>
          </a:prstGeom>
          <a:noFill/>
          <a:ln>
            <a:noFill/>
          </a:ln>
          <a:extLst>
            <a:ext uri="{53640926-AAD7-44D8-BBD7-CCE9431645EC}">
              <a14:shadowObscured xmlns:a14="http://schemas.microsoft.com/office/drawing/2010/main"/>
            </a:ext>
          </a:extLst>
        </p:spPr>
      </p:pic>
      <p:pic>
        <p:nvPicPr>
          <p:cNvPr id="17" name="Picture 16"/>
          <p:cNvPicPr/>
          <p:nvPr/>
        </p:nvPicPr>
        <p:blipFill>
          <a:blip r:embed="rId6">
            <a:extLst>
              <a:ext uri="{28A0092B-C50C-407E-A947-70E740481C1C}">
                <a14:useLocalDpi xmlns:a14="http://schemas.microsoft.com/office/drawing/2010/main" val="0"/>
              </a:ext>
            </a:extLst>
          </a:blip>
          <a:srcRect/>
          <a:stretch>
            <a:fillRect/>
          </a:stretch>
        </p:blipFill>
        <p:spPr bwMode="auto">
          <a:xfrm>
            <a:off x="1361418" y="4632065"/>
            <a:ext cx="2286000" cy="1428750"/>
          </a:xfrm>
          <a:prstGeom prst="rect">
            <a:avLst/>
          </a:prstGeom>
          <a:noFill/>
          <a:ln>
            <a:noFill/>
          </a:ln>
        </p:spPr>
      </p:pic>
      <p:sp>
        <p:nvSpPr>
          <p:cNvPr id="18" name="Rectangle 17"/>
          <p:cNvSpPr/>
          <p:nvPr/>
        </p:nvSpPr>
        <p:spPr>
          <a:xfrm>
            <a:off x="40481" y="6213772"/>
            <a:ext cx="3756084" cy="461665"/>
          </a:xfrm>
          <a:prstGeom prst="rect">
            <a:avLst/>
          </a:prstGeom>
        </p:spPr>
        <p:txBody>
          <a:bodyPr wrap="square">
            <a:spAutoFit/>
          </a:bodyPr>
          <a:lstStyle/>
          <a:p>
            <a:r>
              <a:rPr lang="en-US" sz="1200" b="1" i="1" dirty="0">
                <a:latin typeface="Times New Roman" panose="02020603050405020304" pitchFamily="18" charset="0"/>
                <a:cs typeface="Times New Roman" panose="02020603050405020304" pitchFamily="18" charset="0"/>
              </a:rPr>
              <a:t>Fig 1.4 below showing CPU with IC.</a:t>
            </a:r>
            <a:endParaRPr lang="en-US" sz="1200" dirty="0">
              <a:latin typeface="Times New Roman" panose="02020603050405020304" pitchFamily="18" charset="0"/>
              <a:cs typeface="Times New Roman" panose="02020603050405020304" pitchFamily="18" charset="0"/>
            </a:endParaRPr>
          </a:p>
          <a:p>
            <a:r>
              <a:rPr lang="en-US" sz="1200" b="1" i="1"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66458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1927821" y="36931"/>
            <a:ext cx="10340379" cy="1325563"/>
          </a:xfrm>
        </p:spPr>
        <p:txBody>
          <a:bodyPr>
            <a:normAutofit fontScale="90000"/>
          </a:bodyPr>
          <a:lstStyle/>
          <a:p>
            <a:r>
              <a:rPr lang="en-AU" b="1" dirty="0" smtClean="0">
                <a:latin typeface="Times New Roman" panose="02020603050405020304" pitchFamily="18" charset="0"/>
                <a:cs typeface="Times New Roman" panose="02020603050405020304" pitchFamily="18" charset="0"/>
              </a:rPr>
              <a:t>Third Generation of Computers (Integrated Circuit) Advantages &amp; Disadvantages</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285750" y="1338316"/>
            <a:ext cx="11077575" cy="4857052"/>
          </a:xfrm>
        </p:spPr>
        <p:txBody>
          <a:bodyPr>
            <a:noAutofit/>
          </a:bodyPr>
          <a:lstStyle/>
          <a:p>
            <a:pPr marL="0" indent="0">
              <a:buNone/>
            </a:pPr>
            <a:r>
              <a:rPr lang="en-US" sz="2600" b="1" dirty="0">
                <a:latin typeface="Times New Roman" panose="02020603050405020304" pitchFamily="18" charset="0"/>
                <a:cs typeface="Times New Roman" panose="02020603050405020304" pitchFamily="18" charset="0"/>
              </a:rPr>
              <a:t>Advantages</a:t>
            </a:r>
            <a:r>
              <a:rPr lang="en-US" sz="2600" b="1" dirty="0" smtClean="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a:p>
            <a:pPr lvl="0"/>
            <a:r>
              <a:rPr lang="en-US" sz="2600" dirty="0">
                <a:latin typeface="Times New Roman" panose="02020603050405020304" pitchFamily="18" charset="0"/>
                <a:cs typeface="Times New Roman" panose="02020603050405020304" pitchFamily="18" charset="0"/>
              </a:rPr>
              <a:t>These computers were cheaper as compared to second-generation computers.</a:t>
            </a:r>
          </a:p>
          <a:p>
            <a:pPr lvl="0"/>
            <a:r>
              <a:rPr lang="en-US" sz="2600" dirty="0">
                <a:latin typeface="Times New Roman" panose="02020603050405020304" pitchFamily="18" charset="0"/>
                <a:cs typeface="Times New Roman" panose="02020603050405020304" pitchFamily="18" charset="0"/>
              </a:rPr>
              <a:t>They were fast and reliable.</a:t>
            </a:r>
          </a:p>
          <a:p>
            <a:pPr lvl="0"/>
            <a:r>
              <a:rPr lang="en-US" sz="2600" dirty="0">
                <a:latin typeface="Times New Roman" panose="02020603050405020304" pitchFamily="18" charset="0"/>
                <a:cs typeface="Times New Roman" panose="02020603050405020304" pitchFamily="18" charset="0"/>
              </a:rPr>
              <a:t>Use of IC in the computer provides the small size of the computer.</a:t>
            </a:r>
          </a:p>
          <a:p>
            <a:pPr lvl="0"/>
            <a:r>
              <a:rPr lang="en-US" sz="2600" dirty="0">
                <a:latin typeface="Times New Roman" panose="02020603050405020304" pitchFamily="18" charset="0"/>
                <a:cs typeface="Times New Roman" panose="02020603050405020304" pitchFamily="18" charset="0"/>
              </a:rPr>
              <a:t>IC not only reduce the size of the computer but it also improves the performance of the computer as compared to previous computers.</a:t>
            </a:r>
          </a:p>
          <a:p>
            <a:pPr lvl="0"/>
            <a:r>
              <a:rPr lang="en-US" sz="2600" dirty="0">
                <a:latin typeface="Times New Roman" panose="02020603050405020304" pitchFamily="18" charset="0"/>
                <a:cs typeface="Times New Roman" panose="02020603050405020304" pitchFamily="18" charset="0"/>
              </a:rPr>
              <a:t>This generation of computers has big storage capacity.</a:t>
            </a:r>
          </a:p>
          <a:p>
            <a:pPr lvl="0"/>
            <a:r>
              <a:rPr lang="en-US" sz="2600" dirty="0">
                <a:latin typeface="Times New Roman" panose="02020603050405020304" pitchFamily="18" charset="0"/>
                <a:cs typeface="Times New Roman" panose="02020603050405020304" pitchFamily="18" charset="0"/>
              </a:rPr>
              <a:t>Instead of punch cards, mouse and keyboard are used for input.</a:t>
            </a:r>
          </a:p>
          <a:p>
            <a:pPr lvl="0"/>
            <a:r>
              <a:rPr lang="en-US" sz="2600" dirty="0">
                <a:latin typeface="Times New Roman" panose="02020603050405020304" pitchFamily="18" charset="0"/>
                <a:cs typeface="Times New Roman" panose="02020603050405020304" pitchFamily="18" charset="0"/>
              </a:rPr>
              <a:t>They used an operating system for better resource management and used the concept of time-sharing and multiple programming.</a:t>
            </a:r>
          </a:p>
          <a:p>
            <a:pPr lvl="0"/>
            <a:r>
              <a:rPr lang="en-US" sz="2600" dirty="0">
                <a:latin typeface="Times New Roman" panose="02020603050405020304" pitchFamily="18" charset="0"/>
                <a:cs typeface="Times New Roman" panose="02020603050405020304" pitchFamily="18" charset="0"/>
              </a:rPr>
              <a:t>These computers reduce the computational time from microseconds to nanoseconds</a:t>
            </a:r>
          </a:p>
          <a:p>
            <a:endParaRPr lang="en-US" sz="2600" b="1"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7915275"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7"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641934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1473201" y="36931"/>
            <a:ext cx="10795000" cy="1325563"/>
          </a:xfrm>
        </p:spPr>
        <p:txBody>
          <a:bodyPr>
            <a:normAutofit/>
          </a:bodyPr>
          <a:lstStyle/>
          <a:p>
            <a:r>
              <a:rPr lang="en-AU" b="1" dirty="0" smtClean="0">
                <a:latin typeface="Times New Roman" panose="02020603050405020304" pitchFamily="18" charset="0"/>
                <a:cs typeface="Times New Roman" panose="02020603050405020304" pitchFamily="18" charset="0"/>
              </a:rPr>
              <a:t>Third Generation of Computers (Integrated Circuit) Advantages &amp; Disadvantages</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285750" y="1338316"/>
            <a:ext cx="11077575" cy="4857052"/>
          </a:xfrm>
        </p:spPr>
        <p:txBody>
          <a:bodyPr>
            <a:noAutofit/>
          </a:bodyPr>
          <a:lstStyle/>
          <a:p>
            <a:r>
              <a:rPr lang="en-US" sz="2600" b="1" dirty="0" smtClean="0">
                <a:latin typeface="Times New Roman" panose="02020603050405020304" pitchFamily="18" charset="0"/>
                <a:cs typeface="Times New Roman" panose="02020603050405020304" pitchFamily="18" charset="0"/>
              </a:rPr>
              <a:t>Disadvantages</a:t>
            </a:r>
            <a:r>
              <a:rPr lang="en-US" sz="2600" b="1"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 </a:t>
            </a:r>
          </a:p>
          <a:p>
            <a:pPr lvl="0"/>
            <a:r>
              <a:rPr lang="en-US" sz="2600" dirty="0">
                <a:latin typeface="Times New Roman" panose="02020603050405020304" pitchFamily="18" charset="0"/>
                <a:cs typeface="Times New Roman" panose="02020603050405020304" pitchFamily="18" charset="0"/>
              </a:rPr>
              <a:t>IC chips are difficult to maintain.</a:t>
            </a:r>
          </a:p>
          <a:p>
            <a:pPr lvl="0"/>
            <a:r>
              <a:rPr lang="en-US" sz="2600" dirty="0">
                <a:latin typeface="Times New Roman" panose="02020603050405020304" pitchFamily="18" charset="0"/>
                <a:cs typeface="Times New Roman" panose="02020603050405020304" pitchFamily="18" charset="0"/>
              </a:rPr>
              <a:t>The highly sophisticated technology required for the manufacturing of IC chips.</a:t>
            </a:r>
          </a:p>
          <a:p>
            <a:pPr lvl="0"/>
            <a:r>
              <a:rPr lang="en-US" sz="2600" dirty="0">
                <a:latin typeface="Times New Roman" panose="02020603050405020304" pitchFamily="18" charset="0"/>
                <a:cs typeface="Times New Roman" panose="02020603050405020304" pitchFamily="18" charset="0"/>
              </a:rPr>
              <a:t>Air conditioning is required</a:t>
            </a:r>
            <a:r>
              <a:rPr lang="en-US" sz="2600" dirty="0" smtClean="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7915275"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7"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113691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2057400" y="299491"/>
            <a:ext cx="9735207" cy="1325563"/>
          </a:xfrm>
        </p:spPr>
        <p:txBody>
          <a:bodyPr/>
          <a:lstStyle/>
          <a:p>
            <a:r>
              <a:rPr lang="en-AU" b="1" dirty="0">
                <a:latin typeface="Times New Roman" panose="02020603050405020304" pitchFamily="18" charset="0"/>
                <a:cs typeface="Times New Roman" panose="02020603050405020304" pitchFamily="18" charset="0"/>
              </a:rPr>
              <a:t>4</a:t>
            </a:r>
            <a:r>
              <a:rPr lang="en-AU" b="1" dirty="0" smtClean="0">
                <a:latin typeface="Times New Roman" panose="02020603050405020304" pitchFamily="18" charset="0"/>
                <a:cs typeface="Times New Roman" panose="02020603050405020304" pitchFamily="18" charset="0"/>
              </a:rPr>
              <a:t>. Fourth Generation of Computers (Microprocessor)</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38815" y="1625054"/>
            <a:ext cx="11924585" cy="5004346"/>
          </a:xfrm>
        </p:spPr>
        <p:txBody>
          <a:bodyPr>
            <a:noAutofit/>
          </a:bodyPr>
          <a:lstStyle/>
          <a:p>
            <a:r>
              <a:rPr lang="en-US" sz="2400" dirty="0">
                <a:latin typeface="Times New Roman" panose="02020603050405020304" pitchFamily="18" charset="0"/>
                <a:cs typeface="Times New Roman" panose="02020603050405020304" pitchFamily="18" charset="0"/>
              </a:rPr>
              <a:t>The changes with the greatest impact occurred in the years from 1971 to 2010. During this time technology developed to a point where manufacturers could place millions of transistors on a single circuit chip. This was called monolithic integrated circuit technology. It also heralded the invention of the Intel 4004 chip which was the first microprocessor to become commercially available in 1971. This invention led to the dawn of the personal computer industry. By the mid-70s, personal computers such as the Altair 8800 became available to the public in the form of kits and required assembly. By the late 70s and early 80s assembled personal computers for home use, such as the Commodore Pet, Apple II and the first IBM computer, were making their way onto the market. Personal computers and their ability to create networks eventually would lead to the Internet in the early 1990s. The fourth generation of computers also saw the creation of even smaller computers including laptops and hand-held devices. Graphical user interface, or GUI, was also invented during this time. Computer memory and storage also went through major improvements, with an increase in storage capacity and speed.</a:t>
            </a:r>
            <a:r>
              <a:rPr lang="en-US" sz="2400" i="1" dirty="0">
                <a:latin typeface="Times New Roman" panose="02020603050405020304" pitchFamily="18" charset="0"/>
                <a:cs typeface="Times New Roman" panose="02020603050405020304" pitchFamily="18" charset="0"/>
              </a:rPr>
              <a:t> </a:t>
            </a:r>
            <a:r>
              <a:rPr lang="en-US" sz="2400" b="1" i="1" dirty="0">
                <a:latin typeface="Times New Roman" panose="02020603050405020304" pitchFamily="18" charset="0"/>
                <a:cs typeface="Times New Roman" panose="02020603050405020304" pitchFamily="18" charset="0"/>
              </a:rPr>
              <a:t>Fig 1.5 shows Microprocessor</a:t>
            </a:r>
            <a:endParaRPr lang="en-US" sz="2400" b="1"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8" name="Picture 2" descr="Microsoft 365 Copilot - Apps on Google Play"/>
          <p:cNvPicPr>
            <a:picLocks noChangeAspect="1" noChangeArrowheads="1"/>
          </p:cNvPicPr>
          <p:nvPr/>
        </p:nvPicPr>
        <p:blipFill rotWithShape="1">
          <a:blip r:embed="rId2">
            <a:extLst>
              <a:ext uri="{28A0092B-C50C-407E-A947-70E740481C1C}">
                <a14:useLocalDpi xmlns:a14="http://schemas.microsoft.com/office/drawing/2010/main" val="0"/>
              </a:ext>
            </a:extLst>
          </a:blip>
          <a:srcRect l="13620" t="14329" r="13966" b="15520"/>
          <a:stretch/>
        </p:blipFill>
        <p:spPr bwMode="auto">
          <a:xfrm>
            <a:off x="38815" y="47285"/>
            <a:ext cx="1637586" cy="141956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06206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2057400" y="299491"/>
            <a:ext cx="9735207" cy="1325563"/>
          </a:xfrm>
        </p:spPr>
        <p:txBody>
          <a:bodyPr/>
          <a:lstStyle/>
          <a:p>
            <a:r>
              <a:rPr lang="en-AU" b="1" dirty="0" smtClean="0">
                <a:latin typeface="Times New Roman" panose="02020603050405020304" pitchFamily="18" charset="0"/>
                <a:cs typeface="Times New Roman" panose="02020603050405020304" pitchFamily="18" charset="0"/>
              </a:rPr>
              <a:t> Fourth Generation of Computers (Microprocessor)</a:t>
            </a:r>
            <a:endParaRPr lang="en-AU" b="1"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20378"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sp>
        <p:nvSpPr>
          <p:cNvPr id="4" name="Rectangle 3"/>
          <p:cNvSpPr/>
          <p:nvPr/>
        </p:nvSpPr>
        <p:spPr>
          <a:xfrm>
            <a:off x="32940" y="4930542"/>
            <a:ext cx="4048919" cy="461665"/>
          </a:xfrm>
          <a:prstGeom prst="rect">
            <a:avLst/>
          </a:prstGeom>
        </p:spPr>
        <p:txBody>
          <a:bodyPr wrap="square">
            <a:spAutoFit/>
          </a:bodyPr>
          <a:lstStyle/>
          <a:p>
            <a:r>
              <a:rPr lang="en-US" sz="1200" b="1" i="1" dirty="0">
                <a:latin typeface="Times New Roman" panose="02020603050405020304" pitchFamily="18" charset="0"/>
                <a:cs typeface="Times New Roman" panose="02020603050405020304" pitchFamily="18" charset="0"/>
              </a:rPr>
              <a:t>Fig 1.5 showing microprocessor used in PCs and Laptops.</a:t>
            </a:r>
            <a:endParaRPr lang="en-US" sz="1200" dirty="0">
              <a:latin typeface="Times New Roman" panose="02020603050405020304" pitchFamily="18" charset="0"/>
              <a:cs typeface="Times New Roman" panose="02020603050405020304" pitchFamily="18" charset="0"/>
            </a:endParaRPr>
          </a:p>
          <a:p>
            <a:r>
              <a:rPr lang="en-US" sz="1200" b="1" i="1"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p:sp>
        <p:nvSpPr>
          <p:cNvPr id="5" name="Rectangle 4"/>
          <p:cNvSpPr/>
          <p:nvPr/>
        </p:nvSpPr>
        <p:spPr>
          <a:xfrm>
            <a:off x="4719128" y="1897570"/>
            <a:ext cx="7811156" cy="2308324"/>
          </a:xfrm>
          <a:prstGeom prst="rect">
            <a:avLst/>
          </a:prstGeom>
        </p:spPr>
        <p:txBody>
          <a:bodyPr wrap="square">
            <a:spAutoFit/>
          </a:bodyPr>
          <a:lstStyle/>
          <a:p>
            <a:r>
              <a:rPr lang="en-US" sz="2400" b="1" dirty="0" smtClean="0">
                <a:latin typeface="Times New Roman" panose="02020603050405020304" pitchFamily="18" charset="0"/>
                <a:cs typeface="Times New Roman" panose="02020603050405020304" pitchFamily="18" charset="0"/>
              </a:rPr>
              <a:t>These </a:t>
            </a:r>
            <a:r>
              <a:rPr lang="en-US" sz="2400" b="1" dirty="0">
                <a:latin typeface="Times New Roman" panose="02020603050405020304" pitchFamily="18" charset="0"/>
                <a:cs typeface="Times New Roman" panose="02020603050405020304" pitchFamily="18" charset="0"/>
              </a:rPr>
              <a:t>are few examples fourth generation computer:</a:t>
            </a:r>
            <a:r>
              <a:rPr lang="en-US" sz="2400" dirty="0">
                <a:latin typeface="Times New Roman" panose="02020603050405020304" pitchFamily="18" charset="0"/>
                <a:cs typeface="Times New Roman" panose="02020603050405020304" pitchFamily="18" charset="0"/>
              </a:rPr>
              <a:t> </a:t>
            </a:r>
          </a:p>
          <a:p>
            <a:pPr lvl="0"/>
            <a:r>
              <a:rPr lang="en-US" sz="2400" dirty="0">
                <a:latin typeface="Times New Roman" panose="02020603050405020304" pitchFamily="18" charset="0"/>
                <a:cs typeface="Times New Roman" panose="02020603050405020304" pitchFamily="18" charset="0"/>
              </a:rPr>
              <a:t>IBM 4341</a:t>
            </a:r>
          </a:p>
          <a:p>
            <a:pPr lvl="0"/>
            <a:r>
              <a:rPr lang="en-US" sz="2400" dirty="0">
                <a:latin typeface="Times New Roman" panose="02020603050405020304" pitchFamily="18" charset="0"/>
                <a:cs typeface="Times New Roman" panose="02020603050405020304" pitchFamily="18" charset="0"/>
              </a:rPr>
              <a:t>DEC 10</a:t>
            </a:r>
          </a:p>
          <a:p>
            <a:pPr lvl="0"/>
            <a:r>
              <a:rPr lang="en-US" sz="2400" dirty="0">
                <a:latin typeface="Times New Roman" panose="02020603050405020304" pitchFamily="18" charset="0"/>
                <a:cs typeface="Times New Roman" panose="02020603050405020304" pitchFamily="18" charset="0"/>
              </a:rPr>
              <a:t>STAR 1000</a:t>
            </a:r>
          </a:p>
          <a:p>
            <a:pPr lvl="0"/>
            <a:r>
              <a:rPr lang="en-US" sz="2400" dirty="0">
                <a:latin typeface="Times New Roman" panose="02020603050405020304" pitchFamily="18" charset="0"/>
                <a:cs typeface="Times New Roman" panose="02020603050405020304" pitchFamily="18" charset="0"/>
              </a:rPr>
              <a:t>PUP 11</a:t>
            </a:r>
          </a:p>
          <a:p>
            <a:r>
              <a:rPr lang="en-US" sz="2400" dirty="0">
                <a:latin typeface="Times New Roman" panose="02020603050405020304" pitchFamily="18" charset="0"/>
                <a:cs typeface="Times New Roman" panose="02020603050405020304" pitchFamily="18" charset="0"/>
              </a:rPr>
              <a:t> </a:t>
            </a:r>
          </a:p>
        </p:txBody>
      </p:sp>
      <p:pic>
        <p:nvPicPr>
          <p:cNvPr id="12"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5" name="Picture 14"/>
          <p:cNvPicPr/>
          <p:nvPr/>
        </p:nvPicPr>
        <p:blipFill>
          <a:blip r:embed="rId3">
            <a:extLst>
              <a:ext uri="{28A0092B-C50C-407E-A947-70E740481C1C}">
                <a14:useLocalDpi xmlns:a14="http://schemas.microsoft.com/office/drawing/2010/main" val="0"/>
              </a:ext>
            </a:extLst>
          </a:blip>
          <a:stretch>
            <a:fillRect/>
          </a:stretch>
        </p:blipFill>
        <p:spPr>
          <a:xfrm>
            <a:off x="59267" y="3017235"/>
            <a:ext cx="1340908" cy="571500"/>
          </a:xfrm>
          <a:prstGeom prst="rect">
            <a:avLst/>
          </a:prstGeom>
        </p:spPr>
      </p:pic>
      <p:pic>
        <p:nvPicPr>
          <p:cNvPr id="19" name="Picture 18"/>
          <p:cNvPicPr/>
          <p:nvPr/>
        </p:nvPicPr>
        <p:blipFill>
          <a:blip r:embed="rId4">
            <a:extLst>
              <a:ext uri="{28A0092B-C50C-407E-A947-70E740481C1C}">
                <a14:useLocalDpi xmlns:a14="http://schemas.microsoft.com/office/drawing/2010/main" val="0"/>
              </a:ext>
            </a:extLst>
          </a:blip>
          <a:stretch>
            <a:fillRect/>
          </a:stretch>
        </p:blipFill>
        <p:spPr>
          <a:xfrm>
            <a:off x="1464733" y="1897570"/>
            <a:ext cx="3156651" cy="2987697"/>
          </a:xfrm>
          <a:prstGeom prst="rect">
            <a:avLst/>
          </a:prstGeom>
        </p:spPr>
      </p:pic>
    </p:spTree>
    <p:extLst>
      <p:ext uri="{BB962C8B-B14F-4D97-AF65-F5344CB8AC3E}">
        <p14:creationId xmlns:p14="http://schemas.microsoft.com/office/powerpoint/2010/main" val="149507337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1498601" y="36931"/>
            <a:ext cx="10769600" cy="1325563"/>
          </a:xfrm>
        </p:spPr>
        <p:txBody>
          <a:bodyPr>
            <a:normAutofit fontScale="90000"/>
          </a:bodyPr>
          <a:lstStyle/>
          <a:p>
            <a:r>
              <a:rPr lang="en-AU" b="1" dirty="0" smtClean="0">
                <a:latin typeface="Times New Roman" panose="02020603050405020304" pitchFamily="18" charset="0"/>
                <a:cs typeface="Times New Roman" panose="02020603050405020304" pitchFamily="18" charset="0"/>
              </a:rPr>
              <a:t>Fourth Generation of Computers (Microprocessor) Advantages &amp; Disadvantages</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1" y="1362494"/>
            <a:ext cx="11278658" cy="5130381"/>
          </a:xfrm>
        </p:spPr>
        <p:txBody>
          <a:bodyPr>
            <a:noAutofit/>
          </a:bodyPr>
          <a:lstStyle/>
          <a:p>
            <a:r>
              <a:rPr lang="en-US" sz="2400" b="1" dirty="0">
                <a:latin typeface="Times New Roman" panose="02020603050405020304" pitchFamily="18" charset="0"/>
                <a:cs typeface="Times New Roman" panose="02020603050405020304" pitchFamily="18" charset="0"/>
              </a:rPr>
              <a:t>Advantages:</a:t>
            </a:r>
            <a:r>
              <a:rPr lang="en-US" sz="2400" dirty="0">
                <a:latin typeface="Times New Roman" panose="02020603050405020304" pitchFamily="18" charset="0"/>
                <a:cs typeface="Times New Roman" panose="02020603050405020304" pitchFamily="18" charset="0"/>
              </a:rPr>
              <a:t> </a:t>
            </a:r>
          </a:p>
          <a:p>
            <a:pPr lvl="0"/>
            <a:r>
              <a:rPr lang="en-US" sz="2400" dirty="0">
                <a:latin typeface="Times New Roman" panose="02020603050405020304" pitchFamily="18" charset="0"/>
                <a:cs typeface="Times New Roman" panose="02020603050405020304" pitchFamily="18" charset="0"/>
              </a:rPr>
              <a:t>Fastest in computation and size get reduced as compared to the previous generation of computer.</a:t>
            </a:r>
          </a:p>
          <a:p>
            <a:pPr lvl="0"/>
            <a:r>
              <a:rPr lang="en-US" sz="2400" dirty="0">
                <a:latin typeface="Times New Roman" panose="02020603050405020304" pitchFamily="18" charset="0"/>
                <a:cs typeface="Times New Roman" panose="02020603050405020304" pitchFamily="18" charset="0"/>
              </a:rPr>
              <a:t>Heat generated is negligible.</a:t>
            </a:r>
          </a:p>
          <a:p>
            <a:pPr lvl="0"/>
            <a:r>
              <a:rPr lang="en-US" sz="2400" dirty="0">
                <a:latin typeface="Times New Roman" panose="02020603050405020304" pitchFamily="18" charset="0"/>
                <a:cs typeface="Times New Roman" panose="02020603050405020304" pitchFamily="18" charset="0"/>
              </a:rPr>
              <a:t>Small in size as compared to previous generation computers.</a:t>
            </a:r>
          </a:p>
          <a:p>
            <a:pPr lvl="0"/>
            <a:r>
              <a:rPr lang="en-US" sz="2400" dirty="0">
                <a:latin typeface="Times New Roman" panose="02020603050405020304" pitchFamily="18" charset="0"/>
                <a:cs typeface="Times New Roman" panose="02020603050405020304" pitchFamily="18" charset="0"/>
              </a:rPr>
              <a:t>Less maintenance is required.</a:t>
            </a:r>
          </a:p>
          <a:p>
            <a:pPr lvl="0"/>
            <a:r>
              <a:rPr lang="en-US" sz="2400" dirty="0">
                <a:latin typeface="Times New Roman" panose="02020603050405020304" pitchFamily="18" charset="0"/>
                <a:cs typeface="Times New Roman" panose="02020603050405020304" pitchFamily="18" charset="0"/>
              </a:rPr>
              <a:t>All types of high-level language can be used in this type of computers</a:t>
            </a:r>
            <a:r>
              <a:rPr lang="en-US" sz="2400" dirty="0" smtClean="0">
                <a:latin typeface="Times New Roman" panose="02020603050405020304" pitchFamily="18" charset="0"/>
                <a:cs typeface="Times New Roman" panose="02020603050405020304" pitchFamily="18" charset="0"/>
              </a:rPr>
              <a:t>.</a:t>
            </a:r>
          </a:p>
          <a:p>
            <a:pPr lvl="0"/>
            <a:endParaRPr lang="en-US" sz="2400" dirty="0">
              <a:latin typeface="Times New Roman" panose="02020603050405020304" pitchFamily="18" charset="0"/>
              <a:cs typeface="Times New Roman" panose="02020603050405020304" pitchFamily="18" charset="0"/>
            </a:endParaRPr>
          </a:p>
          <a:p>
            <a:r>
              <a:rPr lang="en-US" sz="2400" b="1" i="1" dirty="0">
                <a:latin typeface="Times New Roman" panose="02020603050405020304" pitchFamily="18" charset="0"/>
                <a:cs typeface="Times New Roman" panose="02020603050405020304" pitchFamily="18" charset="0"/>
              </a:rPr>
              <a:t>Disadvantages:</a:t>
            </a:r>
            <a:r>
              <a:rPr lang="en-US" sz="2400" dirty="0">
                <a:latin typeface="Times New Roman" panose="02020603050405020304" pitchFamily="18" charset="0"/>
                <a:cs typeface="Times New Roman" panose="02020603050405020304" pitchFamily="18" charset="0"/>
              </a:rPr>
              <a:t> </a:t>
            </a:r>
          </a:p>
          <a:p>
            <a:pPr lvl="0"/>
            <a:r>
              <a:rPr lang="en-US" sz="2400" dirty="0">
                <a:latin typeface="Times New Roman" panose="02020603050405020304" pitchFamily="18" charset="0"/>
                <a:cs typeface="Times New Roman" panose="02020603050405020304" pitchFamily="18" charset="0"/>
              </a:rPr>
              <a:t>The Microprocessor design and fabrication are very complex.</a:t>
            </a:r>
          </a:p>
          <a:p>
            <a:pPr lvl="0"/>
            <a:r>
              <a:rPr lang="en-US" sz="2400" dirty="0">
                <a:latin typeface="Times New Roman" panose="02020603050405020304" pitchFamily="18" charset="0"/>
                <a:cs typeface="Times New Roman" panose="02020603050405020304" pitchFamily="18" charset="0"/>
              </a:rPr>
              <a:t>Air conditioning is required in many cases due to the presence of ICs.</a:t>
            </a:r>
          </a:p>
          <a:p>
            <a:pPr lvl="0"/>
            <a:r>
              <a:rPr lang="en-US" sz="2400" dirty="0">
                <a:latin typeface="Times New Roman" panose="02020603050405020304" pitchFamily="18" charset="0"/>
                <a:cs typeface="Times New Roman" panose="02020603050405020304" pitchFamily="18" charset="0"/>
              </a:rPr>
              <a:t>Advance technology is required to make the ICs.</a:t>
            </a:r>
          </a:p>
        </p:txBody>
      </p:sp>
      <p:sp>
        <p:nvSpPr>
          <p:cNvPr id="9" name="Footer Placeholder 8"/>
          <p:cNvSpPr>
            <a:spLocks noGrp="1"/>
          </p:cNvSpPr>
          <p:nvPr>
            <p:ph type="ftr" sz="quarter" idx="11"/>
          </p:nvPr>
        </p:nvSpPr>
        <p:spPr>
          <a:xfrm>
            <a:off x="7915275"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7"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253038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1676402" y="47285"/>
            <a:ext cx="10116206" cy="1577769"/>
          </a:xfrm>
        </p:spPr>
        <p:txBody>
          <a:bodyPr>
            <a:normAutofit fontScale="90000"/>
          </a:bodyPr>
          <a:lstStyle/>
          <a:p>
            <a:r>
              <a:rPr lang="en-AU" b="1" dirty="0">
                <a:latin typeface="Times New Roman" panose="02020603050405020304" pitchFamily="18" charset="0"/>
                <a:cs typeface="Times New Roman" panose="02020603050405020304" pitchFamily="18" charset="0"/>
              </a:rPr>
              <a:t>5. Fifth Generation of Computers </a:t>
            </a:r>
            <a:r>
              <a:rPr lang="en-AU" b="1" dirty="0" smtClean="0">
                <a:latin typeface="Times New Roman" panose="02020603050405020304" pitchFamily="18" charset="0"/>
                <a:cs typeface="Times New Roman" panose="02020603050405020304" pitchFamily="18" charset="0"/>
              </a:rPr>
              <a:t>(Artificial Intelligence(AI))-</a:t>
            </a:r>
            <a:r>
              <a:rPr lang="en-AU" b="1" dirty="0">
                <a:latin typeface="Times New Roman" panose="02020603050405020304" pitchFamily="18" charset="0"/>
                <a:cs typeface="Times New Roman" panose="02020603050405020304" pitchFamily="18" charset="0"/>
              </a:rPr>
              <a:t>Present &amp; Beyond</a:t>
            </a: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38816" y="1625054"/>
            <a:ext cx="6709118" cy="5004346"/>
          </a:xfrm>
        </p:spPr>
        <p:txBody>
          <a:bodyPr>
            <a:noAutofit/>
          </a:bodyPr>
          <a:lstStyle/>
          <a:p>
            <a:r>
              <a:rPr lang="en-US" sz="2000" dirty="0">
                <a:latin typeface="Times New Roman" panose="02020603050405020304" pitchFamily="18" charset="0"/>
                <a:cs typeface="Times New Roman" panose="02020603050405020304" pitchFamily="18" charset="0"/>
              </a:rPr>
              <a:t>Fifth generations computing devices is based on artificial intelligence (AI) are still in development, although there are some applications such as voice recognition, facial face detector, and thumb print that are used today. In the future, computer users can expect even faster and more advanced computer technology. Computers continue to develop into advanced forms of technology in the field of nanotechnology, artificial intelligent, as well as quantum computation. AI is a field of science which is developed to make computer think and act like a human being. </a:t>
            </a:r>
            <a:r>
              <a:rPr lang="en-US" sz="2000" b="1" i="1" dirty="0" smtClean="0">
                <a:latin typeface="Times New Roman" panose="02020603050405020304" pitchFamily="18" charset="0"/>
                <a:cs typeface="Times New Roman" panose="02020603050405020304" pitchFamily="18" charset="0"/>
              </a:rPr>
              <a:t>Fig </a:t>
            </a:r>
            <a:r>
              <a:rPr lang="en-US" sz="2000" b="1" i="1" dirty="0">
                <a:latin typeface="Times New Roman" panose="02020603050405020304" pitchFamily="18" charset="0"/>
                <a:cs typeface="Times New Roman" panose="02020603050405020304" pitchFamily="18" charset="0"/>
              </a:rPr>
              <a:t>1.6 shows self-driving car that uses censors to identify traffic signals, crossings, etc</a:t>
            </a:r>
            <a:r>
              <a:rPr lang="en-US" sz="2000" b="1" i="1" dirty="0" smtClean="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8" name="Picture 2" descr="Microsoft 365 Copilot - Apps on Google Play"/>
          <p:cNvPicPr>
            <a:picLocks noChangeAspect="1" noChangeArrowheads="1"/>
          </p:cNvPicPr>
          <p:nvPr/>
        </p:nvPicPr>
        <p:blipFill rotWithShape="1">
          <a:blip r:embed="rId2">
            <a:extLst>
              <a:ext uri="{28A0092B-C50C-407E-A947-70E740481C1C}">
                <a14:useLocalDpi xmlns:a14="http://schemas.microsoft.com/office/drawing/2010/main" val="0"/>
              </a:ext>
            </a:extLst>
          </a:blip>
          <a:srcRect l="13620" t="14329" r="13966" b="15520"/>
          <a:stretch/>
        </p:blipFill>
        <p:spPr bwMode="auto">
          <a:xfrm>
            <a:off x="38815" y="47285"/>
            <a:ext cx="1637586" cy="141956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193503" y="4843759"/>
            <a:ext cx="2099204" cy="1323976"/>
          </a:xfrm>
          <a:prstGeom prst="rect">
            <a:avLst/>
          </a:prstGeom>
        </p:spPr>
      </p:pic>
      <p:sp>
        <p:nvSpPr>
          <p:cNvPr id="4" name="TextBox 3"/>
          <p:cNvSpPr txBox="1"/>
          <p:nvPr/>
        </p:nvSpPr>
        <p:spPr>
          <a:xfrm>
            <a:off x="38815" y="6213709"/>
            <a:ext cx="3445934" cy="461665"/>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 1.6 showing self-driving car</a:t>
            </a:r>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7010400" y="1812195"/>
            <a:ext cx="4064000" cy="2246769"/>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These </a:t>
            </a:r>
            <a:r>
              <a:rPr lang="en-US" sz="2000" b="1" dirty="0">
                <a:latin typeface="Times New Roman" panose="02020603050405020304" pitchFamily="18" charset="0"/>
                <a:cs typeface="Times New Roman" panose="02020603050405020304" pitchFamily="18" charset="0"/>
              </a:rPr>
              <a:t>are some examples</a:t>
            </a:r>
            <a:r>
              <a:rPr lang="en-US" sz="2000" b="1"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PCs of Pentium</a:t>
            </a:r>
          </a:p>
          <a:p>
            <a:pPr lvl="0"/>
            <a:r>
              <a:rPr lang="en-US" sz="2000" dirty="0" smtClean="0">
                <a:latin typeface="Times New Roman" panose="02020603050405020304" pitchFamily="18" charset="0"/>
                <a:cs typeface="Times New Roman" panose="02020603050405020304" pitchFamily="18" charset="0"/>
              </a:rPr>
              <a:t>Ultra Book</a:t>
            </a:r>
            <a:endParaRPr lang="en-US" sz="2000" dirty="0">
              <a:latin typeface="Times New Roman" panose="02020603050405020304" pitchFamily="18" charset="0"/>
              <a:cs typeface="Times New Roman" panose="02020603050405020304" pitchFamily="18" charset="0"/>
            </a:endParaRPr>
          </a:p>
          <a:p>
            <a:pPr lvl="0"/>
            <a:r>
              <a:rPr lang="en-US" sz="2000" dirty="0" smtClean="0">
                <a:latin typeface="Times New Roman" panose="02020603050405020304" pitchFamily="18" charset="0"/>
                <a:cs typeface="Times New Roman" panose="02020603050405020304" pitchFamily="18" charset="0"/>
              </a:rPr>
              <a:t>Note Book</a:t>
            </a:r>
            <a:endParaRPr lang="en-US" sz="2000" dirty="0">
              <a:latin typeface="Times New Roman" panose="02020603050405020304" pitchFamily="18" charset="0"/>
              <a:cs typeface="Times New Roman" panose="02020603050405020304" pitchFamily="18" charset="0"/>
            </a:endParaRPr>
          </a:p>
          <a:p>
            <a:pPr lvl="0"/>
            <a:r>
              <a:rPr lang="en-US" sz="2000" dirty="0" smtClean="0">
                <a:latin typeface="Times New Roman" panose="02020603050405020304" pitchFamily="18" charset="0"/>
                <a:cs typeface="Times New Roman" panose="02020603050405020304" pitchFamily="18" charset="0"/>
              </a:rPr>
              <a:t>Chrome Book</a:t>
            </a:r>
            <a:endParaRPr lang="en-US"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Supercomputers with PARAM</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014325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1498601" y="36931"/>
            <a:ext cx="10769600" cy="1325563"/>
          </a:xfrm>
        </p:spPr>
        <p:txBody>
          <a:bodyPr>
            <a:normAutofit/>
          </a:bodyPr>
          <a:lstStyle/>
          <a:p>
            <a:r>
              <a:rPr lang="en-AU" b="1" dirty="0" smtClean="0">
                <a:latin typeface="Times New Roman" panose="02020603050405020304" pitchFamily="18" charset="0"/>
                <a:cs typeface="Times New Roman" panose="02020603050405020304" pitchFamily="18" charset="0"/>
              </a:rPr>
              <a:t>Fifth Generation of Computers (AI)-Present &amp; Beyond Advantages &amp; Disadvantages</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0" y="1362494"/>
            <a:ext cx="12090399" cy="5130381"/>
          </a:xfrm>
        </p:spPr>
        <p:txBody>
          <a:bodyPr>
            <a:noAutofit/>
          </a:bodyPr>
          <a:lstStyle/>
          <a:p>
            <a:r>
              <a:rPr lang="en-US" sz="2400" b="1" dirty="0">
                <a:latin typeface="Times New Roman" panose="02020603050405020304" pitchFamily="18" charset="0"/>
                <a:cs typeface="Times New Roman" panose="02020603050405020304" pitchFamily="18" charset="0"/>
              </a:rPr>
              <a:t>Advantages:</a:t>
            </a:r>
            <a:r>
              <a:rPr lang="en-US" sz="2400" dirty="0">
                <a:latin typeface="Times New Roman" panose="02020603050405020304" pitchFamily="18" charset="0"/>
                <a:cs typeface="Times New Roman" panose="02020603050405020304" pitchFamily="18" charset="0"/>
              </a:rPr>
              <a:t> </a:t>
            </a:r>
          </a:p>
          <a:p>
            <a:pPr lvl="0"/>
            <a:r>
              <a:rPr lang="en-US" sz="2400" dirty="0">
                <a:latin typeface="Times New Roman" panose="02020603050405020304" pitchFamily="18" charset="0"/>
                <a:cs typeface="Times New Roman" panose="02020603050405020304" pitchFamily="18" charset="0"/>
              </a:rPr>
              <a:t>The ability to understand human language.</a:t>
            </a:r>
          </a:p>
          <a:p>
            <a:pPr lvl="0"/>
            <a:r>
              <a:rPr lang="en-US" sz="2400" dirty="0">
                <a:latin typeface="Times New Roman" panose="02020603050405020304" pitchFamily="18" charset="0"/>
                <a:cs typeface="Times New Roman" panose="02020603050405020304" pitchFamily="18" charset="0"/>
              </a:rPr>
              <a:t>The ability to recognize graphs and images.</a:t>
            </a:r>
          </a:p>
          <a:p>
            <a:pPr lvl="0"/>
            <a:r>
              <a:rPr lang="en-US" sz="2400" dirty="0">
                <a:latin typeface="Times New Roman" panose="02020603050405020304" pitchFamily="18" charset="0"/>
                <a:cs typeface="Times New Roman" panose="02020603050405020304" pitchFamily="18" charset="0"/>
              </a:rPr>
              <a:t>The ability to self-organize itself.</a:t>
            </a:r>
          </a:p>
          <a:p>
            <a:pPr lvl="0"/>
            <a:r>
              <a:rPr lang="en-US" sz="2400" dirty="0">
                <a:latin typeface="Times New Roman" panose="02020603050405020304" pitchFamily="18" charset="0"/>
                <a:cs typeface="Times New Roman" panose="02020603050405020304" pitchFamily="18" charset="0"/>
              </a:rPr>
              <a:t>Self-learning abilities.</a:t>
            </a:r>
          </a:p>
          <a:p>
            <a:pPr lvl="0"/>
            <a:r>
              <a:rPr lang="en-US" sz="2400" dirty="0">
                <a:latin typeface="Times New Roman" panose="02020603050405020304" pitchFamily="18" charset="0"/>
                <a:cs typeface="Times New Roman" panose="02020603050405020304" pitchFamily="18" charset="0"/>
              </a:rPr>
              <a:t>Parallel processing and more CPU cores mean more speed.</a:t>
            </a:r>
          </a:p>
          <a:p>
            <a:pPr lvl="0"/>
            <a:r>
              <a:rPr lang="en-US" sz="2400" dirty="0">
                <a:latin typeface="Times New Roman" panose="02020603050405020304" pitchFamily="18" charset="0"/>
                <a:cs typeface="Times New Roman" panose="02020603050405020304" pitchFamily="18" charset="0"/>
              </a:rPr>
              <a:t>Thinking more logically resulting in taking wiser decisions on its own to solve everyday problems.</a:t>
            </a:r>
          </a:p>
          <a:p>
            <a:r>
              <a:rPr lang="en-US" sz="2400" b="1" dirty="0">
                <a:latin typeface="Times New Roman" panose="02020603050405020304" pitchFamily="18" charset="0"/>
                <a:cs typeface="Times New Roman" panose="02020603050405020304" pitchFamily="18" charset="0"/>
              </a:rPr>
              <a:t>Disadvantages</a:t>
            </a:r>
            <a:r>
              <a:rPr lang="en-US" sz="2400" b="1" i="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p>
          <a:p>
            <a:pPr lvl="0"/>
            <a:r>
              <a:rPr lang="en-US" sz="2400" dirty="0">
                <a:latin typeface="Times New Roman" panose="02020603050405020304" pitchFamily="18" charset="0"/>
                <a:cs typeface="Times New Roman" panose="02020603050405020304" pitchFamily="18" charset="0"/>
              </a:rPr>
              <a:t>AI is great but people think that it will replace their jobs in the future, that’s somehow true but it’s this is how the world works, people shouldn’t be afraid of evolving or adapting to the new technologies</a:t>
            </a:r>
          </a:p>
          <a:p>
            <a:pPr lvl="0"/>
            <a:r>
              <a:rPr lang="en-US" sz="2400" dirty="0">
                <a:latin typeface="Times New Roman" panose="02020603050405020304" pitchFamily="18" charset="0"/>
                <a:cs typeface="Times New Roman" panose="02020603050405020304" pitchFamily="18" charset="0"/>
              </a:rPr>
              <a:t>They may make the human brains dull and doomed</a:t>
            </a:r>
          </a:p>
        </p:txBody>
      </p:sp>
      <p:sp>
        <p:nvSpPr>
          <p:cNvPr id="9" name="Footer Placeholder 8"/>
          <p:cNvSpPr>
            <a:spLocks noGrp="1"/>
          </p:cNvSpPr>
          <p:nvPr>
            <p:ph type="ftr" sz="quarter" idx="11"/>
          </p:nvPr>
        </p:nvSpPr>
        <p:spPr>
          <a:xfrm>
            <a:off x="7915275"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7"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929288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1498601" y="36931"/>
            <a:ext cx="10769600" cy="1325563"/>
          </a:xfrm>
        </p:spPr>
        <p:txBody>
          <a:bodyPr>
            <a:normAutofit/>
          </a:bodyPr>
          <a:lstStyle/>
          <a:p>
            <a:r>
              <a:rPr lang="en-AU" b="1" dirty="0" smtClean="0">
                <a:latin typeface="Times New Roman" panose="02020603050405020304" pitchFamily="18" charset="0"/>
                <a:cs typeface="Times New Roman" panose="02020603050405020304" pitchFamily="18" charset="0"/>
              </a:rPr>
              <a:t>Computer Definition</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0" y="1213763"/>
            <a:ext cx="12090399" cy="5130381"/>
          </a:xfrm>
        </p:spPr>
        <p:txBody>
          <a:bodyPr>
            <a:noAutofit/>
          </a:bodyPr>
          <a:lstStyle/>
          <a:p>
            <a:r>
              <a:rPr lang="en-US" sz="2200" dirty="0">
                <a:latin typeface="Times New Roman" panose="02020603050405020304" pitchFamily="18" charset="0"/>
                <a:cs typeface="Times New Roman" panose="02020603050405020304" pitchFamily="18" charset="0"/>
              </a:rPr>
              <a:t>Computers have changed the way of life people do things. Multiple tasks can be done easily and faster easing the burden of time consuming when not using computer technology. Today, computers are used almost in every aspects of interactions, for example, banks, hospitals, schools, businesses, etc. You can use computer to type letters, develop business documents, use internet for various reasons, for example, online buying and selling of products and services (e-commerce), do research, education, playing games, social networking, phone banking etc. Seeing all these changes computer has brought about, it is considered as one of the greatest inventions of the 1st century.</a:t>
            </a:r>
          </a:p>
          <a:p>
            <a:r>
              <a:rPr lang="en-US" sz="2200" dirty="0">
                <a:latin typeface="Times New Roman" panose="02020603050405020304" pitchFamily="18" charset="0"/>
                <a:cs typeface="Times New Roman" panose="02020603050405020304" pitchFamily="18" charset="0"/>
              </a:rPr>
              <a:t>Before 1935, a computer was a person who performed arithmetic calculations. Between 1935 and 1945 the definition referred to a machine, rather than a person. The modern machine definition is based on von Neumann's concepts: a device that accepts input, processes data, stores data, and produces output. </a:t>
            </a:r>
          </a:p>
          <a:p>
            <a:r>
              <a:rPr lang="en-US" sz="2200" dirty="0">
                <a:latin typeface="Times New Roman" panose="02020603050405020304" pitchFamily="18" charset="0"/>
                <a:cs typeface="Times New Roman" panose="02020603050405020304" pitchFamily="18" charset="0"/>
              </a:rPr>
              <a:t>We have gone from the vacuum tube to the transistor, to the microchip. Then the microchip started talking to the modem. Now we exchange text, sound, photos and movies in a digital environment. </a:t>
            </a:r>
          </a:p>
          <a:p>
            <a:r>
              <a:rPr lang="en-US" sz="2200" dirty="0">
                <a:latin typeface="Times New Roman" panose="02020603050405020304" pitchFamily="18" charset="0"/>
                <a:cs typeface="Times New Roman" panose="02020603050405020304" pitchFamily="18" charset="0"/>
              </a:rPr>
              <a:t>Computer is a programmable machine that response to instructions (input data), execute the instructions (process), the store data and print it (output). Computer operate according to how it is programed.</a:t>
            </a:r>
          </a:p>
          <a:p>
            <a:pPr marL="0" indent="0">
              <a:buNone/>
            </a:pPr>
            <a:endParaRPr lang="en-US" sz="22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7915275"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7"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240381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1498601" y="36931"/>
            <a:ext cx="10769600" cy="1325563"/>
          </a:xfrm>
        </p:spPr>
        <p:txBody>
          <a:bodyPr>
            <a:normAutofit/>
          </a:bodyPr>
          <a:lstStyle/>
          <a:p>
            <a:r>
              <a:rPr lang="en-AU" b="1" dirty="0" smtClean="0">
                <a:latin typeface="Times New Roman" panose="02020603050405020304" pitchFamily="18" charset="0"/>
                <a:cs typeface="Times New Roman" panose="02020603050405020304" pitchFamily="18" charset="0"/>
              </a:rPr>
              <a:t>Social Effects of Computers</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0" y="1213763"/>
            <a:ext cx="12090399" cy="5130381"/>
          </a:xfrm>
        </p:spPr>
        <p:txBody>
          <a:bodyPr>
            <a:noAutofit/>
          </a:bodyPr>
          <a:lstStyle/>
          <a:p>
            <a:r>
              <a:rPr lang="en-US" sz="2400" dirty="0">
                <a:latin typeface="Times New Roman" panose="02020603050405020304" pitchFamily="18" charset="0"/>
                <a:cs typeface="Times New Roman" panose="02020603050405020304" pitchFamily="18" charset="0"/>
              </a:rPr>
              <a:t>The Social Impact of Computers should be read as a guide to the social implications of current and future applications of computers. Below are few examples of the use of Computer in different fields. </a:t>
            </a:r>
            <a:endParaRPr lang="en-US" sz="2400" dirty="0" smtClean="0">
              <a:latin typeface="Times New Roman" panose="02020603050405020304" pitchFamily="18" charset="0"/>
              <a:cs typeface="Times New Roman" panose="02020603050405020304" pitchFamily="18" charset="0"/>
            </a:endParaRPr>
          </a:p>
          <a:p>
            <a:pPr marL="355600" indent="-177800">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Science</a:t>
            </a:r>
          </a:p>
          <a:p>
            <a:pPr marL="355600" indent="-177800">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Education</a:t>
            </a:r>
          </a:p>
          <a:p>
            <a:pPr marL="355600" indent="-177800">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Communication</a:t>
            </a:r>
          </a:p>
          <a:p>
            <a:pPr marL="355600" indent="-177800">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Engineering and Manufacturing</a:t>
            </a:r>
          </a:p>
          <a:p>
            <a:pPr marL="355600" indent="-177800">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Banking</a:t>
            </a:r>
          </a:p>
          <a:p>
            <a:pPr marL="355600" indent="-177800">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Health Care</a:t>
            </a:r>
          </a:p>
          <a:p>
            <a:pPr marL="355600" indent="-177800">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Business and Industries</a:t>
            </a:r>
          </a:p>
          <a:p>
            <a:pPr marL="177800" indent="0">
              <a:buNone/>
            </a:pPr>
            <a:endParaRPr lang="en-US" sz="24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7915275"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7"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nvGrpSpPr>
          <p:cNvPr id="5" name="Group 4"/>
          <p:cNvGrpSpPr/>
          <p:nvPr/>
        </p:nvGrpSpPr>
        <p:grpSpPr>
          <a:xfrm>
            <a:off x="8445260" y="2156604"/>
            <a:ext cx="1349074" cy="4701396"/>
            <a:chOff x="9972675" y="2068215"/>
            <a:chExt cx="1298694" cy="4133003"/>
          </a:xfrm>
        </p:grpSpPr>
        <p:sp>
          <p:nvSpPr>
            <p:cNvPr id="12" name="Teardrop 11">
              <a:extLst>
                <a:ext uri="{FF2B5EF4-FFF2-40B4-BE49-F238E27FC236}">
                  <a16:creationId xmlns:a16="http://schemas.microsoft.com/office/drawing/2014/main" xmlns="" id="{DCA392C6-E9E7-4108-8984-65A2BEEB14D0}"/>
                </a:ext>
              </a:extLst>
            </p:cNvPr>
            <p:cNvSpPr/>
            <p:nvPr/>
          </p:nvSpPr>
          <p:spPr>
            <a:xfrm>
              <a:off x="9972675" y="2068215"/>
              <a:ext cx="1196402" cy="591427"/>
            </a:xfrm>
            <a:prstGeom prst="teardrop">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ardrop 12">
              <a:extLst>
                <a:ext uri="{FF2B5EF4-FFF2-40B4-BE49-F238E27FC236}">
                  <a16:creationId xmlns:a16="http://schemas.microsoft.com/office/drawing/2014/main" xmlns="" id="{9E8C750C-223D-43C1-9157-E97065BAEE6E}"/>
                </a:ext>
              </a:extLst>
            </p:cNvPr>
            <p:cNvSpPr/>
            <p:nvPr/>
          </p:nvSpPr>
          <p:spPr>
            <a:xfrm>
              <a:off x="9972675" y="3178513"/>
              <a:ext cx="1196402" cy="591427"/>
            </a:xfrm>
            <a:prstGeom prst="teardrop">
              <a:avLst/>
            </a:prstGeom>
            <a:blipFill>
              <a:blip r:embed="rId4"/>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ardrop 13">
              <a:extLst>
                <a:ext uri="{FF2B5EF4-FFF2-40B4-BE49-F238E27FC236}">
                  <a16:creationId xmlns:a16="http://schemas.microsoft.com/office/drawing/2014/main" xmlns="" id="{F1471D0E-F959-4091-B14D-DD43E97D1410}"/>
                </a:ext>
              </a:extLst>
            </p:cNvPr>
            <p:cNvSpPr/>
            <p:nvPr/>
          </p:nvSpPr>
          <p:spPr>
            <a:xfrm>
              <a:off x="9983056" y="4388823"/>
              <a:ext cx="1196402" cy="591427"/>
            </a:xfrm>
            <a:prstGeom prst="teardrop">
              <a:avLst/>
            </a:prstGeom>
            <a:blipFill>
              <a:blip r:embed="rId5"/>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ardrop 14">
              <a:extLst>
                <a:ext uri="{FF2B5EF4-FFF2-40B4-BE49-F238E27FC236}">
                  <a16:creationId xmlns:a16="http://schemas.microsoft.com/office/drawing/2014/main" xmlns="" id="{8AAAA5F6-87FD-45C7-B620-85B01C0E0962}"/>
                </a:ext>
              </a:extLst>
            </p:cNvPr>
            <p:cNvSpPr/>
            <p:nvPr/>
          </p:nvSpPr>
          <p:spPr>
            <a:xfrm>
              <a:off x="10074967" y="5609791"/>
              <a:ext cx="1196402" cy="591427"/>
            </a:xfrm>
            <a:prstGeom prst="teardrop">
              <a:avLst/>
            </a:prstGeom>
            <a:blipFill>
              <a:blip r:embed="rId6"/>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1987594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1498601" y="36931"/>
            <a:ext cx="10769600" cy="1325563"/>
          </a:xfrm>
        </p:spPr>
        <p:txBody>
          <a:bodyPr>
            <a:normAutofit/>
          </a:bodyPr>
          <a:lstStyle/>
          <a:p>
            <a:r>
              <a:rPr lang="en-AU" b="1" dirty="0" smtClean="0">
                <a:latin typeface="Times New Roman" panose="02020603050405020304" pitchFamily="18" charset="0"/>
                <a:cs typeface="Times New Roman" panose="02020603050405020304" pitchFamily="18" charset="0"/>
              </a:rPr>
              <a:t>Positive Impacts of using a Computer</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0" y="1213763"/>
            <a:ext cx="12090399" cy="5130381"/>
          </a:xfrm>
        </p:spPr>
        <p:txBody>
          <a:bodyPr>
            <a:noAutofit/>
          </a:bodyPr>
          <a:lstStyle/>
          <a:p>
            <a:pPr lvl="0"/>
            <a:r>
              <a:rPr lang="en-US" sz="2400" dirty="0">
                <a:latin typeface="Times New Roman" panose="02020603050405020304" pitchFamily="18" charset="0"/>
                <a:cs typeface="Times New Roman" panose="02020603050405020304" pitchFamily="18" charset="0"/>
              </a:rPr>
              <a:t>Any professional individual like doctors, engineers, businessmen etc. undergo a change in their style or working pattern after they get the knowledge of computer.</a:t>
            </a:r>
          </a:p>
          <a:p>
            <a:pPr lvl="0"/>
            <a:r>
              <a:rPr lang="en-US" sz="2400" dirty="0">
                <a:latin typeface="Times New Roman" panose="02020603050405020304" pitchFamily="18" charset="0"/>
                <a:cs typeface="Times New Roman" panose="02020603050405020304" pitchFamily="18" charset="0"/>
              </a:rPr>
              <a:t>An individual becomes more competent to take a decision due to the computer because all the information required to take the decision is provided by the computer on time. As a result, any individuals or institutions get success very fast.</a:t>
            </a:r>
          </a:p>
          <a:p>
            <a:pPr lvl="0"/>
            <a:r>
              <a:rPr lang="en-US" sz="2400" dirty="0">
                <a:latin typeface="Times New Roman" panose="02020603050405020304" pitchFamily="18" charset="0"/>
                <a:cs typeface="Times New Roman" panose="02020603050405020304" pitchFamily="18" charset="0"/>
              </a:rPr>
              <a:t>The person working at the managerial level becomes less dependent on low level staff like clerks and accountants. Their accessibility to the information increases tremendously. This improves their working patters and efficiency, which benefit the organization and ultimately affects the society positively.</a:t>
            </a:r>
          </a:p>
          <a:p>
            <a:pPr lvl="0"/>
            <a:r>
              <a:rPr lang="en-US" sz="2400" dirty="0">
                <a:latin typeface="Times New Roman" panose="02020603050405020304" pitchFamily="18" charset="0"/>
                <a:cs typeface="Times New Roman" panose="02020603050405020304" pitchFamily="18" charset="0"/>
              </a:rPr>
              <a:t>In common life also, an individual gets benefited with computer technology. When airports, hospitals, banks, departmental stores have been computerized, people get quick service due to the computer system.</a:t>
            </a:r>
          </a:p>
          <a:p>
            <a:pPr lvl="0"/>
            <a:r>
              <a:rPr lang="en-US" sz="2400" dirty="0">
                <a:latin typeface="Times New Roman" panose="02020603050405020304" pitchFamily="18" charset="0"/>
                <a:cs typeface="Times New Roman" panose="02020603050405020304" pitchFamily="18" charset="0"/>
              </a:rPr>
              <a:t>Computers have created new fields of employment. These employments are in the field of designing, manufacturing, teaching etc.</a:t>
            </a:r>
          </a:p>
          <a:p>
            <a:pPr marL="177800" indent="0">
              <a:buNone/>
            </a:pPr>
            <a:endParaRPr lang="en-US" sz="24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7915275"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7"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549165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1498601" y="36931"/>
            <a:ext cx="10769600" cy="1325563"/>
          </a:xfrm>
        </p:spPr>
        <p:txBody>
          <a:bodyPr>
            <a:normAutofit/>
          </a:bodyPr>
          <a:lstStyle/>
          <a:p>
            <a:r>
              <a:rPr lang="en-AU" b="1" dirty="0" smtClean="0">
                <a:latin typeface="Times New Roman" panose="02020603050405020304" pitchFamily="18" charset="0"/>
                <a:cs typeface="Times New Roman" panose="02020603050405020304" pitchFamily="18" charset="0"/>
              </a:rPr>
              <a:t>Examples of Positive Impacts of using a Computer</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60324" y="1260878"/>
            <a:ext cx="12090399" cy="5130381"/>
          </a:xfrm>
        </p:spPr>
        <p:txBody>
          <a:bodyPr>
            <a:noAutofit/>
          </a:bodyPr>
          <a:lstStyle/>
          <a:p>
            <a:pPr marL="520700" indent="-342900"/>
            <a:r>
              <a:rPr lang="en-US" sz="2400" dirty="0" smtClean="0">
                <a:latin typeface="Times New Roman" panose="02020603050405020304" pitchFamily="18" charset="0"/>
                <a:cs typeface="Times New Roman" panose="02020603050405020304" pitchFamily="18" charset="0"/>
              </a:rPr>
              <a:t>Increased  Productivity and efficiency</a:t>
            </a:r>
          </a:p>
          <a:p>
            <a:pPr marL="520700" indent="-342900"/>
            <a:r>
              <a:rPr lang="en-US" sz="2400" dirty="0" smtClean="0">
                <a:latin typeface="Times New Roman" panose="02020603050405020304" pitchFamily="18" charset="0"/>
                <a:cs typeface="Times New Roman" panose="02020603050405020304" pitchFamily="18" charset="0"/>
              </a:rPr>
              <a:t>Enhance Communication</a:t>
            </a:r>
          </a:p>
          <a:p>
            <a:pPr marL="520700" indent="-342900"/>
            <a:r>
              <a:rPr lang="en-US" sz="2400" dirty="0" smtClean="0">
                <a:latin typeface="Times New Roman" panose="02020603050405020304" pitchFamily="18" charset="0"/>
                <a:cs typeface="Times New Roman" panose="02020603050405020304" pitchFamily="18" charset="0"/>
              </a:rPr>
              <a:t>Information Accessibility and Education</a:t>
            </a:r>
          </a:p>
          <a:p>
            <a:pPr marL="520700" indent="-342900"/>
            <a:r>
              <a:rPr lang="en-US" sz="2400" dirty="0" smtClean="0">
                <a:latin typeface="Times New Roman" panose="02020603050405020304" pitchFamily="18" charset="0"/>
                <a:cs typeface="Times New Roman" panose="02020603050405020304" pitchFamily="18" charset="0"/>
              </a:rPr>
              <a:t>Entertainment and Convenience</a:t>
            </a:r>
          </a:p>
          <a:p>
            <a:pPr marL="520700" indent="-342900"/>
            <a:r>
              <a:rPr lang="en-US" sz="2400" dirty="0" smtClean="0">
                <a:latin typeface="Times New Roman" panose="02020603050405020304" pitchFamily="18" charset="0"/>
                <a:cs typeface="Times New Roman" panose="02020603050405020304" pitchFamily="18" charset="0"/>
              </a:rPr>
              <a:t>Data Storage and Management</a:t>
            </a:r>
          </a:p>
          <a:p>
            <a:pPr marL="520700" indent="-342900"/>
            <a:r>
              <a:rPr lang="en-US" sz="2400" dirty="0" smtClean="0">
                <a:latin typeface="Times New Roman" panose="02020603050405020304" pitchFamily="18" charset="0"/>
                <a:cs typeface="Times New Roman" panose="02020603050405020304" pitchFamily="18" charset="0"/>
              </a:rPr>
              <a:t>Business and Financial Management</a:t>
            </a:r>
          </a:p>
          <a:p>
            <a:pPr marL="520700" indent="-342900"/>
            <a:r>
              <a:rPr lang="en-US" sz="2400" dirty="0" smtClean="0">
                <a:latin typeface="Times New Roman" panose="02020603050405020304" pitchFamily="18" charset="0"/>
                <a:cs typeface="Times New Roman" panose="02020603050405020304" pitchFamily="18" charset="0"/>
              </a:rPr>
              <a:t>Medical and Healthcare Advancement</a:t>
            </a:r>
          </a:p>
          <a:p>
            <a:pPr marL="520700" indent="-342900"/>
            <a:r>
              <a:rPr lang="en-US" sz="2400" dirty="0" smtClean="0">
                <a:latin typeface="Times New Roman" panose="02020603050405020304" pitchFamily="18" charset="0"/>
                <a:cs typeface="Times New Roman" panose="02020603050405020304" pitchFamily="18" charset="0"/>
              </a:rPr>
              <a:t>Innovation and Creativity</a:t>
            </a:r>
          </a:p>
          <a:p>
            <a:pPr marL="520700" indent="-342900"/>
            <a:r>
              <a:rPr lang="en-US" sz="2400" dirty="0" smtClean="0">
                <a:latin typeface="Times New Roman" panose="02020603050405020304" pitchFamily="18" charset="0"/>
                <a:cs typeface="Times New Roman" panose="02020603050405020304" pitchFamily="18" charset="0"/>
              </a:rPr>
              <a:t>Remote Work Collaboration</a:t>
            </a:r>
          </a:p>
          <a:p>
            <a:pPr marL="520700" indent="-342900"/>
            <a:r>
              <a:rPr lang="en-US" sz="2400" dirty="0" smtClean="0">
                <a:latin typeface="Times New Roman" panose="02020603050405020304" pitchFamily="18" charset="0"/>
                <a:cs typeface="Times New Roman" panose="02020603050405020304" pitchFamily="18" charset="0"/>
              </a:rPr>
              <a:t>Environmental Benefits</a:t>
            </a:r>
          </a:p>
          <a:p>
            <a:pPr marL="177800" indent="0">
              <a:buNone/>
            </a:pPr>
            <a:endParaRPr lang="en-US" sz="24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7915275"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7"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985138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1498601" y="36931"/>
            <a:ext cx="10769600" cy="1325563"/>
          </a:xfrm>
        </p:spPr>
        <p:txBody>
          <a:bodyPr>
            <a:normAutofit/>
          </a:bodyPr>
          <a:lstStyle/>
          <a:p>
            <a:r>
              <a:rPr lang="en-AU" b="1" dirty="0" smtClean="0">
                <a:latin typeface="Times New Roman" panose="02020603050405020304" pitchFamily="18" charset="0"/>
                <a:cs typeface="Times New Roman" panose="02020603050405020304" pitchFamily="18" charset="0"/>
              </a:rPr>
              <a:t>Negative Impacts of using a Computer</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0" y="1213763"/>
            <a:ext cx="12090399" cy="5130381"/>
          </a:xfrm>
        </p:spPr>
        <p:txBody>
          <a:bodyPr>
            <a:noAutofit/>
          </a:bodyPr>
          <a:lstStyle/>
          <a:p>
            <a:pPr lvl="0"/>
            <a:r>
              <a:rPr lang="en-US" sz="2400" dirty="0">
                <a:latin typeface="Times New Roman" panose="02020603050405020304" pitchFamily="18" charset="0"/>
                <a:cs typeface="Times New Roman" panose="02020603050405020304" pitchFamily="18" charset="0"/>
              </a:rPr>
              <a:t>Due to any reasons, if the data stored in the computer is lost, the person responsible for handling the computer will have to tolerate a lot.</a:t>
            </a:r>
          </a:p>
          <a:p>
            <a:pPr lvl="0"/>
            <a:r>
              <a:rPr lang="en-US" sz="2400" dirty="0">
                <a:latin typeface="Times New Roman" panose="02020603050405020304" pitchFamily="18" charset="0"/>
                <a:cs typeface="Times New Roman" panose="02020603050405020304" pitchFamily="18" charset="0"/>
              </a:rPr>
              <a:t>People do not use their mind for common arithmetic, which gradually results in loss of their numerical ability.</a:t>
            </a:r>
          </a:p>
          <a:p>
            <a:pPr lvl="0"/>
            <a:r>
              <a:rPr lang="en-US" sz="2400" dirty="0">
                <a:latin typeface="Times New Roman" panose="02020603050405020304" pitchFamily="18" charset="0"/>
                <a:cs typeface="Times New Roman" panose="02020603050405020304" pitchFamily="18" charset="0"/>
              </a:rPr>
              <a:t>Today, any person who does not have the knowledge of computer is considered the second-class citizens.</a:t>
            </a:r>
          </a:p>
          <a:p>
            <a:pPr lvl="0"/>
            <a:r>
              <a:rPr lang="en-US" sz="2400" dirty="0">
                <a:latin typeface="Times New Roman" panose="02020603050405020304" pitchFamily="18" charset="0"/>
                <a:cs typeface="Times New Roman" panose="02020603050405020304" pitchFamily="18" charset="0"/>
              </a:rPr>
              <a:t>People have fear that growing children may lose their common sense abilities like numerical ability due to total dependence on computers.</a:t>
            </a:r>
          </a:p>
          <a:p>
            <a:pPr lvl="0"/>
            <a:r>
              <a:rPr lang="en-US" sz="2400" dirty="0">
                <a:latin typeface="Times New Roman" panose="02020603050405020304" pitchFamily="18" charset="0"/>
                <a:cs typeface="Times New Roman" panose="02020603050405020304" pitchFamily="18" charset="0"/>
              </a:rPr>
              <a:t>Due to the computerization workload for the employees reduces many times. As a result, many organizations may require removing some of its employees. It produces the dissatisfaction and lack of security among the employees. Due to this, employees do not corporate with the organization. As a result, the output can be disastrous.</a:t>
            </a:r>
          </a:p>
          <a:p>
            <a:pPr lvl="0"/>
            <a:r>
              <a:rPr lang="en-US" sz="2400" dirty="0">
                <a:latin typeface="Times New Roman" panose="02020603050405020304" pitchFamily="18" charset="0"/>
                <a:cs typeface="Times New Roman" panose="02020603050405020304" pitchFamily="18" charset="0"/>
              </a:rPr>
              <a:t>As a result of introduction of new technology in an organization, the organization may need to spend a tremendous amount on the training of its employees.</a:t>
            </a:r>
          </a:p>
          <a:p>
            <a:pPr marL="177800" indent="0">
              <a:buNone/>
            </a:pPr>
            <a:endParaRPr lang="en-US" sz="2400" dirty="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7915275"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7"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467156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1634067" y="-18987"/>
            <a:ext cx="10769600" cy="1325563"/>
          </a:xfrm>
        </p:spPr>
        <p:txBody>
          <a:bodyPr>
            <a:normAutofit/>
          </a:bodyPr>
          <a:lstStyle/>
          <a:p>
            <a:r>
              <a:rPr lang="en-AU" b="1" dirty="0" smtClean="0">
                <a:latin typeface="Times New Roman" panose="02020603050405020304" pitchFamily="18" charset="0"/>
                <a:cs typeface="Times New Roman" panose="02020603050405020304" pitchFamily="18" charset="0"/>
              </a:rPr>
              <a:t>Examples of Negative Impacts of using a Computer</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1" y="1399390"/>
            <a:ext cx="7620000" cy="5130381"/>
          </a:xfrm>
        </p:spPr>
        <p:txBody>
          <a:bodyPr>
            <a:noAutofit/>
          </a:bodyPr>
          <a:lstStyle/>
          <a:p>
            <a:pPr marL="520700" indent="-342900"/>
            <a:r>
              <a:rPr lang="en-US" dirty="0" smtClean="0">
                <a:latin typeface="Times New Roman" panose="02020603050405020304" pitchFamily="18" charset="0"/>
                <a:cs typeface="Times New Roman" panose="02020603050405020304" pitchFamily="18" charset="0"/>
              </a:rPr>
              <a:t>Negative effect on Physical Heath </a:t>
            </a:r>
            <a:r>
              <a:rPr lang="en-US" i="1" dirty="0" smtClean="0">
                <a:latin typeface="Times New Roman" panose="02020603050405020304" pitchFamily="18" charset="0"/>
                <a:cs typeface="Times New Roman" panose="02020603050405020304" pitchFamily="18" charset="0"/>
              </a:rPr>
              <a:t>(Eye Strain, Repetitive Strain Injury (RSI), Poor Posture, Vision Problem, Computer Vision Syndrome(CVS) and Obesity)</a:t>
            </a:r>
          </a:p>
          <a:p>
            <a:pPr marL="520700" indent="-342900"/>
            <a:r>
              <a:rPr lang="en-US" dirty="0" smtClean="0">
                <a:latin typeface="Times New Roman" panose="02020603050405020304" pitchFamily="18" charset="0"/>
                <a:cs typeface="Times New Roman" panose="02020603050405020304" pitchFamily="18" charset="0"/>
              </a:rPr>
              <a:t>Children Exposure to Adult Material</a:t>
            </a:r>
          </a:p>
          <a:p>
            <a:pPr marL="520700" indent="-342900"/>
            <a:r>
              <a:rPr lang="en-US" dirty="0" smtClean="0">
                <a:latin typeface="Times New Roman" panose="02020603050405020304" pitchFamily="18" charset="0"/>
                <a:cs typeface="Times New Roman" panose="02020603050405020304" pitchFamily="18" charset="0"/>
              </a:rPr>
              <a:t>Sleeping Problems				</a:t>
            </a:r>
          </a:p>
          <a:p>
            <a:pPr marL="520700" indent="-342900"/>
            <a:r>
              <a:rPr lang="en-US" dirty="0" smtClean="0">
                <a:latin typeface="Times New Roman" panose="02020603050405020304" pitchFamily="18" charset="0"/>
                <a:cs typeface="Times New Roman" panose="02020603050405020304" pitchFamily="18" charset="0"/>
              </a:rPr>
              <a:t>Exposure to Radiation</a:t>
            </a:r>
          </a:p>
          <a:p>
            <a:pPr marL="520700" indent="-342900"/>
            <a:r>
              <a:rPr lang="en-US" dirty="0" smtClean="0">
                <a:latin typeface="Times New Roman" panose="02020603050405020304" pitchFamily="18" charset="0"/>
                <a:cs typeface="Times New Roman" panose="02020603050405020304" pitchFamily="18" charset="0"/>
              </a:rPr>
              <a:t>Security &amp; Privacy Risks</a:t>
            </a:r>
          </a:p>
          <a:p>
            <a:pPr marL="520700" indent="-342900"/>
            <a:r>
              <a:rPr lang="en-US" dirty="0" smtClean="0">
                <a:latin typeface="Times New Roman" panose="02020603050405020304" pitchFamily="18" charset="0"/>
                <a:cs typeface="Times New Roman" panose="02020603050405020304" pitchFamily="18" charset="0"/>
              </a:rPr>
              <a:t>Environmental Impacts</a:t>
            </a:r>
          </a:p>
          <a:p>
            <a:pPr marL="520700" indent="-342900"/>
            <a:r>
              <a:rPr lang="en-US" dirty="0" smtClean="0">
                <a:latin typeface="Times New Roman" panose="02020603050405020304" pitchFamily="18" charset="0"/>
                <a:cs typeface="Times New Roman" panose="02020603050405020304" pitchFamily="18" charset="0"/>
              </a:rPr>
              <a:t>Social and Psychological effects</a:t>
            </a:r>
          </a:p>
        </p:txBody>
      </p:sp>
      <p:sp>
        <p:nvSpPr>
          <p:cNvPr id="9" name="Footer Placeholder 8"/>
          <p:cNvSpPr>
            <a:spLocks noGrp="1"/>
          </p:cNvSpPr>
          <p:nvPr>
            <p:ph type="ftr" sz="quarter" idx="11"/>
          </p:nvPr>
        </p:nvSpPr>
        <p:spPr>
          <a:xfrm>
            <a:off x="7915275"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7"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1400175" cy="121376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xmlns="" id="{FAF9274F-8429-43B0-B56E-864C01E876F5}"/>
              </a:ext>
            </a:extLst>
          </p:cNvPr>
          <p:cNvSpPr txBox="1">
            <a:spLocks/>
          </p:cNvSpPr>
          <p:nvPr/>
        </p:nvSpPr>
        <p:spPr>
          <a:xfrm>
            <a:off x="7338044" y="1362494"/>
            <a:ext cx="7620000" cy="513038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20700" indent="-342900"/>
            <a:r>
              <a:rPr lang="en-US" dirty="0">
                <a:latin typeface="Times New Roman" panose="02020603050405020304" pitchFamily="18" charset="0"/>
                <a:cs typeface="Times New Roman" panose="02020603050405020304" pitchFamily="18" charset="0"/>
              </a:rPr>
              <a:t>Job Displacement</a:t>
            </a:r>
          </a:p>
          <a:p>
            <a:pPr marL="520700" indent="-342900"/>
            <a:r>
              <a:rPr lang="en-US" dirty="0">
                <a:latin typeface="Times New Roman" panose="02020603050405020304" pitchFamily="18" charset="0"/>
                <a:cs typeface="Times New Roman" panose="02020603050405020304" pitchFamily="18" charset="0"/>
              </a:rPr>
              <a:t>Loss of Skills</a:t>
            </a:r>
          </a:p>
          <a:p>
            <a:pPr marL="520700" indent="-342900"/>
            <a:r>
              <a:rPr lang="en-US" dirty="0">
                <a:latin typeface="Times New Roman" panose="02020603050405020304" pitchFamily="18" charset="0"/>
                <a:cs typeface="Times New Roman" panose="02020603050405020304" pitchFamily="18" charset="0"/>
              </a:rPr>
              <a:t>Plagiarism &amp; </a:t>
            </a:r>
            <a:r>
              <a:rPr lang="en-US" dirty="0" smtClean="0">
                <a:latin typeface="Times New Roman" panose="02020603050405020304" pitchFamily="18" charset="0"/>
                <a:cs typeface="Times New Roman" panose="02020603050405020304" pitchFamily="18" charset="0"/>
              </a:rPr>
              <a:t>Distraction</a:t>
            </a:r>
          </a:p>
          <a:p>
            <a:pPr marL="520700" indent="-342900"/>
            <a:r>
              <a:rPr lang="en-US" dirty="0" smtClean="0">
                <a:latin typeface="Times New Roman" panose="02020603050405020304" pitchFamily="18" charset="0"/>
                <a:cs typeface="Times New Roman" panose="02020603050405020304" pitchFamily="18" charset="0"/>
              </a:rPr>
              <a:t>Addiction &amp; Distraction</a:t>
            </a:r>
          </a:p>
          <a:p>
            <a:pPr marL="520700" indent="-342900"/>
            <a:r>
              <a:rPr lang="en-US" dirty="0" smtClean="0">
                <a:latin typeface="Times New Roman" panose="02020603050405020304" pitchFamily="18" charset="0"/>
                <a:cs typeface="Times New Roman" panose="02020603050405020304" pitchFamily="18" charset="0"/>
              </a:rPr>
              <a:t>Exposure to Radiation</a:t>
            </a:r>
            <a:endParaRPr lang="en-US" dirty="0">
              <a:latin typeface="Times New Roman" panose="02020603050405020304" pitchFamily="18" charset="0"/>
              <a:cs typeface="Times New Roman" panose="02020603050405020304" pitchFamily="18" charset="0"/>
            </a:endParaRPr>
          </a:p>
          <a:p>
            <a:pPr marL="520700" indent="-342900"/>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065310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1075" y="365125"/>
            <a:ext cx="11022725" cy="1325563"/>
          </a:xfrm>
        </p:spPr>
        <p:txBody>
          <a:bodyPr/>
          <a:lstStyle/>
          <a:p>
            <a:r>
              <a:rPr lang="en-US" b="1" dirty="0">
                <a:latin typeface="Times New Roman" panose="02020603050405020304" pitchFamily="18" charset="0"/>
                <a:cs typeface="Times New Roman" panose="02020603050405020304" pitchFamily="18" charset="0"/>
              </a:rPr>
              <a:t>Summary</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31075" y="1198179"/>
            <a:ext cx="11650717" cy="4978784"/>
          </a:xfrm>
        </p:spPr>
        <p:txBody>
          <a:bodyPr>
            <a:noAutofit/>
          </a:bodyPr>
          <a:lstStyle/>
          <a:p>
            <a:pPr lvl="0"/>
            <a:r>
              <a:rPr lang="en-US" dirty="0" smtClean="0">
                <a:latin typeface="Times New Roman" panose="02020603050405020304" pitchFamily="18" charset="0"/>
                <a:cs typeface="Times New Roman" panose="02020603050405020304" pitchFamily="18" charset="0"/>
              </a:rPr>
              <a:t>First </a:t>
            </a:r>
            <a:r>
              <a:rPr lang="en-US" dirty="0">
                <a:latin typeface="Times New Roman" panose="02020603050405020304" pitchFamily="18" charset="0"/>
                <a:cs typeface="Times New Roman" panose="02020603050405020304" pitchFamily="18" charset="0"/>
              </a:rPr>
              <a:t>Generation – vacuum tubes (1940 – 1956)</a:t>
            </a:r>
          </a:p>
          <a:p>
            <a:pPr lvl="0"/>
            <a:r>
              <a:rPr lang="en-US" dirty="0">
                <a:latin typeface="Times New Roman" panose="02020603050405020304" pitchFamily="18" charset="0"/>
                <a:cs typeface="Times New Roman" panose="02020603050405020304" pitchFamily="18" charset="0"/>
              </a:rPr>
              <a:t>Examples: ENIAC, UNIVAC, etc.</a:t>
            </a:r>
          </a:p>
          <a:p>
            <a:pPr lvl="0"/>
            <a:r>
              <a:rPr lang="en-US" dirty="0">
                <a:latin typeface="Times New Roman" panose="02020603050405020304" pitchFamily="18" charset="0"/>
                <a:cs typeface="Times New Roman" panose="02020603050405020304" pitchFamily="18" charset="0"/>
              </a:rPr>
              <a:t>Second Generation – transistors (1956 – 1963)</a:t>
            </a:r>
          </a:p>
          <a:p>
            <a:pPr lvl="0"/>
            <a:r>
              <a:rPr lang="en-US" dirty="0">
                <a:latin typeface="Times New Roman" panose="02020603050405020304" pitchFamily="18" charset="0"/>
                <a:cs typeface="Times New Roman" panose="02020603050405020304" pitchFamily="18" charset="0"/>
              </a:rPr>
              <a:t>Examples: IBM 7090, UNIVAC 1107, etc.</a:t>
            </a:r>
          </a:p>
          <a:p>
            <a:pPr lvl="0"/>
            <a:r>
              <a:rPr lang="en-US" dirty="0">
                <a:latin typeface="Times New Roman" panose="02020603050405020304" pitchFamily="18" charset="0"/>
                <a:cs typeface="Times New Roman" panose="02020603050405020304" pitchFamily="18" charset="0"/>
              </a:rPr>
              <a:t>Third Generation – integrated circuits (1964 – 1971)</a:t>
            </a:r>
          </a:p>
          <a:p>
            <a:pPr lvl="0"/>
            <a:r>
              <a:rPr lang="en-US" dirty="0">
                <a:latin typeface="Times New Roman" panose="02020603050405020304" pitchFamily="18" charset="0"/>
                <a:cs typeface="Times New Roman" panose="02020603050405020304" pitchFamily="18" charset="0"/>
              </a:rPr>
              <a:t>Examples: IBM System /360, UNIVAC 1108 etc.</a:t>
            </a:r>
          </a:p>
          <a:p>
            <a:pPr lvl="0"/>
            <a:r>
              <a:rPr lang="en-US" dirty="0">
                <a:latin typeface="Times New Roman" panose="02020603050405020304" pitchFamily="18" charset="0"/>
                <a:cs typeface="Times New Roman" panose="02020603050405020304" pitchFamily="18" charset="0"/>
              </a:rPr>
              <a:t>Fourth Generation - microprocessors (1971 – 2010)</a:t>
            </a:r>
          </a:p>
          <a:p>
            <a:pPr lvl="0"/>
            <a:r>
              <a:rPr lang="en-US" dirty="0">
                <a:latin typeface="Times New Roman" panose="02020603050405020304" pitchFamily="18" charset="0"/>
                <a:cs typeface="Times New Roman" panose="02020603050405020304" pitchFamily="18" charset="0"/>
              </a:rPr>
              <a:t>Examples: Apple II, IBM PC, Apple Macintosh, etc.</a:t>
            </a:r>
          </a:p>
          <a:p>
            <a:pPr lvl="0"/>
            <a:r>
              <a:rPr lang="en-US" dirty="0">
                <a:latin typeface="Times New Roman" panose="02020603050405020304" pitchFamily="18" charset="0"/>
                <a:cs typeface="Times New Roman" panose="02020603050405020304" pitchFamily="18" charset="0"/>
              </a:rPr>
              <a:t>Fifth Generation:  Artificial Intelligence (AI) and Quantum Computing</a:t>
            </a:r>
          </a:p>
          <a:p>
            <a:pPr lvl="0"/>
            <a:r>
              <a:rPr lang="en-US" dirty="0">
                <a:latin typeface="Times New Roman" panose="02020603050405020304" pitchFamily="18" charset="0"/>
                <a:cs typeface="Times New Roman" panose="02020603050405020304" pitchFamily="18" charset="0"/>
              </a:rPr>
              <a:t>Examples:  Self-driving car, chess-playing computers, etc.</a:t>
            </a:r>
          </a:p>
          <a:p>
            <a:pPr lvl="0"/>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Tree>
    <p:extLst>
      <p:ext uri="{BB962C8B-B14F-4D97-AF65-F5344CB8AC3E}">
        <p14:creationId xmlns:p14="http://schemas.microsoft.com/office/powerpoint/2010/main" val="17880372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7938" y="327901"/>
            <a:ext cx="10515600" cy="4351338"/>
          </a:xfrm>
        </p:spPr>
        <p:txBody>
          <a:bodyPr>
            <a:noAutofit/>
          </a:bodyPr>
          <a:lstStyle/>
          <a:p>
            <a:pPr lvl="0"/>
            <a:r>
              <a:rPr lang="en-US" sz="3200" dirty="0">
                <a:latin typeface="Times New Roman" panose="02020603050405020304" pitchFamily="18" charset="0"/>
                <a:cs typeface="Times New Roman" panose="02020603050405020304" pitchFamily="18" charset="0"/>
              </a:rPr>
              <a:t>Computer is an advanced electronic device that takes raw data as input from the use and processes it under the control of a set of instructions (called program), produces a result (output), and saves it for future use.</a:t>
            </a:r>
          </a:p>
          <a:p>
            <a:pPr lvl="0"/>
            <a:r>
              <a:rPr lang="en-US" sz="3200" dirty="0">
                <a:latin typeface="Times New Roman" panose="02020603050405020304" pitchFamily="18" charset="0"/>
                <a:cs typeface="Times New Roman" panose="02020603050405020304" pitchFamily="18" charset="0"/>
              </a:rPr>
              <a:t>Social effects of computer:</a:t>
            </a:r>
          </a:p>
          <a:p>
            <a:pPr lvl="0"/>
            <a:r>
              <a:rPr lang="en-US" sz="3200" dirty="0">
                <a:latin typeface="Times New Roman" panose="02020603050405020304" pitchFamily="18" charset="0"/>
                <a:cs typeface="Times New Roman" panose="02020603050405020304" pitchFamily="18" charset="0"/>
              </a:rPr>
              <a:t>Uses of computer </a:t>
            </a:r>
            <a:r>
              <a:rPr lang="en-US" sz="3200" dirty="0" smtClean="0">
                <a:latin typeface="Times New Roman" panose="02020603050405020304" pitchFamily="18" charset="0"/>
                <a:cs typeface="Times New Roman" panose="02020603050405020304" pitchFamily="18" charset="0"/>
              </a:rPr>
              <a:t>Science</a:t>
            </a:r>
            <a:endParaRPr lang="en-US" sz="3200" dirty="0">
              <a:latin typeface="Times New Roman" panose="02020603050405020304" pitchFamily="18" charset="0"/>
              <a:cs typeface="Times New Roman" panose="02020603050405020304" pitchFamily="18" charset="0"/>
            </a:endParaRPr>
          </a:p>
          <a:p>
            <a:pPr lvl="0"/>
            <a:r>
              <a:rPr lang="en-US" sz="3200" dirty="0">
                <a:latin typeface="Times New Roman" panose="02020603050405020304" pitchFamily="18" charset="0"/>
                <a:cs typeface="Times New Roman" panose="02020603050405020304" pitchFamily="18" charset="0"/>
              </a:rPr>
              <a:t>Uses of computer in </a:t>
            </a:r>
            <a:r>
              <a:rPr lang="en-US" sz="3200" dirty="0" smtClean="0">
                <a:latin typeface="Times New Roman" panose="02020603050405020304" pitchFamily="18" charset="0"/>
                <a:cs typeface="Times New Roman" panose="02020603050405020304" pitchFamily="18" charset="0"/>
              </a:rPr>
              <a:t>Education</a:t>
            </a:r>
            <a:endParaRPr lang="en-US" sz="3200" dirty="0">
              <a:latin typeface="Times New Roman" panose="02020603050405020304" pitchFamily="18" charset="0"/>
              <a:cs typeface="Times New Roman" panose="02020603050405020304" pitchFamily="18" charset="0"/>
            </a:endParaRPr>
          </a:p>
          <a:p>
            <a:pPr lvl="0"/>
            <a:r>
              <a:rPr lang="en-US" sz="3200" dirty="0">
                <a:latin typeface="Times New Roman" panose="02020603050405020304" pitchFamily="18" charset="0"/>
                <a:cs typeface="Times New Roman" panose="02020603050405020304" pitchFamily="18" charset="0"/>
              </a:rPr>
              <a:t>Uses of computer in </a:t>
            </a:r>
            <a:r>
              <a:rPr lang="en-US" sz="3200" dirty="0" smtClean="0">
                <a:latin typeface="Times New Roman" panose="02020603050405020304" pitchFamily="18" charset="0"/>
                <a:cs typeface="Times New Roman" panose="02020603050405020304" pitchFamily="18" charset="0"/>
              </a:rPr>
              <a:t>Communication</a:t>
            </a:r>
            <a:endParaRPr lang="en-US" sz="3200" dirty="0">
              <a:latin typeface="Times New Roman" panose="02020603050405020304" pitchFamily="18" charset="0"/>
              <a:cs typeface="Times New Roman" panose="02020603050405020304" pitchFamily="18" charset="0"/>
            </a:endParaRPr>
          </a:p>
          <a:p>
            <a:pPr lvl="0"/>
            <a:r>
              <a:rPr lang="en-US" sz="3200" dirty="0">
                <a:latin typeface="Times New Roman" panose="02020603050405020304" pitchFamily="18" charset="0"/>
                <a:cs typeface="Times New Roman" panose="02020603050405020304" pitchFamily="18" charset="0"/>
              </a:rPr>
              <a:t>Uses of computer in </a:t>
            </a:r>
            <a:r>
              <a:rPr lang="en-US" sz="3200" dirty="0" smtClean="0">
                <a:latin typeface="Times New Roman" panose="02020603050405020304" pitchFamily="18" charset="0"/>
                <a:cs typeface="Times New Roman" panose="02020603050405020304" pitchFamily="18" charset="0"/>
              </a:rPr>
              <a:t>Engineering </a:t>
            </a:r>
            <a:r>
              <a:rPr lang="en-US" sz="3200" dirty="0">
                <a:latin typeface="Times New Roman" panose="02020603050405020304" pitchFamily="18" charset="0"/>
                <a:cs typeface="Times New Roman" panose="02020603050405020304" pitchFamily="18" charset="0"/>
              </a:rPr>
              <a:t>and </a:t>
            </a:r>
            <a:r>
              <a:rPr lang="en-US" sz="3200" dirty="0" smtClean="0">
                <a:latin typeface="Times New Roman" panose="02020603050405020304" pitchFamily="18" charset="0"/>
                <a:cs typeface="Times New Roman" panose="02020603050405020304" pitchFamily="18" charset="0"/>
              </a:rPr>
              <a:t>Manufacturing</a:t>
            </a:r>
            <a:endParaRPr lang="en-US" sz="3200" dirty="0">
              <a:latin typeface="Times New Roman" panose="02020603050405020304" pitchFamily="18" charset="0"/>
              <a:cs typeface="Times New Roman" panose="02020603050405020304" pitchFamily="18" charset="0"/>
            </a:endParaRPr>
          </a:p>
          <a:p>
            <a:pPr lvl="0"/>
            <a:r>
              <a:rPr lang="en-US" sz="3200" dirty="0">
                <a:latin typeface="Times New Roman" panose="02020603050405020304" pitchFamily="18" charset="0"/>
                <a:cs typeface="Times New Roman" panose="02020603050405020304" pitchFamily="18" charset="0"/>
              </a:rPr>
              <a:t>Uses of computer in Banking </a:t>
            </a:r>
            <a:r>
              <a:rPr lang="en-US" sz="3200" dirty="0" smtClean="0">
                <a:latin typeface="Times New Roman" panose="02020603050405020304" pitchFamily="18" charset="0"/>
                <a:cs typeface="Times New Roman" panose="02020603050405020304" pitchFamily="18" charset="0"/>
              </a:rPr>
              <a:t>Industries</a:t>
            </a:r>
            <a:endParaRPr lang="en-US" sz="3200" dirty="0">
              <a:latin typeface="Times New Roman" panose="02020603050405020304" pitchFamily="18" charset="0"/>
              <a:cs typeface="Times New Roman" panose="02020603050405020304" pitchFamily="18" charset="0"/>
            </a:endParaRPr>
          </a:p>
          <a:p>
            <a:pPr lvl="0"/>
            <a:r>
              <a:rPr lang="en-US" sz="3200" dirty="0">
                <a:latin typeface="Times New Roman" panose="02020603050405020304" pitchFamily="18" charset="0"/>
                <a:cs typeface="Times New Roman" panose="02020603050405020304" pitchFamily="18" charset="0"/>
              </a:rPr>
              <a:t>Uses of computer in Health </a:t>
            </a:r>
            <a:r>
              <a:rPr lang="en-US" sz="3200" dirty="0" smtClean="0">
                <a:latin typeface="Times New Roman" panose="02020603050405020304" pitchFamily="18" charset="0"/>
                <a:cs typeface="Times New Roman" panose="02020603050405020304" pitchFamily="18" charset="0"/>
              </a:rPr>
              <a:t>Sector</a:t>
            </a:r>
            <a:endParaRPr lang="en-US" sz="32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dirty="0" smtClean="0"/>
              <a:t>Prepared: by:  MS Odilia Tita</a:t>
            </a:r>
            <a:endParaRPr lang="en-AU" dirty="0"/>
          </a:p>
        </p:txBody>
      </p:sp>
    </p:spTree>
    <p:extLst>
      <p:ext uri="{BB962C8B-B14F-4D97-AF65-F5344CB8AC3E}">
        <p14:creationId xmlns:p14="http://schemas.microsoft.com/office/powerpoint/2010/main" val="277414086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2531" y="359431"/>
            <a:ext cx="10515600" cy="5284623"/>
          </a:xfrm>
        </p:spPr>
        <p:txBody>
          <a:bodyPr>
            <a:noAutofit/>
          </a:bodyPr>
          <a:lstStyle/>
          <a:p>
            <a:pPr lvl="0">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 Positive </a:t>
            </a:r>
            <a:r>
              <a:rPr lang="en-US" sz="3200" dirty="0">
                <a:latin typeface="Times New Roman" panose="02020603050405020304" pitchFamily="18" charset="0"/>
                <a:cs typeface="Times New Roman" panose="02020603050405020304" pitchFamily="18" charset="0"/>
              </a:rPr>
              <a:t>Impacts</a:t>
            </a:r>
          </a:p>
          <a:p>
            <a:pPr lvl="1"/>
            <a:r>
              <a:rPr lang="en-US" sz="3200" dirty="0">
                <a:latin typeface="Times New Roman" panose="02020603050405020304" pitchFamily="18" charset="0"/>
                <a:cs typeface="Times New Roman" panose="02020603050405020304" pitchFamily="18" charset="0"/>
              </a:rPr>
              <a:t>Improve work productivity</a:t>
            </a:r>
          </a:p>
          <a:p>
            <a:pPr lvl="1"/>
            <a:r>
              <a:rPr lang="en-US" sz="3200" dirty="0">
                <a:latin typeface="Times New Roman" panose="02020603050405020304" pitchFamily="18" charset="0"/>
                <a:cs typeface="Times New Roman" panose="02020603050405020304" pitchFamily="18" charset="0"/>
              </a:rPr>
              <a:t>Access of information on fingertip</a:t>
            </a:r>
          </a:p>
          <a:p>
            <a:pPr lvl="1"/>
            <a:r>
              <a:rPr lang="en-US" sz="3200" dirty="0">
                <a:latin typeface="Times New Roman" panose="02020603050405020304" pitchFamily="18" charset="0"/>
                <a:cs typeface="Times New Roman" panose="02020603050405020304" pitchFamily="18" charset="0"/>
              </a:rPr>
              <a:t>Job creation</a:t>
            </a:r>
          </a:p>
          <a:p>
            <a:pPr lvl="0">
              <a:buFont typeface="Wingdings" panose="05000000000000000000" pitchFamily="2" charset="2"/>
              <a:buChar char="Ø"/>
            </a:pPr>
            <a:r>
              <a:rPr lang="en-US" sz="3200" dirty="0" smtClean="0">
                <a:latin typeface="Times New Roman" panose="02020603050405020304" pitchFamily="18" charset="0"/>
                <a:cs typeface="Times New Roman" panose="02020603050405020304" pitchFamily="18" charset="0"/>
              </a:rPr>
              <a:t> Negative </a:t>
            </a:r>
            <a:r>
              <a:rPr lang="en-US" sz="3200" dirty="0">
                <a:latin typeface="Times New Roman" panose="02020603050405020304" pitchFamily="18" charset="0"/>
                <a:cs typeface="Times New Roman" panose="02020603050405020304" pitchFamily="18" charset="0"/>
              </a:rPr>
              <a:t>Impacts:</a:t>
            </a:r>
          </a:p>
          <a:p>
            <a:pPr lvl="1"/>
            <a:r>
              <a:rPr lang="en-US" sz="3200" dirty="0">
                <a:latin typeface="Times New Roman" panose="02020603050405020304" pitchFamily="18" charset="0"/>
                <a:cs typeface="Times New Roman" panose="02020603050405020304" pitchFamily="18" charset="0"/>
              </a:rPr>
              <a:t>Effects on physical health</a:t>
            </a:r>
          </a:p>
          <a:p>
            <a:pPr lvl="1"/>
            <a:r>
              <a:rPr lang="en-US" sz="3200" dirty="0">
                <a:latin typeface="Times New Roman" panose="02020603050405020304" pitchFamily="18" charset="0"/>
                <a:cs typeface="Times New Roman" panose="02020603050405020304" pitchFamily="18" charset="0"/>
              </a:rPr>
              <a:t>Exposure to adult material</a:t>
            </a:r>
          </a:p>
          <a:p>
            <a:pPr lvl="1"/>
            <a:r>
              <a:rPr lang="en-US" sz="3200" dirty="0">
                <a:latin typeface="Times New Roman" panose="02020603050405020304" pitchFamily="18" charset="0"/>
                <a:cs typeface="Times New Roman" panose="02020603050405020304" pitchFamily="18" charset="0"/>
              </a:rPr>
              <a:t>Vision problems</a:t>
            </a:r>
          </a:p>
          <a:p>
            <a:pPr lvl="1"/>
            <a:r>
              <a:rPr lang="en-US" sz="3200" dirty="0">
                <a:latin typeface="Times New Roman" panose="02020603050405020304" pitchFamily="18" charset="0"/>
                <a:cs typeface="Times New Roman" panose="02020603050405020304" pitchFamily="18" charset="0"/>
              </a:rPr>
              <a:t>Poor exposure</a:t>
            </a:r>
          </a:p>
          <a:p>
            <a:pPr lvl="1"/>
            <a:r>
              <a:rPr lang="en-US" sz="3200" dirty="0">
                <a:latin typeface="Times New Roman" panose="02020603050405020304" pitchFamily="18" charset="0"/>
                <a:cs typeface="Times New Roman" panose="02020603050405020304" pitchFamily="18" charset="0"/>
              </a:rPr>
              <a:t>Sleep problems</a:t>
            </a:r>
          </a:p>
          <a:p>
            <a:pPr lvl="1"/>
            <a:r>
              <a:rPr lang="en-US" sz="3200" dirty="0">
                <a:latin typeface="Times New Roman" panose="02020603050405020304" pitchFamily="18" charset="0"/>
                <a:cs typeface="Times New Roman" panose="02020603050405020304" pitchFamily="18" charset="0"/>
              </a:rPr>
              <a:t>Exposure to radiation</a:t>
            </a:r>
          </a:p>
          <a:p>
            <a:pPr marL="0" indent="0">
              <a:buNone/>
            </a:pPr>
            <a:endParaRPr lang="en-US" sz="3200" dirty="0">
              <a:latin typeface="Times New Roman" panose="02020603050405020304" pitchFamily="18" charset="0"/>
              <a:cs typeface="Times New Roman" panose="02020603050405020304" pitchFamily="18" charset="0"/>
            </a:endParaRPr>
          </a:p>
          <a:p>
            <a:pPr marL="0" indent="0">
              <a:buNone/>
            </a:pPr>
            <a:endParaRPr lang="en-US" sz="32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dirty="0" smtClean="0"/>
              <a:t>Prepared: by:  MS Odilia Tita</a:t>
            </a:r>
            <a:endParaRPr lang="en-AU" dirty="0"/>
          </a:p>
        </p:txBody>
      </p:sp>
    </p:spTree>
    <p:extLst>
      <p:ext uri="{BB962C8B-B14F-4D97-AF65-F5344CB8AC3E}">
        <p14:creationId xmlns:p14="http://schemas.microsoft.com/office/powerpoint/2010/main" val="398452590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3413"/>
          </a:xfrm>
        </p:spPr>
        <p:txBody>
          <a:bodyPr>
            <a:normAutofit fontScale="90000"/>
          </a:bodyPr>
          <a:lstStyle/>
          <a:p>
            <a:r>
              <a:rPr lang="en-US" b="1" dirty="0">
                <a:latin typeface="Times New Roman" panose="02020603050405020304" pitchFamily="18" charset="0"/>
                <a:cs typeface="Times New Roman" panose="02020603050405020304" pitchFamily="18" charset="0"/>
              </a:rPr>
              <a:t>Review Activities:</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1600" y="1308537"/>
            <a:ext cx="12090400" cy="4651995"/>
          </a:xfrm>
        </p:spPr>
        <p:txBody>
          <a:bodyPr>
            <a:normAutofit/>
          </a:bodyPr>
          <a:lstStyle/>
          <a:p>
            <a:pPr lvl="0"/>
            <a:r>
              <a:rPr lang="en-US" sz="3600" dirty="0">
                <a:latin typeface="Times New Roman" panose="02020603050405020304" pitchFamily="18" charset="0"/>
                <a:cs typeface="Times New Roman" panose="02020603050405020304" pitchFamily="18" charset="0"/>
              </a:rPr>
              <a:t>Define what a computer is with the processes involved.</a:t>
            </a:r>
          </a:p>
          <a:p>
            <a:pPr lvl="0"/>
            <a:r>
              <a:rPr lang="en-US" sz="3600" dirty="0">
                <a:latin typeface="Times New Roman" panose="02020603050405020304" pitchFamily="18" charset="0"/>
                <a:cs typeface="Times New Roman" panose="02020603050405020304" pitchFamily="18" charset="0"/>
              </a:rPr>
              <a:t>Name and explain with examples the five generation of computers</a:t>
            </a:r>
          </a:p>
          <a:p>
            <a:pPr lvl="0"/>
            <a:r>
              <a:rPr lang="en-US" sz="3600" dirty="0">
                <a:latin typeface="Times New Roman" panose="02020603050405020304" pitchFamily="18" charset="0"/>
                <a:cs typeface="Times New Roman" panose="02020603050405020304" pitchFamily="18" charset="0"/>
              </a:rPr>
              <a:t>Provide some examples relating to the use of computer.</a:t>
            </a:r>
          </a:p>
          <a:p>
            <a:pPr lvl="0"/>
            <a:r>
              <a:rPr lang="en-US" sz="3600" dirty="0">
                <a:latin typeface="Times New Roman" panose="02020603050405020304" pitchFamily="18" charset="0"/>
                <a:cs typeface="Times New Roman" panose="02020603050405020304" pitchFamily="18" charset="0"/>
              </a:rPr>
              <a:t>Give three examples each for the positive and negative effects on using the computer.</a:t>
            </a:r>
          </a:p>
          <a:p>
            <a:pPr marL="0" indent="0">
              <a:buNone/>
            </a:pPr>
            <a:endParaRPr lang="en-US" sz="36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Tree>
    <p:extLst>
      <p:ext uri="{BB962C8B-B14F-4D97-AF65-F5344CB8AC3E}">
        <p14:creationId xmlns:p14="http://schemas.microsoft.com/office/powerpoint/2010/main" val="291521862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6000" dirty="0" smtClean="0">
                <a:latin typeface="French Script MT" panose="03020402040607040605" pitchFamily="66" charset="0"/>
              </a:rPr>
              <a:t>      </a:t>
            </a:r>
          </a:p>
          <a:p>
            <a:pPr marL="0" indent="0">
              <a:buNone/>
            </a:pPr>
            <a:endParaRPr lang="en-US" sz="6000" dirty="0">
              <a:latin typeface="French Script MT" panose="03020402040607040605" pitchFamily="66" charset="0"/>
            </a:endParaRPr>
          </a:p>
          <a:p>
            <a:pPr marL="0" indent="0">
              <a:buNone/>
            </a:pPr>
            <a:r>
              <a:rPr lang="en-US" sz="8000" dirty="0" smtClean="0">
                <a:latin typeface="French Script MT" panose="03020402040607040605" pitchFamily="66" charset="0"/>
              </a:rPr>
              <a:t>                 Thank you !!</a:t>
            </a:r>
            <a:endParaRPr lang="en-US" sz="8000" dirty="0">
              <a:latin typeface="French Script MT" panose="03020402040607040605" pitchFamily="66" charset="0"/>
            </a:endParaRPr>
          </a:p>
        </p:txBody>
      </p:sp>
      <p:sp>
        <p:nvSpPr>
          <p:cNvPr id="4" name="Footer Placeholder 3"/>
          <p:cNvSpPr>
            <a:spLocks noGrp="1"/>
          </p:cNvSpPr>
          <p:nvPr>
            <p:ph type="ftr" sz="quarter" idx="11"/>
          </p:nvPr>
        </p:nvSpPr>
        <p:spPr>
          <a:xfrm>
            <a:off x="-1101812" y="6587010"/>
            <a:ext cx="4114800" cy="365125"/>
          </a:xfrm>
        </p:spPr>
        <p:txBody>
          <a:bodyPr/>
          <a:lstStyle/>
          <a:p>
            <a:r>
              <a:rPr lang="en-US" sz="600" smtClean="0">
                <a:latin typeface="Comic Sans MS" panose="030F0702030302020204" pitchFamily="66" charset="0"/>
              </a:rPr>
              <a:t>Prepared: by:  MS Odilia Tita</a:t>
            </a:r>
            <a:endParaRPr lang="en-AU" sz="600" dirty="0">
              <a:latin typeface="Comic Sans MS" panose="030F0702030302020204" pitchFamily="66" charset="0"/>
            </a:endParaRPr>
          </a:p>
        </p:txBody>
      </p:sp>
    </p:spTree>
    <p:extLst>
      <p:ext uri="{BB962C8B-B14F-4D97-AF65-F5344CB8AC3E}">
        <p14:creationId xmlns:p14="http://schemas.microsoft.com/office/powerpoint/2010/main" val="3110934581"/>
      </p:ext>
    </p:extLst>
  </p:cSld>
  <p:clrMapOvr>
    <a:masterClrMapping/>
  </p:clrMapOvr>
  <p:timing>
    <p:tnLst>
      <p:par>
        <p:cTn id="1" dur="indefinite" restart="never" nodeType="tmRoot"/>
      </p:par>
    </p:tnLst>
  </p:timing>
</p:sld>
</file>

<file path=ppt/theme/theme1.xml><?xml version="1.0" encoding="utf-8"?>
<a:theme xmlns:a="http://schemas.openxmlformats.org/drawingml/2006/main" name="MyDefaultTheme_O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yDefaultTheme_OT" id="{A1DEA3AA-A025-45F4-9648-B44B7A75B5E1}" vid="{A0818E3B-E25B-4294-BE3F-438B523D40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MyDefaultTheme_OT</Template>
  <TotalTime>1562</TotalTime>
  <Words>3111</Words>
  <Application>Microsoft Office PowerPoint</Application>
  <PresentationFormat>Widescreen</PresentationFormat>
  <Paragraphs>339</Paragraphs>
  <Slides>44</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Arial</vt:lpstr>
      <vt:lpstr>Calibri</vt:lpstr>
      <vt:lpstr>Calibri Light</vt:lpstr>
      <vt:lpstr>Comic Sans MS</vt:lpstr>
      <vt:lpstr>French Script MT</vt:lpstr>
      <vt:lpstr>Script MT Bold</vt:lpstr>
      <vt:lpstr>Times New Roman</vt:lpstr>
      <vt:lpstr>Wingdings</vt:lpstr>
      <vt:lpstr>MyDefaultTheme_OT</vt:lpstr>
      <vt:lpstr>Basic Computing &amp; Microsoft 365</vt:lpstr>
      <vt:lpstr>Learning Objectives</vt:lpstr>
      <vt:lpstr>1.Basic Computing</vt:lpstr>
      <vt:lpstr>Three Parts of Basic Computing</vt:lpstr>
      <vt:lpstr>1. Setting up the Hardware</vt:lpstr>
      <vt:lpstr>2. The Correct Order to Switch on Devices</vt:lpstr>
      <vt:lpstr>3. The Correct Order to Switch off Devices</vt:lpstr>
      <vt:lpstr>2.Microsoft 365</vt:lpstr>
      <vt:lpstr>What is the difference between the MS365 and Microsoft Office Suite?</vt:lpstr>
      <vt:lpstr>Operating System Compatible for MS65</vt:lpstr>
      <vt:lpstr>Starting a Microsoft 365 Application</vt:lpstr>
      <vt:lpstr>Locating Applications</vt:lpstr>
      <vt:lpstr>PowerPoint Presentation</vt:lpstr>
      <vt:lpstr>Introduction</vt:lpstr>
      <vt:lpstr>LEARNING OUTCOMES</vt:lpstr>
      <vt:lpstr>INTRODUCTION TO MICROSOFT OFFICE 365</vt:lpstr>
      <vt:lpstr>Evolution of Computers</vt:lpstr>
      <vt:lpstr>Evolution of Computers</vt:lpstr>
      <vt:lpstr>1. First Generation of Computers (Vacuum Tube)</vt:lpstr>
      <vt:lpstr>First Generation of Computers (Vacuum Tube)</vt:lpstr>
      <vt:lpstr>First Generation of Computers (Vacuum Tube) Advantages &amp; Disadvantages</vt:lpstr>
      <vt:lpstr>1. Second Generation of Computers (Transistor)</vt:lpstr>
      <vt:lpstr>Second Generation of Computers (Transistor)</vt:lpstr>
      <vt:lpstr>Second Generation of Computers (Transistor) Advantages &amp; Disadvantages</vt:lpstr>
      <vt:lpstr>3. Third Generation of Computers (Transistor)</vt:lpstr>
      <vt:lpstr> Third Generation of Computers (Integrated Circuit-IC)</vt:lpstr>
      <vt:lpstr>Third Generation of Computers (Integrated Circuit) Advantages &amp; Disadvantages</vt:lpstr>
      <vt:lpstr>Third Generation of Computers (Integrated Circuit) Advantages &amp; Disadvantages</vt:lpstr>
      <vt:lpstr>4. Fourth Generation of Computers (Microprocessor)</vt:lpstr>
      <vt:lpstr> Fourth Generation of Computers (Microprocessor)</vt:lpstr>
      <vt:lpstr>Fourth Generation of Computers (Microprocessor) Advantages &amp; Disadvantages</vt:lpstr>
      <vt:lpstr>5. Fifth Generation of Computers (Artificial Intelligence(AI))-Present &amp; Beyond</vt:lpstr>
      <vt:lpstr>Fifth Generation of Computers (AI)-Present &amp; Beyond Advantages &amp; Disadvantages</vt:lpstr>
      <vt:lpstr>Computer Definition</vt:lpstr>
      <vt:lpstr>Social Effects of Computers</vt:lpstr>
      <vt:lpstr>Positive Impacts of using a Computer</vt:lpstr>
      <vt:lpstr>Examples of Positive Impacts of using a Computer</vt:lpstr>
      <vt:lpstr>Negative Impacts of using a Computer</vt:lpstr>
      <vt:lpstr>Examples of Negative Impacts of using a Computer</vt:lpstr>
      <vt:lpstr>Summary </vt:lpstr>
      <vt:lpstr>PowerPoint Presentation</vt:lpstr>
      <vt:lpstr>PowerPoint Presentation</vt:lpstr>
      <vt:lpstr>Review Activities: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EXPLORE MICROSOFT WORD 2013</dc:title>
  <dc:creator>varvaralucy@gmail.com</dc:creator>
  <cp:lastModifiedBy>Odilia Tita</cp:lastModifiedBy>
  <cp:revision>219</cp:revision>
  <dcterms:created xsi:type="dcterms:W3CDTF">2025-02-22T07:55:09Z</dcterms:created>
  <dcterms:modified xsi:type="dcterms:W3CDTF">2026-02-10T23:59:24Z</dcterms:modified>
</cp:coreProperties>
</file>